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type="screen16x9"/>
  <p:notesSz cx="6858000" cy="9144000"/>
  <p:defaultTextStyle>
    <a:defPPr>
      <a:defRPr lang="en-US"/>
    </a:defPPr>
    <a:lvl1pPr algn="l" defTabSz="914400" marL="0" indent="0">
      <a:defRPr sz="1800" kern="1200">
        <a:solidFill>
          <a:schemeClr val="tx1"/>
        </a:solidFill>
        <a:latin typeface="+mn-lt"/>
        <a:ea typeface="+mn-ea"/>
        <a:cs typeface="+mn-cs"/>
      </a:defRPr>
    </a:lvl1pPr>
  </p:defaultTextStyle>
</p:presentation>
</file>

<file path=ppt/presProps.xml><?xml version="1.0" encoding="utf-8"?>
<p:presentationPr xmlns:p="http://schemas.openxmlformats.org/presentationml/2006/main">
  <p:showPr>
    <p:presen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theme" Target="theme/them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ableStyles" Target="tableStyles.xml"/></Relationships>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PPCC 2026: turn conference learning into one governed pilot</a:t>
            </a:r>
          </a:p>
          <a:p>
            <a:r>
              <a:rPr lang="en-US" sz="1400">
                <a:solidFill>
                  <a:srgbClr val="111111"/>
                </a:solidFill>
              </a:rPr>
              <a:t>PPCC 2026 is an upcoming opportunity to connect agents, apps, automation, trusted data, and governance to a concrete executive pilot decision.</a:t>
            </a:r>
          </a:p>
          <a:p>
            <a:r>
              <a:rPr lang="en-US" sz="1400">
                <a:solidFill>
                  <a:srgbClr val="111111"/>
                </a:solidFill>
              </a:rPr>
              <a:t>PPCC 2026 is an upcoming opportunity to connect agents, apps, automation, trusted data, and governance to a concrete executive pilot decision.
Recommendation: send a focused business, platform, data, and risk team with one mandate: return with a governed AI, app, and automation pilot charter.
Main conference: October 27-29 at the MGM Grand in Las Vegas. Workshops: October 25-26 and October 30.
PPCC connects agents, apps, automation, and trusted data with implementation, architecture, governance, and AI-driven scenarios.
Ask the team to return with the workflow, owner, trusted data, guardrails, and testable success measure for one pilot. Expansion should depend on that evidence, not conference enthusiasm.
Evidence: PPCC 2026 runs October 27-29 at the MGM Grand in Las Vegas. [ev-01] Register now for PPCC 2026: Come for the learning, stay for the community
Evidence: Microsoft frames PPCC around Copilot, agents, apps, automation, and data. [ev-01] Register now for PPCC 2026: Come for the learning, stay for the community
Evidence: PPCC covers agents, apps, automation, and trusted data as governed business solutions. [ev-02] Register now for PPCC 2026: Come for the learning, stay for the community
Evidence: The FAQ emphasizes implementation, architecture, governance, and AI-driven scenarios. [ev-03] FAQ | PPCC26
Evidence: Applied workshops run October 25-26 and October 30, outside the main conference. [ev-04] FAQ | PPCC26</a:t>
            </a:r>
          </a:p>
          <a:p>
            <a:r>
              <a:rPr lang="en-US" sz="1400">
                <a:solidFill>
                  <a:srgbClr val="111111"/>
                </a:solidFill>
              </a:rPr>
              <a:t>Citations</a:t>
            </a:r>
          </a:p>
          <a:p>
            <a:r>
              <a:rPr lang="en-US" sz="1400">
                <a:solidFill>
                  <a:srgbClr val="111111"/>
                </a:solidFill>
              </a:rPr>
              <a:t>[ev-01] Register now for PPCC 2026: Come for the learning, stay for the community</a:t>
            </a:r>
          </a:p>
          <a:p>
            <a:r>
              <a:rPr lang="en-US" sz="1400">
                <a:solidFill>
                  <a:srgbClr val="111111"/>
                </a:solidFill>
              </a:rPr>
              <a:t>[ev-02] Register now for PPCC 2026: Come for the learning, stay for the community</a:t>
            </a:r>
          </a:p>
          <a:p>
            <a:r>
              <a:rPr lang="en-US" sz="1400">
                <a:solidFill>
                  <a:srgbClr val="111111"/>
                </a:solidFill>
              </a:rPr>
              <a:t>[ev-03] FAQ | PPCC26</a:t>
            </a:r>
          </a:p>
          <a:p>
            <a:r>
              <a:rPr lang="en-US" sz="1400">
                <a:solidFill>
                  <a:srgbClr val="111111"/>
                </a:solidFill>
              </a:rPr>
              <a:t>[ev-04] FAQ | PPCC26</a:t>
            </a:r>
          </a:p>
          <a:p>
            <a:r>
              <a:rPr lang="en-US" sz="1400">
                <a:solidFill>
                  <a:srgbClr val="111111"/>
                </a:solidFill>
              </a:rPr>
              <a:t>[ev-05] FAQ | PPCC26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Bottom line: send a focused team with one pilot objective</a:t>
            </a:r>
          </a:p>
          <a:p>
            <a:r>
              <a:rPr lang="en-US" sz="1400">
                <a:solidFill>
                  <a:srgbClr val="111111"/>
                </a:solidFill>
              </a:rPr>
              <a:t>Recommendation: send a focused business, platform, data, and risk team with one mandate: return with a governed AI, app, and automation pilot charter.</a:t>
            </a:r>
          </a:p>
          <a:p>
            <a:r>
              <a:rPr lang="en-US" sz="1400">
                <a:solidFill>
                  <a:srgbClr val="111111"/>
                </a:solidFill>
              </a:rPr>
              <a:t>State clearly that this is a recommendation, not a measured outcome.
Evidence: Microsoft frames PPCC around Copilot, agents, apps, automation, and data. [ev-01] Register now for PPCC 2026: Come for the learning, stay for the community</a:t>
            </a:r>
          </a:p>
          <a:p>
            <a:r>
              <a:rPr lang="en-US" sz="1400">
                <a:solidFill>
                  <a:srgbClr val="111111"/>
                </a:solidFill>
              </a:rPr>
              <a:t>Citations</a:t>
            </a:r>
          </a:p>
          <a:p>
            <a:r>
              <a:rPr lang="en-US" sz="1400">
                <a:solidFill>
                  <a:srgbClr val="111111"/>
                </a:solidFill>
              </a:rPr>
              <a:t>[ev-01] Register now for PPCC 2026: Come for the learning, stay for the community: https://www.microsoft.com/en-us/power-platform/blog/2026/08/13/register-now-for-ppcc-2026-come-for-the-learning-stay-for-the-community/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Use the full conference week deliberately</a:t>
            </a:r>
          </a:p>
          <a:p>
            <a:r>
              <a:rPr lang="en-US" sz="1400">
                <a:solidFill>
                  <a:srgbClr val="111111"/>
                </a:solidFill>
              </a:rPr>
              <a:t>Main conference: October 27-29 at the MGM Grand in Las Vegas. Workshops: October 25-26 and October 30.</a:t>
            </a:r>
          </a:p>
          <a:p>
            <a:r>
              <a:rPr lang="en-US" sz="1400">
                <a:solidFill>
                  <a:srgbClr val="111111"/>
                </a:solidFill>
              </a:rPr>
              <a:t>Show the sequence without discussing registration prices.
Evidence: PPCC 2026 runs October 27-29 at the MGM Grand in Las Vegas. [ev-01] Register now for PPCC 2026: Come for the learning, stay for the community
Evidence: Applied workshops run October 25-26 and October 30, outside the main conference. [ev-04] FAQ | PPCC26</a:t>
            </a:r>
          </a:p>
          <a:p>
            <a:r>
              <a:rPr lang="en-US" sz="1400">
                <a:solidFill>
                  <a:srgbClr val="111111"/>
                </a:solidFill>
              </a:rPr>
              <a:t>Citations</a:t>
            </a:r>
          </a:p>
          <a:p>
            <a:r>
              <a:rPr lang="en-US" sz="1400">
                <a:solidFill>
                  <a:srgbClr val="111111"/>
                </a:solidFill>
              </a:rPr>
              <a:t>[ev-01] Register now for PPCC 2026: Come for the learning, stay for the community: https://www.microsoft.com/en-us/power-platform/blog/2026/08/13/register-now-for-ppcc-2026-come-for-the-learning-stay-for-the-community/</a:t>
            </a:r>
          </a:p>
          <a:p>
            <a:r>
              <a:rPr lang="en-US" sz="1400">
                <a:solidFill>
                  <a:srgbClr val="111111"/>
                </a:solidFill>
              </a:rPr>
              <a:t>[ev-04] FAQ | PPCC26: https://powerplatformconf.com/faq</a:t>
            </a:r>
          </a:p>
          <a:p>
            <a:r>
              <a:rPr lang="en-US" sz="1400">
                <a:solidFill>
                  <a:srgbClr val="111111"/>
                </a:solidFill>
              </a:rPr>
              <a:t>[ev-05] FAQ | PPCC26: https://powerplatformconf.com/faq</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Connect innovation ambition to execution controls</a:t>
            </a:r>
          </a:p>
          <a:p>
            <a:r>
              <a:rPr lang="en-US" sz="1400">
                <a:solidFill>
                  <a:srgbClr val="111111"/>
                </a:solidFill>
              </a:rPr>
              <a:t>PPCC connects agents, apps, automation, and trusted data with implementation, architecture, governance, and AI-driven scenarios.</a:t>
            </a:r>
          </a:p>
          <a:p>
            <a:r>
              <a:rPr lang="en-US" sz="1400">
                <a:solidFill>
                  <a:srgbClr val="111111"/>
                </a:solidFill>
              </a:rPr>
              <a:t>Keep the focus on executive execution rather than a product feature list.
Evidence: PPCC covers agents, apps, automation, and trusted data as governed business solutions. [ev-02] Register now for PPCC 2026: Come for the learning, stay for the community
Evidence: The FAQ emphasizes implementation, architecture, governance, and AI-driven scenarios. [ev-03] FAQ | PPCC26</a:t>
            </a:r>
          </a:p>
          <a:p>
            <a:r>
              <a:rPr lang="en-US" sz="1400">
                <a:solidFill>
                  <a:srgbClr val="111111"/>
                </a:solidFill>
              </a:rPr>
              <a:t>Citations</a:t>
            </a:r>
          </a:p>
          <a:p>
            <a:r>
              <a:rPr lang="en-US" sz="1400">
                <a:solidFill>
                  <a:srgbClr val="111111"/>
                </a:solidFill>
              </a:rPr>
              <a:t>[ev-02] Register now for PPCC 2026: Come for the learning, stay for the community: https://www.microsoft.com/en-us/power-platform/blog/2026/08/13/register-now-for-ppcc-2026-come-for-the-learning-stay-for-the-community/</a:t>
            </a:r>
          </a:p>
          <a:p>
            <a:r>
              <a:rPr lang="en-US" sz="1400">
                <a:solidFill>
                  <a:srgbClr val="111111"/>
                </a:solidFill>
              </a:rPr>
              <a:t>[ev-03] FAQ | PPCC26: https://powerplatformconf.com/faq</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Require one pilot charter after the event</a:t>
            </a:r>
          </a:p>
          <a:p>
            <a:r>
              <a:rPr lang="en-US" sz="1400">
                <a:solidFill>
                  <a:srgbClr val="111111"/>
                </a:solidFill>
              </a:rPr>
              <a:t>Ask the team to return with the workflow, owner, trusted data, guardrails, and testable success measure for one pilot. Expansion should depend on that evidence, not conference enthusiasm.</a:t>
            </a:r>
          </a:p>
          <a:p>
            <a:r>
              <a:rPr lang="en-US" sz="1400">
                <a:solidFill>
                  <a:srgbClr val="111111"/>
                </a:solidFill>
              </a:rPr>
              <a:t>Close with the proposed deliverable and avoid inventing an owner or deadline.
Evidence: The FAQ emphasizes implementation, architecture, governance, and AI-driven scenarios. [ev-03] FAQ | PPCC26</a:t>
            </a:r>
          </a:p>
          <a:p>
            <a:r>
              <a:rPr lang="en-US" sz="1400">
                <a:solidFill>
                  <a:srgbClr val="111111"/>
                </a:solidFill>
              </a:rPr>
              <a:t>Citations</a:t>
            </a:r>
          </a:p>
          <a:p>
            <a:r>
              <a:rPr lang="en-US" sz="1400">
                <a:solidFill>
                  <a:srgbClr val="111111"/>
                </a:solidFill>
              </a:rPr>
              <a:t>[ev-03] FAQ | PPCC26: https://powerplatformconf.com/faq</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nvSpPr>
        <p:spPr>
          <a:xfrm>
            <a:off x="685800" y="685800"/>
            <a:ext cx="7772400" cy="4572000"/>
          </a:xfrm>
          <a:prstGeom prst="rect">
            <a:avLst/>
          </a:prstGeom>
          <a:noFill/>
          <a:ln>
            <a:noFill/>
          </a:ln>
        </p:spPr>
        <p:txBody>
          <a:bodyPr wrap="square" anchor="t" vertOverflow="clip" horzOverflow="clip"/>
          <a:lstStyle/>
          <a:p>
            <a:r>
              <a:rPr lang="en-US" sz="1400" b="1">
                <a:solidFill>
                  <a:srgbClr val="111111"/>
                </a:solidFill>
              </a:rPr>
              <a:t>Sources. Every claim traces to one.</a:t>
            </a:r>
          </a:p>
          <a:p>
            <a:r>
              <a:rPr lang="en-US" sz="1400">
                <a:solidFill>
                  <a:srgbClr val="111111"/>
                </a:solidFill>
              </a:rPr>
              <a:t>PPCC 2026 is an upcoming opportunity to connect agents, apps, automation, trusted data, and governance to a concrete executive pilot decision.</a:t>
            </a:r>
          </a:p>
          <a:p>
            <a:r>
              <a:rPr lang="en-US" sz="1400">
                <a:solidFill>
                  <a:srgbClr val="111111"/>
                </a:solidFill>
              </a:rPr>
              <a:t>Sources for every claim in this deck.</a:t>
            </a:r>
          </a:p>
          <a:p>
            <a:r>
              <a:rPr lang="en-US" sz="1400">
                <a:solidFill>
                  <a:srgbClr val="111111"/>
                </a:solidFill>
              </a:rPr>
              <a:t>Citations</a:t>
            </a:r>
          </a:p>
          <a:p>
            <a:r>
              <a:rPr lang="en-US" sz="1400">
                <a:solidFill>
                  <a:srgbClr val="111111"/>
                </a:solidFill>
              </a:rPr>
              <a:t>Register now for PPCC 2026: Come for the learning, stay for the community: https://www.microsoft.com/en-us/power-platform/blog/2026/08/13/register-now-for-ppcc-2026-come-for-the-learning-stay-for-the-community/</a:t>
            </a:r>
          </a:p>
          <a:p>
            <a:r>
              <a:rPr lang="en-US" sz="1400">
                <a:solidFill>
                  <a:srgbClr val="111111"/>
                </a:solidFill>
              </a:rPr>
              <a:t>Register now for PPCC 2026: Come for the learning, stay for the community: https://www.microsoft.com/en-us/power-platform/blog/2026/08/13/register-now-for-ppcc-2026-come-for-the-learning-stay-for-the-community/</a:t>
            </a:r>
          </a:p>
          <a:p>
            <a:r>
              <a:rPr lang="en-US" sz="1400">
                <a:solidFill>
                  <a:srgbClr val="111111"/>
                </a:solidFill>
              </a:rPr>
              <a:t>FAQ | PPCC26: https://powerplatformconf.com/faq</a:t>
            </a:r>
          </a:p>
          <a:p>
            <a:r>
              <a:rPr lang="en-US" sz="1400">
                <a:solidFill>
                  <a:srgbClr val="111111"/>
                </a:solidFill>
              </a:rPr>
              <a:t>FAQ | PPCC26: https://powerplatformconf.com/faq</a:t>
            </a:r>
          </a:p>
          <a:p>
            <a:r>
              <a:rPr lang="en-US" sz="1400">
                <a:solidFill>
                  <a:srgbClr val="111111"/>
                </a:solidFill>
              </a:rPr>
              <a:t>FAQ | PPCC26: https://powerplatformconf.com/faq</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marL="0" indent="0">
        <a:defRPr sz="1800" kern="1200">
          <a:solidFill>
            <a:schemeClr val="tx1"/>
          </a:solidFill>
          <a:latin typeface="+mn-lt"/>
          <a:ea typeface="+mn-ea"/>
          <a:cs typeface="+mn-cs"/>
        </a:defRPr>
      </a:lvl1pPr>
    </p:titleStyle>
    <p:bodyStyle>
      <a:lvl1pPr algn="l" defTabSz="914400" marL="0" indent="0">
        <a:defRPr sz="1800" kern="1200">
          <a:solidFill>
            <a:schemeClr val="tx1"/>
          </a:solidFill>
          <a:latin typeface="+mn-lt"/>
          <a:ea typeface="+mn-ea"/>
          <a:cs typeface="+mn-cs"/>
        </a:defRPr>
      </a:lvl1pPr>
    </p:bodyStyle>
    <p:otherStyle>
      <a:lvl1pPr algn="l" defTabSz="914400" marL="0" indent="0">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executive-pilot-team-3129c5f7cd82.pn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visual-conference-week-307a7cea7ce8.pn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visual-execution-value-7cc8460b374d.pn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9F8"/>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A172A"/>
          </a:solidFill>
          <a:ln>
            <a:noFill/>
          </a:ln>
        </p:spPr>
      </p:sp>
      <p:sp>
        <p:nvSpPr>
          <p:cNvPr id="3" name="Highlight rule"/>
          <p:cNvSpPr/>
          <p:nvPr/>
        </p:nvSpPr>
        <p:spPr>
          <a:xfrm>
            <a:off x="0" y="502920"/>
            <a:ext cx="12192000" cy="45720"/>
          </a:xfrm>
          <a:prstGeom prst="rect">
            <a:avLst/>
          </a:prstGeom>
          <a:solidFill>
            <a:srgbClr val="2FFFE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PPCC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BEC3"/>
                </a:solidFill>
              </a:rPr>
              <a:t>1 / 6</a:t>
            </a:r>
          </a:p>
        </p:txBody>
      </p:sp>
      <p:sp>
        <p:nvSpPr>
          <p:cNvPr id="6" name="Title"/>
          <p:cNvSpPr txBox="1"/>
          <p:nvPr/>
        </p:nvSpPr>
        <p:spPr>
          <a:xfrm>
            <a:off x="685800" y="1100000"/>
            <a:ext cx="10820400" cy="2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3600" b="1">
                <a:solidFill>
                  <a:srgbClr val="081222"/>
                </a:solidFill>
                <a:latin typeface="+mj-lt"/>
              </a:rPr>
              <a:t>PPCC 2026:</a:t>
            </a:r>
            <a:r>
              <a:rPr lang="en-US" sz="3600" b="1">
                <a:solidFill>
                  <a:srgbClr val="17796A"/>
                </a:solidFill>
                <a:latin typeface="+mj-lt"/>
              </a:rPr>
              <a:t> turn conference learning into one governed pilot</a:t>
            </a:r>
          </a:p>
        </p:txBody>
      </p:sp>
      <p:sp>
        <p:nvSpPr>
          <p:cNvPr id="7" name="Summary"/>
          <p:cNvSpPr txBox="1"/>
          <p:nvPr/>
        </p:nvSpPr>
        <p:spPr>
          <a:xfrm>
            <a:off x="685800" y="3150000"/>
            <a:ext cx="9600000" cy="14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800">
                <a:solidFill>
                  <a:srgbClr val="6B717A"/>
                </a:solidFill>
              </a:rPr>
              <a:t>PPCC 2026 is an upcoming opportunity to connect agents, apps, automation, trusted data, and governance to a concrete executive pilot decision.</a:t>
            </a:r>
          </a:p>
        </p:txBody>
      </p:sp>
      <p:sp>
        <p:nvSpPr>
          <p:cNvPr id="8" name="Decision"/>
          <p:cNvSpPr/>
          <p:nvPr/>
        </p:nvSpPr>
        <p:spPr>
          <a:xfrm>
            <a:off x="685800" y="4650000"/>
            <a:ext cx="10820400" cy="1000000"/>
          </a:xfrm>
          <a:prstGeom prst="roundRect">
            <a:avLst>
              <a:gd name="adj" fmla="val 6000"/>
            </a:avLst>
          </a:prstGeom>
          <a:solidFill>
            <a:srgbClr val="E0FFFA"/>
          </a:solidFill>
          <a:ln w="12700">
            <a:solidFill>
              <a:srgbClr val="1D9E8B"/>
            </a:solidFill>
          </a:ln>
        </p:spPr>
        <p:txBody>
          <a:bodyPr wrap="square" lIns="182880" tIns="91440" rIns="182880" bIns="91440" anchor="ctr">
            <a:normAutofit/>
          </a:bodyPr>
          <a:lstStyle/>
          <a:p>
            <a:pPr algn="l">
              <a:lnSpc>
                <a:spcPct val="105000"/>
              </a:lnSpc>
              <a:spcAft>
                <a:spcPts val="0"/>
              </a:spcAft>
            </a:pPr>
            <a:r>
              <a:rPr lang="en-US" sz="1400" b="1">
                <a:solidFill>
                  <a:srgbClr val="17796A"/>
                </a:solidFill>
              </a:rPr>
              <a:t>DECISION  </a:t>
            </a:r>
            <a:r>
              <a:rPr lang="en-US" sz="1600" b="1">
                <a:solidFill>
                  <a:srgbClr val="081222"/>
                </a:solidFill>
              </a:rPr>
              <a:t>Recommendation: send a focused team to PPCC 2026 to return with one governed AI, app, and automation pilot charter.</a:t>
            </a:r>
          </a:p>
        </p:txBody>
      </p:sp>
      <p:sp>
        <p:nvSpPr>
          <p:cNvPr id="9"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B717A"/>
                </a:solidFill>
              </a:rPr>
              <a:t>power-platform-community-conference-2026-13-am-michael-kokoro-onnx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8"/>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A172A"/>
          </a:solidFill>
          <a:ln>
            <a:noFill/>
          </a:ln>
        </p:spPr>
      </p:sp>
      <p:sp>
        <p:nvSpPr>
          <p:cNvPr id="3" name="Highlight rule"/>
          <p:cNvSpPr/>
          <p:nvPr/>
        </p:nvSpPr>
        <p:spPr>
          <a:xfrm>
            <a:off x="0" y="502920"/>
            <a:ext cx="12192000" cy="45720"/>
          </a:xfrm>
          <a:prstGeom prst="rect">
            <a:avLst/>
          </a:prstGeom>
          <a:solidFill>
            <a:srgbClr val="2FFFE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PPCC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BEC3"/>
                </a:solidFill>
              </a:rPr>
              <a:t>2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600" b="1">
                <a:solidFill>
                  <a:srgbClr val="081222"/>
                </a:solidFill>
                <a:latin typeface="+mj-lt"/>
              </a:rPr>
              <a:t>Bottom line:</a:t>
            </a:r>
            <a:r>
              <a:rPr lang="en-US" sz="2600" b="1">
                <a:solidFill>
                  <a:srgbClr val="17796A"/>
                </a:solidFill>
                <a:latin typeface="+mj-lt"/>
              </a:rPr>
              <a:t> send a focused team with one pilot objective</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500">
                <a:solidFill>
                  <a:srgbClr val="081222"/>
                </a:solidFill>
              </a:rPr>
              <a:t>Recommendation: send a focused business, platform, data, and risk team with one mandate: return with a governed AI, app, and automation pilot charter.</a:t>
            </a:r>
          </a:p>
        </p:txBody>
      </p:sp>
      <p:sp>
        <p:nvSpPr>
          <p:cNvPr id="8" name="Accent rule"/>
          <p:cNvSpPr/>
          <p:nvPr/>
        </p:nvSpPr>
        <p:spPr>
          <a:xfrm>
            <a:off x="548640" y="2000000"/>
            <a:ext cx="45720" cy="3800000"/>
          </a:xfrm>
          <a:prstGeom prst="rect">
            <a:avLst/>
          </a:prstGeom>
          <a:solidFill>
            <a:srgbClr val="17796A"/>
          </a:solidFill>
          <a:ln>
            <a:noFill/>
          </a:ln>
        </p:spPr>
      </p:sp>
      <p:pic>
        <p:nvPicPr>
          <p:cNvPr id="9" name="Asset executive-pilot-team" descr="Three-step executive flow from a focused team to one chosen opportunity and one governed pilot."/>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B717A"/>
                </a:solidFill>
              </a:rPr>
              <a:t>Sources: Register now for PPCC 2026: Come for the learning, stay for the community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8"/>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A172A"/>
          </a:solidFill>
          <a:ln>
            <a:noFill/>
          </a:ln>
        </p:spPr>
      </p:sp>
      <p:sp>
        <p:nvSpPr>
          <p:cNvPr id="3" name="Highlight rule"/>
          <p:cNvSpPr/>
          <p:nvPr/>
        </p:nvSpPr>
        <p:spPr>
          <a:xfrm>
            <a:off x="0" y="502920"/>
            <a:ext cx="12192000" cy="45720"/>
          </a:xfrm>
          <a:prstGeom prst="rect">
            <a:avLst/>
          </a:prstGeom>
          <a:solidFill>
            <a:srgbClr val="2FFFE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PPCC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BEC3"/>
                </a:solidFill>
              </a:rPr>
              <a:t>3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81222"/>
                </a:solidFill>
                <a:latin typeface="+mj-lt"/>
              </a:rPr>
              <a:t>Use the full conference week deliberately</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081222"/>
                </a:solidFill>
              </a:rPr>
              <a:t>Main conference: October 27-29 at the MGM Grand in Las Vegas. Workshops: October 25-26 and October 30.</a:t>
            </a:r>
          </a:p>
        </p:txBody>
      </p:sp>
      <p:sp>
        <p:nvSpPr>
          <p:cNvPr id="8" name="Accent rule"/>
          <p:cNvSpPr/>
          <p:nvPr/>
        </p:nvSpPr>
        <p:spPr>
          <a:xfrm>
            <a:off x="548640" y="2000000"/>
            <a:ext cx="45720" cy="3800000"/>
          </a:xfrm>
          <a:prstGeom prst="rect">
            <a:avLst/>
          </a:prstGeom>
          <a:solidFill>
            <a:srgbClr val="17796A"/>
          </a:solidFill>
          <a:ln>
            <a:noFill/>
          </a:ln>
        </p:spPr>
      </p:sp>
      <p:pic>
        <p:nvPicPr>
          <p:cNvPr id="9" name="Asset visual-conference-week" descr="Conference-week timeline: applied workshops bracket the October 27-29 main conference.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B717A"/>
                </a:solidFill>
              </a:rPr>
              <a:t>Sources: Register now for PPCC 2026: Come for the learning, stay for the community  ·  FAQ | PPCC26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8"/>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A172A"/>
          </a:solidFill>
          <a:ln>
            <a:noFill/>
          </a:ln>
        </p:spPr>
      </p:sp>
      <p:sp>
        <p:nvSpPr>
          <p:cNvPr id="3" name="Highlight rule"/>
          <p:cNvSpPr/>
          <p:nvPr/>
        </p:nvSpPr>
        <p:spPr>
          <a:xfrm>
            <a:off x="0" y="502920"/>
            <a:ext cx="12192000" cy="45720"/>
          </a:xfrm>
          <a:prstGeom prst="rect">
            <a:avLst/>
          </a:prstGeom>
          <a:solidFill>
            <a:srgbClr val="2FFFE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PPCC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BEC3"/>
                </a:solidFill>
              </a:rPr>
              <a:t>4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81222"/>
                </a:solidFill>
                <a:latin typeface="+mj-lt"/>
              </a:rPr>
              <a:t>Connect innovation ambition to execution controls</a:t>
            </a:r>
          </a:p>
        </p:txBody>
      </p:sp>
      <p:sp>
        <p:nvSpPr>
          <p:cNvPr id="7" name="Body"/>
          <p:cNvSpPr txBox="1"/>
          <p:nvPr/>
        </p:nvSpPr>
        <p:spPr>
          <a:xfrm>
            <a:off x="685800" y="1950000"/>
            <a:ext cx="39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081222"/>
                </a:solidFill>
              </a:rPr>
              <a:t>PPCC connects agents, apps, automation, and trusted data with implementation, architecture, governance, and AI-driven scenarios.</a:t>
            </a:r>
          </a:p>
        </p:txBody>
      </p:sp>
      <p:sp>
        <p:nvSpPr>
          <p:cNvPr id="8" name="Accent rule"/>
          <p:cNvSpPr/>
          <p:nvPr/>
        </p:nvSpPr>
        <p:spPr>
          <a:xfrm>
            <a:off x="548640" y="2000000"/>
            <a:ext cx="45720" cy="3800000"/>
          </a:xfrm>
          <a:prstGeom prst="rect">
            <a:avLst/>
          </a:prstGeom>
          <a:solidFill>
            <a:srgbClr val="17796A"/>
          </a:solidFill>
          <a:ln>
            <a:noFill/>
          </a:ln>
        </p:spPr>
      </p:sp>
      <p:pic>
        <p:nvPicPr>
          <p:cNvPr id="9" name="Asset visual-execution-value" descr="Learning-to-pilot flow: narrow the opportunity, ground it in trusted data, set controls, then test. (mermaid diagram)"/>
          <p:cNvPicPr>
            <a:picLocks noChangeAspect="1"/>
          </p:cNvPicPr>
          <p:nvPr/>
        </p:nvPicPr>
        <p:blipFill>
          <a:blip r:embed="rIdImage1"/>
          <a:stretch>
            <a:fillRect/>
          </a:stretch>
        </p:blipFill>
        <p:spPr>
          <a:xfrm>
            <a:off x="5000000" y="2221875"/>
            <a:ext cx="6500000" cy="3656250"/>
          </a:xfrm>
          <a:prstGeom prst="rect">
            <a:avLst/>
          </a:prstGeom>
          <a:ln>
            <a:solidFill>
              <a:srgbClr val="D9D9D9"/>
            </a:solidFill>
          </a:ln>
        </p:spPr>
      </p:pic>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B717A"/>
                </a:solidFill>
              </a:rPr>
              <a:t>Sources: Register now for PPCC 2026: Come for the learning, stay for the community  ·  FAQ | PPCC26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8"/>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A172A"/>
          </a:solidFill>
          <a:ln>
            <a:noFill/>
          </a:ln>
        </p:spPr>
      </p:sp>
      <p:sp>
        <p:nvSpPr>
          <p:cNvPr id="3" name="Highlight rule"/>
          <p:cNvSpPr/>
          <p:nvPr/>
        </p:nvSpPr>
        <p:spPr>
          <a:xfrm>
            <a:off x="0" y="502920"/>
            <a:ext cx="12192000" cy="45720"/>
          </a:xfrm>
          <a:prstGeom prst="rect">
            <a:avLst/>
          </a:prstGeom>
          <a:solidFill>
            <a:srgbClr val="2FFFE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PPCC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BEC3"/>
                </a:solidFill>
              </a:rPr>
              <a:t>5 / 6</a:t>
            </a:r>
          </a:p>
        </p:txBody>
      </p:sp>
      <p:sp>
        <p:nvSpPr>
          <p:cNvPr id="6" name="Title"/>
          <p:cNvSpPr txBox="1"/>
          <p:nvPr/>
        </p:nvSpPr>
        <p:spPr>
          <a:xfrm>
            <a:off x="685800" y="700000"/>
            <a:ext cx="10820400" cy="115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900" b="1">
                <a:solidFill>
                  <a:srgbClr val="081222"/>
                </a:solidFill>
                <a:latin typeface="+mj-lt"/>
              </a:rPr>
              <a:t>Require one pilot charter after the event</a:t>
            </a:r>
          </a:p>
        </p:txBody>
      </p:sp>
      <p:sp>
        <p:nvSpPr>
          <p:cNvPr id="7" name="Body"/>
          <p:cNvSpPr txBox="1"/>
          <p:nvPr/>
        </p:nvSpPr>
        <p:spPr>
          <a:xfrm>
            <a:off x="685800" y="1950000"/>
            <a:ext cx="5300000" cy="39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2600">
                <a:solidFill>
                  <a:srgbClr val="081222"/>
                </a:solidFill>
              </a:rPr>
              <a:t>Ask the team to return with the workflow, owner, trusted data, guardrails, and testable success measure for one pilot. Expansion should depend on that evidence, not conference enthusiasm.</a:t>
            </a:r>
          </a:p>
        </p:txBody>
      </p:sp>
      <p:sp>
        <p:nvSpPr>
          <p:cNvPr id="8" name="Accent rule"/>
          <p:cNvSpPr/>
          <p:nvPr/>
        </p:nvSpPr>
        <p:spPr>
          <a:xfrm>
            <a:off x="548640" y="2000000"/>
            <a:ext cx="45720" cy="3800000"/>
          </a:xfrm>
          <a:prstGeom prst="rect">
            <a:avLst/>
          </a:prstGeom>
          <a:solidFill>
            <a:srgbClr val="17796A"/>
          </a:solidFill>
          <a:ln>
            <a:noFill/>
          </a:ln>
        </p:spPr>
      </p:sp>
      <p:sp>
        <p:nvSpPr>
          <p:cNvPr id="9" name="Claim 1"/>
          <p:cNvSpPr/>
          <p:nvPr/>
        </p:nvSpPr>
        <p:spPr>
          <a:xfrm>
            <a:off x="6400000" y="1950000"/>
            <a:ext cx="5105000" cy="1500000"/>
          </a:xfrm>
          <a:prstGeom prst="roundRect">
            <a:avLst>
              <a:gd name="adj" fmla="val 6000"/>
            </a:avLst>
          </a:prstGeom>
          <a:solidFill>
            <a:srgbClr val="FFFFFF"/>
          </a:solidFill>
          <a:ln w="12700">
            <a:solidFill>
              <a:srgbClr val="C8D8D5"/>
            </a:solidFill>
          </a:ln>
        </p:spPr>
        <p:txBody>
          <a:bodyPr wrap="square" lIns="182880" tIns="91440" rIns="182880" bIns="91440" anchor="ctr">
            <a:normAutofit/>
          </a:bodyPr>
          <a:lstStyle/>
          <a:p>
            <a:pPr algn="l">
              <a:lnSpc>
                <a:spcPct val="105000"/>
              </a:lnSpc>
              <a:spcAft>
                <a:spcPts val="400"/>
              </a:spcAft>
            </a:pPr>
            <a:r>
              <a:rPr lang="en-US" sz="1500">
                <a:solidFill>
                  <a:srgbClr val="081222"/>
                </a:solidFill>
              </a:rPr>
              <a:t>The FAQ emphasizes implementation, architecture, governance, and AI-driven scenarios.</a:t>
            </a:r>
          </a:p>
          <a:p>
            <a:pPr algn="l">
              <a:lnSpc>
                <a:spcPct val="105000"/>
              </a:lnSpc>
              <a:spcAft>
                <a:spcPts val="0"/>
              </a:spcAft>
            </a:pPr>
            <a:r>
              <a:rPr lang="en-US" sz="1100">
                <a:solidFill>
                  <a:srgbClr val="6B717A"/>
                </a:solidFill>
              </a:rPr>
              <a:t>FAQ | PPCC26</a:t>
            </a:r>
          </a:p>
        </p:txBody>
      </p:sp>
      <p:sp>
        <p:nvSpPr>
          <p:cNvPr id="10"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B717A"/>
                </a:solidFill>
              </a:rPr>
              <a:t>Sources: FAQ | PPCC26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8"/>
        </a:solidFill>
        <a:effectLst/>
      </p:bgPr>
    </p:bg>
    <p:spTree>
      <p:nvGrpSpPr>
        <p:cNvPr id="1" name=""/>
        <p:cNvGrpSpPr/>
        <p:nvPr/>
      </p:nvGrpSpPr>
      <p:grpSpPr/>
      <p:sp>
        <p:nvSpPr>
          <p:cNvPr id="2" name="Brand band"/>
          <p:cNvSpPr/>
          <p:nvPr/>
        </p:nvSpPr>
        <p:spPr>
          <a:xfrm>
            <a:off x="0" y="0"/>
            <a:ext cx="12192000" cy="502920"/>
          </a:xfrm>
          <a:prstGeom prst="rect">
            <a:avLst/>
          </a:prstGeom>
          <a:solidFill>
            <a:srgbClr val="0A172A"/>
          </a:solidFill>
          <a:ln>
            <a:noFill/>
          </a:ln>
        </p:spPr>
      </p:sp>
      <p:sp>
        <p:nvSpPr>
          <p:cNvPr id="3" name="Highlight rule"/>
          <p:cNvSpPr/>
          <p:nvPr/>
        </p:nvSpPr>
        <p:spPr>
          <a:xfrm>
            <a:off x="0" y="502920"/>
            <a:ext cx="12192000" cy="45720"/>
          </a:xfrm>
          <a:prstGeom prst="rect">
            <a:avLst/>
          </a:prstGeom>
          <a:solidFill>
            <a:srgbClr val="2FFFE0"/>
          </a:solidFill>
          <a:ln>
            <a:noFill/>
          </a:ln>
        </p:spPr>
      </p:sp>
      <p:sp>
        <p:nvSpPr>
          <p:cNvPr id="4" name="Deck kicker"/>
          <p:cNvSpPr txBox="1"/>
          <p:nvPr/>
        </p:nvSpPr>
        <p:spPr>
          <a:xfrm>
            <a:off x="685800" y="0"/>
            <a:ext cx="8400000" cy="50292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1100" b="1" cap="all" spc="120">
                <a:solidFill>
                  <a:srgbClr val="FFFFFF"/>
                </a:solidFill>
              </a:rPr>
              <a:t>PPCC 2026</a:t>
            </a:r>
          </a:p>
        </p:txBody>
      </p:sp>
      <p:sp>
        <p:nvSpPr>
          <p:cNvPr id="5" name="Slide number"/>
          <p:cNvSpPr txBox="1"/>
          <p:nvPr/>
        </p:nvSpPr>
        <p:spPr>
          <a:xfrm>
            <a:off x="9100000" y="0"/>
            <a:ext cx="2406400" cy="502920"/>
          </a:xfrm>
          <a:prstGeom prst="rect">
            <a:avLst/>
          </a:prstGeom>
          <a:noFill/>
          <a:ln>
            <a:noFill/>
          </a:ln>
        </p:spPr>
        <p:txBody>
          <a:bodyPr wrap="square" lIns="182880" tIns="91440" rIns="182880" bIns="91440" anchor="ctr">
            <a:normAutofit/>
          </a:bodyPr>
          <a:lstStyle/>
          <a:p>
            <a:pPr algn="r"/>
            <a:r>
              <a:rPr lang="en-US" sz="1100" b="1" cap="all" spc="120">
                <a:solidFill>
                  <a:srgbClr val="BABEC3"/>
                </a:solidFill>
              </a:rPr>
              <a:t>6 / 6</a:t>
            </a:r>
          </a:p>
        </p:txBody>
      </p:sp>
      <p:sp>
        <p:nvSpPr>
          <p:cNvPr id="6" name="Title"/>
          <p:cNvSpPr txBox="1"/>
          <p:nvPr/>
        </p:nvSpPr>
        <p:spPr>
          <a:xfrm>
            <a:off x="685800" y="760000"/>
            <a:ext cx="10820400" cy="1000000"/>
          </a:xfrm>
          <a:prstGeom prst="rect">
            <a:avLst/>
          </a:prstGeom>
          <a:noFill/>
          <a:ln>
            <a:noFill/>
          </a:ln>
        </p:spPr>
        <p:txBody>
          <a:bodyPr wrap="square" lIns="182880" tIns="91440" rIns="182880" bIns="91440" anchor="ctr">
            <a:normAutofit/>
          </a:bodyPr>
          <a:lstStyle/>
          <a:p>
            <a:pPr algn="l">
              <a:lnSpc>
                <a:spcPct val="105000"/>
              </a:lnSpc>
              <a:spcAft>
                <a:spcPts val="0"/>
              </a:spcAft>
            </a:pPr>
            <a:r>
              <a:rPr lang="en-US" sz="2400" b="1">
                <a:solidFill>
                  <a:srgbClr val="081222"/>
                </a:solidFill>
                <a:latin typeface="+mj-lt"/>
              </a:rPr>
              <a:t>Sources.</a:t>
            </a:r>
            <a:r>
              <a:rPr lang="en-US" sz="2400" b="1">
                <a:solidFill>
                  <a:srgbClr val="17796A"/>
                </a:solidFill>
                <a:latin typeface="+mj-lt"/>
              </a:rPr>
              <a:t> Every claim traces to one.</a:t>
            </a:r>
          </a:p>
        </p:txBody>
      </p:sp>
      <p:sp>
        <p:nvSpPr>
          <p:cNvPr id="7" name="Sources"/>
          <p:cNvSpPr txBox="1"/>
          <p:nvPr/>
        </p:nvSpPr>
        <p:spPr>
          <a:xfrm>
            <a:off x="685800" y="1900000"/>
            <a:ext cx="10820400" cy="430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400" b="1">
                <a:solidFill>
                  <a:srgbClr val="081222"/>
                </a:solidFill>
              </a:rPr>
              <a:t>Register now for PPCC 2026: Come for the learning, stay for the community</a:t>
            </a:r>
            <a:r>
              <a:rPr lang="en-US" sz="1100">
                <a:solidFill>
                  <a:srgbClr val="6B717A"/>
                </a:solidFill>
              </a:rPr>
              <a:t>  retrieved 2026-10-05</a:t>
            </a:r>
          </a:p>
          <a:p>
            <a:pPr algn="l">
              <a:lnSpc>
                <a:spcPct val="105000"/>
              </a:lnSpc>
              <a:spcAft>
                <a:spcPts val="900"/>
              </a:spcAft>
            </a:pPr>
            <a:r>
              <a:rPr lang="en-US" sz="1100">
                <a:solidFill>
                  <a:srgbClr val="17796A"/>
                </a:solidFill>
              </a:rPr>
              <a:t>https://www.microsoft.com/en-us/power-platform/blog/2026/08/13/register-now-for-ppcc-2026-come-for-the-learning-stay-for-the-community/</a:t>
            </a:r>
          </a:p>
          <a:p>
            <a:pPr algn="l">
              <a:lnSpc>
                <a:spcPct val="105000"/>
              </a:lnSpc>
              <a:spcAft>
                <a:spcPts val="0"/>
              </a:spcAft>
            </a:pPr>
            <a:r>
              <a:rPr lang="en-US" sz="1400" b="1">
                <a:solidFill>
                  <a:srgbClr val="081222"/>
                </a:solidFill>
              </a:rPr>
              <a:t>FAQ | PPCC26</a:t>
            </a:r>
            <a:r>
              <a:rPr lang="en-US" sz="1100">
                <a:solidFill>
                  <a:srgbClr val="6B717A"/>
                </a:solidFill>
              </a:rPr>
              <a:t>  retrieved 2026-10-05</a:t>
            </a:r>
          </a:p>
          <a:p>
            <a:pPr algn="l">
              <a:lnSpc>
                <a:spcPct val="105000"/>
              </a:lnSpc>
              <a:spcAft>
                <a:spcPts val="900"/>
              </a:spcAft>
            </a:pPr>
            <a:r>
              <a:rPr lang="en-US" sz="1100">
                <a:solidFill>
                  <a:srgbClr val="17796A"/>
                </a:solidFill>
              </a:rPr>
              <a:t>https://powerplatformconf.com/faq</a:t>
            </a:r>
          </a:p>
        </p:txBody>
      </p:sp>
      <p:sp>
        <p:nvSpPr>
          <p:cNvPr id="8" name="Footer"/>
          <p:cNvSpPr txBox="1"/>
          <p:nvPr/>
        </p:nvSpPr>
        <p:spPr>
          <a:xfrm>
            <a:off x="685800" y="6250000"/>
            <a:ext cx="10820400" cy="420000"/>
          </a:xfrm>
          <a:prstGeom prst="rect">
            <a:avLst/>
          </a:prstGeom>
          <a:noFill/>
          <a:ln>
            <a:noFill/>
          </a:ln>
        </p:spPr>
        <p:txBody>
          <a:bodyPr wrap="square" lIns="182880" tIns="91440" rIns="182880" bIns="91440" anchor="t">
            <a:normAutofit/>
          </a:bodyPr>
          <a:lstStyle/>
          <a:p>
            <a:pPr algn="l">
              <a:lnSpc>
                <a:spcPct val="105000"/>
              </a:lnSpc>
              <a:spcAft>
                <a:spcPts val="0"/>
              </a:spcAft>
            </a:pPr>
            <a:r>
              <a:rPr lang="en-US" sz="1000">
                <a:solidFill>
                  <a:srgbClr val="6B717A"/>
                </a:solidFill>
              </a:rPr>
              <a:t>power-platform-community-conference-2026-13-am-michael-kokoro-onnx</a:t>
            </a:r>
          </a:p>
        </p:txBody>
      </p:sp>
    </p:spTree>
  </p:cSld>
  <p:clrMapOvr>
    <a:masterClrMapping/>
  </p:clrMapOvr>
</p:sld>
</file>

<file path=ppt/theme/theme1.xml><?xml version="1.0" encoding="utf-8"?>
<a:theme xmlns:a="http://schemas.openxmlformats.org/drawingml/2006/main" name="power-platform-community-conference-brand">
  <a:themeElements>
    <a:clrScheme name="power-platform-community-conference-brand">
      <a:dk1>
        <a:srgbClr val="081222"/>
      </a:dk1>
      <a:lt1>
        <a:srgbClr val="F5F9F8"/>
      </a:lt1>
      <a:dk2>
        <a:srgbClr val="0A172A"/>
      </a:dk2>
      <a:lt2>
        <a:srgbClr val="E8F2F0"/>
      </a:lt2>
      <a:accent1>
        <a:srgbClr val="17796A"/>
      </a:accent1>
      <a:accent2>
        <a:srgbClr val="2FFFE0"/>
      </a:accent2>
      <a:accent3>
        <a:srgbClr val="17796A"/>
      </a:accent3>
      <a:accent4>
        <a:srgbClr val="070F1B"/>
      </a:accent4>
      <a:accent5>
        <a:srgbClr val="6B717A"/>
      </a:accent5>
      <a:accent6>
        <a:srgbClr val="B42318"/>
      </a:accent6>
      <a:hlink>
        <a:srgbClr val="17796A"/>
      </a:hlink>
      <a:folHlink>
        <a:srgbClr val="6B717A"/>
      </a:folHlink>
    </a:clrScheme>
    <a:fontScheme name="power-platform-community-conference-brand">
      <a:majorFont>
        <a:latin typeface="Montserrat"/>
        <a:ea typeface=""/>
        <a:cs typeface=""/>
      </a:majorFont>
      <a:minorFont>
        <a:latin typeface="Montserrat"/>
        <a:ea typeface=""/>
        <a:cs typeface=""/>
      </a:minorFont>
    </a:fontScheme>
    <a:fmtScheme name="power-platform-community-conference-brand">
      <a:fillStyleLst>
        <a:solidFill>
          <a:schemeClr val="phClr"/>
        </a:solidFill>
        <a:gradFill rotWithShape="1">
          <a:gsLst>
            <a:gs pos="0">
              <a:schemeClr val="phClr">
                <a:tint val="50000"/>
                <a:satMod val="300000"/>
              </a:schemeClr>
            </a:gs>
            <a:gs pos="100000">
              <a:schemeClr val="phClr">
                <a:tint val="37000"/>
                <a:satMod val="300000"/>
              </a:schemeClr>
            </a:gs>
          </a:gsLst>
          <a:lin ang="16200000" scaled="1"/>
        </a:gradFill>
        <a:gradFill rotWithShape="1">
          <a:gsLst>
            <a:gs pos="0">
              <a:schemeClr val="phClr">
                <a:shade val="51000"/>
                <a:satMod val="130000"/>
              </a:schemeClr>
            </a:gs>
            <a:gs pos="100000">
              <a:schemeClr val="phClr">
                <a:shade val="93000"/>
                <a:satMod val="130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a2swe</Application>
  <Slides>6</Slides>
  <Notes>6</Not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PPCC 2026: turn conference learning into one governed pilot</dc:title>
  <dc:creator>a2swe</dc:creator>
  <cp:lastModifiedBy>a2swe</cp:lastModifiedBy>
  <dcterms:created xsi:type="dcterms:W3CDTF">2020-01-01T00:00:00Z</dcterms:created>
  <dcterms:modified xsi:type="dcterms:W3CDTF">2020-01-01T00:00:00Z</dcterms:modified>
</cp:coreProperties>
</file>