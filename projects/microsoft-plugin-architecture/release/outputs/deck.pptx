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type="screen16x9"/>
  <p:notesSz cx="6858000" cy="9144000"/>
  <p:defaultTextStyle>
    <a:defPPr>
      <a:defRPr lang="en-US"/>
    </a:defPPr>
    <a:lvl1pPr algn="l" defTabSz="914400" marL="0" indent="0">
      <a:defRPr sz="1800" kern="1200">
        <a:solidFill>
          <a:schemeClr val="tx1"/>
        </a:solidFill>
        <a:latin typeface="+mn-lt"/>
        <a:ea typeface="+mn-ea"/>
        <a:cs typeface="+mn-cs"/>
      </a:defRPr>
    </a:lvl1pPr>
  </p:defaultTextStyle>
</p:presentation>
</file>

<file path=ppt/presProps.xml><?xml version="1.0" encoding="utf-8"?>
<p:presentationPr xmlns:p="http://schemas.openxmlformats.org/presentationml/2006/main">
  <p:showPr>
    <p:present/>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20"/>
    <p:restoredTop sz="94660"/>
  </p:normalViewPr>
  <p:slideViewPr>
    <p:cSldViewPr>
      <p:cViewPr varScale="1">
        <p:scale>
          <a:sx n="100" d="100"/>
          <a:sy n="100" d="100"/>
        </p:scale>
        <p:origin x="0" y="0"/>
      </p:cViewPr>
      <p:guideLst/>
    </p:cSldViewPr>
  </p:slideViewPr>
  <p:notesTextViewPr>
    <p:cViewPr>
      <p:scale>
        <a:sx n="100" d="100"/>
        <a:sy n="100" d="100"/>
      </p:scale>
      <p:origin x="0" y="0"/>
    </p:cViewPr>
  </p:notesTextViewPr>
  <p:gridSpacing cx="78028800" cy="780288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theme" Target="theme/theme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ableStyles" Target="tableStyles.xml"/></Relationships>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Microsoft Plugin Architecture: reuse the core, govern each host</a:t>
            </a:r>
          </a:p>
          <a:p>
            <a:r>
              <a:rPr lang="en-US" sz="1400">
                <a:solidFill>
                  <a:srgbClr val="111111"/>
                </a:solidFill>
              </a:rPr>
              <a:t>Bottom line: standardize skills and MCP, then govern compatibility and ownership for each host.</a:t>
            </a:r>
          </a:p>
          <a:p>
            <a:r>
              <a:rPr lang="en-US" sz="1400">
                <a:solidFill>
                  <a:srgbClr val="111111"/>
                </a:solidFill>
              </a:rPr>
              <a:t>Bottom line: standardize skills and MCP, then govern compatibility and ownership for each host.
Cowork uses a Microsoft 365 app package. Declarative agents use MCP or REST API actions. GitHub Copilot uses plugin packages with portable and client-specific parts.
Reuse skill logic and MCP configuration where tested. Keep authentication, manifests, discovery and client-only components inside each host package.
REST API actions remain supported in declarative agents. Agent Plugins 1.0 adds portability, while legacy GitHub Copilot plugins continue to load.
Assign one owner per capability and service. Publish a host compatibility matrix, version each package, and add routes only when demand justifies lifecycle cost.
Evidence: Three host routes use different delivery contracts: Cowork uses Microsoft 365 app packages; declarative agents use MCP or API actions; GitHub Copilot uses plugin packages. [ev-01] Build plugins for Copilot Cowork
Evidence: Skills and MCP configuration can be reusable, while manifests, discovery, authentication and client-specific components remain host-specific. [ev-03] Build plugins for Copilot Cowork
Evidence: Cowork packages skills and connectors in a standard Microsoft 365 app package. [ev-01] Build plugins for Copilot Cowork
Evidence: Microsoft 365 declarative agents support MCP and REST API plugins as in-agent actions; REST API tools are defined in the plugin manifest. [ev-04] MCP and API plugins for declarative agents
Evidence: GitHub Agent Plugins 1.0 ports skills and MCP configuration across compatible clients; client-specific components and legacy plugins remain supported. [ev-07] About GitHub Copilot plugins</a:t>
            </a:r>
          </a:p>
          <a:p>
            <a:r>
              <a:rPr lang="en-US" sz="1400">
                <a:solidFill>
                  <a:srgbClr val="111111"/>
                </a:solidFill>
              </a:rPr>
              <a:t>Citations</a:t>
            </a:r>
          </a:p>
          <a:p>
            <a:r>
              <a:rPr lang="en-US" sz="1400">
                <a:solidFill>
                  <a:srgbClr val="111111"/>
                </a:solidFill>
              </a:rPr>
              <a:t>[ev-01] Build plugins for Copilot Cowork</a:t>
            </a:r>
          </a:p>
          <a:p>
            <a:r>
              <a:rPr lang="en-US" sz="1400">
                <a:solidFill>
                  <a:srgbClr val="111111"/>
                </a:solidFill>
              </a:rPr>
              <a:t>[ev-02] Build plugins for Copilot Cowork</a:t>
            </a:r>
          </a:p>
          <a:p>
            <a:r>
              <a:rPr lang="en-US" sz="1400">
                <a:solidFill>
                  <a:srgbClr val="111111"/>
                </a:solidFill>
              </a:rPr>
              <a:t>[ev-03] Build plugins for Copilot Cowork</a:t>
            </a:r>
          </a:p>
          <a:p>
            <a:r>
              <a:rPr lang="en-US" sz="1400">
                <a:solidFill>
                  <a:srgbClr val="111111"/>
                </a:solidFill>
              </a:rPr>
              <a:t>[ev-04] MCP and API plugins for declarative agents</a:t>
            </a:r>
          </a:p>
          <a:p>
            <a:r>
              <a:rPr lang="en-US" sz="1400">
                <a:solidFill>
                  <a:srgbClr val="111111"/>
                </a:solidFill>
              </a:rPr>
              <a:t>[ev-05] MCP and API plugins for declarative agents</a:t>
            </a:r>
          </a:p>
          <a:p>
            <a:r>
              <a:rPr lang="en-US" sz="1400">
                <a:solidFill>
                  <a:srgbClr val="111111"/>
                </a:solidFill>
              </a:rPr>
              <a:t>[ev-06] MCP and API plugins for declarative agents</a:t>
            </a:r>
          </a:p>
          <a:p>
            <a:r>
              <a:rPr lang="en-US" sz="1400">
                <a:solidFill>
                  <a:srgbClr val="111111"/>
                </a:solidFill>
              </a:rPr>
              <a:t>[ev-07] About GitHub Copilot plugins</a:t>
            </a:r>
          </a:p>
          <a:p>
            <a:r>
              <a:rPr lang="en-US" sz="1400">
                <a:solidFill>
                  <a:srgbClr val="111111"/>
                </a:solidFill>
              </a:rPr>
              <a:t>[ev-08] About GitHub Copilot plugins</a:t>
            </a:r>
          </a:p>
          <a:p>
            <a:r>
              <a:rPr lang="en-US" sz="1400">
                <a:solidFill>
                  <a:srgbClr val="111111"/>
                </a:solidFill>
              </a:rPr>
              <a:t>[ev-09] About GitHub Copilot plugins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1. Choose the host route</a:t>
            </a:r>
          </a:p>
          <a:p>
            <a:r>
              <a:rPr lang="en-US" sz="1400">
                <a:solidFill>
                  <a:srgbClr val="111111"/>
                </a:solidFill>
              </a:rPr>
              <a:t>Cowork uses a Microsoft 365 app package. Declarative agents use MCP or REST API actions. GitHub Copilot uses plugin packages with portable and client-specific parts.</a:t>
            </a:r>
          </a:p>
          <a:p>
            <a:r>
              <a:rPr lang="en-US" sz="1400">
                <a:solidFill>
                  <a:srgbClr val="111111"/>
                </a:solidFill>
              </a:rPr>
              <a:t>Evidence: the three selected official sources, retrieved 2026-10-06. Decision implication: name the host and package contract for every portfolio item; do not describe these routes as interchangeable.
Evidence: Three host routes use different delivery contracts: Cowork uses Microsoft 365 app packages; declarative agents use MCP or API actions; GitHub Copilot uses plugin packages. [ev-01] Build plugins for Copilot Cowork
Evidence: Cowork packages skills and connectors in a standard Microsoft 365 app package. [ev-01] Build plugins for Copilot Cowork
Evidence: Microsoft 365 declarative agents support MCP and REST API plugins as in-agent actions; REST API tools are defined in the plugin manifest. [ev-04] MCP and API plugins for declarative agents</a:t>
            </a:r>
          </a:p>
          <a:p>
            <a:r>
              <a:rPr lang="en-US" sz="1400">
                <a:solidFill>
                  <a:srgbClr val="111111"/>
                </a:solidFill>
              </a:rPr>
              <a:t>Citations</a:t>
            </a:r>
          </a:p>
          <a:p>
            <a:r>
              <a:rPr lang="en-US" sz="1400">
                <a:solidFill>
                  <a:srgbClr val="111111"/>
                </a:solidFill>
              </a:rPr>
              <a:t>[ev-01] Build plugins for Copilot Cowork: https://learn.microsoft.com/en-us/microsoft-365/copilot/cowork/cowork-plugin-development</a:t>
            </a:r>
          </a:p>
          <a:p>
            <a:r>
              <a:rPr lang="en-US" sz="1400">
                <a:solidFill>
                  <a:srgbClr val="111111"/>
                </a:solidFill>
              </a:rPr>
              <a:t>[ev-02] Build plugins for Copilot Cowork: https://learn.microsoft.com/en-us/microsoft-365/copilot/cowork/cowork-plugin-development</a:t>
            </a:r>
          </a:p>
          <a:p>
            <a:r>
              <a:rPr lang="en-US" sz="1400">
                <a:solidFill>
                  <a:srgbClr val="111111"/>
                </a:solidFill>
              </a:rPr>
              <a:t>[ev-04] MCP and API plugins for declarative agents: https://learn.microsoft.com/en-us/microsoft-365/copilot/extensibility/overview-plugins</a:t>
            </a:r>
          </a:p>
          <a:p>
            <a:r>
              <a:rPr lang="en-US" sz="1400">
                <a:solidFill>
                  <a:srgbClr val="111111"/>
                </a:solidFill>
              </a:rPr>
              <a:t>[ev-05] MCP and API plugins for declarative agents: https://learn.microsoft.com/en-us/microsoft-365/copilot/extensibility/overview-plugins</a:t>
            </a:r>
          </a:p>
          <a:p>
            <a:r>
              <a:rPr lang="en-US" sz="1400">
                <a:solidFill>
                  <a:srgbClr val="111111"/>
                </a:solidFill>
              </a:rPr>
              <a:t>[ev-07] About GitHub Copilot plugins: https://docs.github.com/en/copilot/concepts/agents/about-plugins</a:t>
            </a:r>
          </a:p>
          <a:p>
            <a:r>
              <a:rPr lang="en-US" sz="1400">
                <a:solidFill>
                  <a:srgbClr val="111111"/>
                </a:solidFill>
              </a:rPr>
              <a:t>[ev-01] Build plugins for Copilot Cowork: https://learn.microsoft.com/en-us/microsoft-365/copilot/cowork/cowork-plugin-development</a:t>
            </a:r>
          </a:p>
          <a:p>
            <a:r>
              <a:rPr lang="en-US" sz="1400">
                <a:solidFill>
                  <a:srgbClr val="111111"/>
                </a:solidFill>
              </a:rPr>
              <a:t>[ev-02] Build plugins for Copilot Cowork: https://learn.microsoft.com/en-us/microsoft-365/copilot/cowork/cowork-plugin-development</a:t>
            </a:r>
          </a:p>
          <a:p>
            <a:r>
              <a:rPr lang="en-US" sz="1400">
                <a:solidFill>
                  <a:srgbClr val="111111"/>
                </a:solidFill>
              </a:rPr>
              <a:t>[ev-04] MCP and API plugins for declarative agents: https://learn.microsoft.com/en-us/microsoft-365/copilot/extensibility/overview-plugins</a:t>
            </a:r>
          </a:p>
          <a:p>
            <a:r>
              <a:rPr lang="en-US" sz="1400">
                <a:solidFill>
                  <a:srgbClr val="111111"/>
                </a:solidFill>
              </a:rPr>
              <a:t>[ev-05] MCP and API plugins for declarative agents: https://learn.microsoft.com/en-us/microsoft-365/copilot/extensibility/overview-plugins</a:t>
            </a:r>
          </a:p>
          <a:p>
            <a:r>
              <a:rPr lang="en-US" sz="1400">
                <a:solidFill>
                  <a:srgbClr val="111111"/>
                </a:solidFill>
              </a:rPr>
              <a:t>[ev-06] MCP and API plugins for declarative agents: https://learn.microsoft.com/en-us/microsoft-365/copilot/extensibility/overview-plugins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2. Reuse the core, not the wrapper</a:t>
            </a:r>
          </a:p>
          <a:p>
            <a:r>
              <a:rPr lang="en-US" sz="1400">
                <a:solidFill>
                  <a:srgbClr val="111111"/>
                </a:solidFill>
              </a:rPr>
              <a:t>Reuse skill logic and MCP configuration where tested. Keep authentication, manifests, discovery and client-only components inside each host package.</a:t>
            </a:r>
          </a:p>
          <a:p>
            <a:r>
              <a:rPr lang="en-US" sz="1400">
                <a:solidFill>
                  <a:srgbClr val="111111"/>
                </a:solidFill>
              </a:rPr>
              <a:t>Evidence: Cowork skill portability, declarative-agent MCP/API behavior, and GitHub Agent Plugins portability and legacy support. Interpretation: the reusable layer should be separated from host packaging and operations.
Evidence: Skills and MCP configuration can be reusable, while manifests, discovery, authentication and client-specific components remain host-specific. [ev-03] Build plugins for Copilot Cowork</a:t>
            </a:r>
          </a:p>
          <a:p>
            <a:r>
              <a:rPr lang="en-US" sz="1400">
                <a:solidFill>
                  <a:srgbClr val="111111"/>
                </a:solidFill>
              </a:rPr>
              <a:t>Citations</a:t>
            </a:r>
          </a:p>
          <a:p>
            <a:r>
              <a:rPr lang="en-US" sz="1400">
                <a:solidFill>
                  <a:srgbClr val="111111"/>
                </a:solidFill>
              </a:rPr>
              <a:t>[ev-03] Build plugins for Copilot Cowork: https://learn.microsoft.com/en-us/microsoft-365/copilot/cowork/cowork-plugin-development</a:t>
            </a:r>
          </a:p>
          <a:p>
            <a:r>
              <a:rPr lang="en-US" sz="1400">
                <a:solidFill>
                  <a:srgbClr val="111111"/>
                </a:solidFill>
              </a:rPr>
              <a:t>[ev-07] About GitHub Copilot plugins: https://docs.github.com/en/copilot/concepts/agents/about-plugins</a:t>
            </a:r>
          </a:p>
          <a:p>
            <a:r>
              <a:rPr lang="en-US" sz="1400">
                <a:solidFill>
                  <a:srgbClr val="111111"/>
                </a:solidFill>
              </a:rPr>
              <a:t>[ev-08] About GitHub Copilot plugins: https://docs.github.com/en/copilot/concepts/agents/about-plugins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3. Preserve supported paths</a:t>
            </a:r>
          </a:p>
          <a:p>
            <a:r>
              <a:rPr lang="en-US" sz="1400">
                <a:solidFill>
                  <a:srgbClr val="111111"/>
                </a:solidFill>
              </a:rPr>
              <a:t>REST API actions remain supported in declarative agents. Agent Plugins 1.0 adds portability, while legacy GitHub Copilot plugins continue to load.</a:t>
            </a:r>
          </a:p>
          <a:p>
            <a:r>
              <a:rPr lang="en-US" sz="1400">
                <a:solidFill>
                  <a:srgbClr val="111111"/>
                </a:solidFill>
              </a:rPr>
              <a:t>Evidence: Microsoft Learn documents REST API plugins as declarative-agent actions; GitHub documents both Agent Plugins 1.0 and legacy Copilot plugins as supported.
Evidence: Microsoft 365 declarative agents support MCP and REST API plugins as in-agent actions; REST API tools are defined in the plugin manifest. [ev-04] MCP and API plugins for declarative agents
Evidence: GitHub Agent Plugins 1.0 ports skills and MCP configuration across compatible clients; client-specific components and legacy plugins remain supported. [ev-07] About GitHub Copilot plugins</a:t>
            </a:r>
          </a:p>
          <a:p>
            <a:r>
              <a:rPr lang="en-US" sz="1400">
                <a:solidFill>
                  <a:srgbClr val="111111"/>
                </a:solidFill>
              </a:rPr>
              <a:t>Citations</a:t>
            </a:r>
          </a:p>
          <a:p>
            <a:r>
              <a:rPr lang="en-US" sz="1400">
                <a:solidFill>
                  <a:srgbClr val="111111"/>
                </a:solidFill>
              </a:rPr>
              <a:t>[ev-04] MCP and API plugins for declarative agents: https://learn.microsoft.com/en-us/microsoft-365/copilot/extensibility/overview-plugins</a:t>
            </a:r>
          </a:p>
          <a:p>
            <a:r>
              <a:rPr lang="en-US" sz="1400">
                <a:solidFill>
                  <a:srgbClr val="111111"/>
                </a:solidFill>
              </a:rPr>
              <a:t>[ev-05] MCP and API plugins for declarative agents: https://learn.microsoft.com/en-us/microsoft-365/copilot/extensibility/overview-plugins</a:t>
            </a:r>
          </a:p>
          <a:p>
            <a:r>
              <a:rPr lang="en-US" sz="1400">
                <a:solidFill>
                  <a:srgbClr val="111111"/>
                </a:solidFill>
              </a:rPr>
              <a:t>[ev-06] MCP and API plugins for declarative agents: https://learn.microsoft.com/en-us/microsoft-365/copilot/extensibility/overview-plugins</a:t>
            </a:r>
          </a:p>
          <a:p>
            <a:r>
              <a:rPr lang="en-US" sz="1400">
                <a:solidFill>
                  <a:srgbClr val="111111"/>
                </a:solidFill>
              </a:rPr>
              <a:t>[ev-07] About GitHub Copilot plugins: https://docs.github.com/en/copilot/concepts/agents/about-plugins</a:t>
            </a:r>
          </a:p>
          <a:p>
            <a:r>
              <a:rPr lang="en-US" sz="1400">
                <a:solidFill>
                  <a:srgbClr val="111111"/>
                </a:solidFill>
              </a:rPr>
              <a:t>[ev-08] About GitHub Copilot plugins: https://docs.github.com/en/copilot/concepts/agents/about-plugins</a:t>
            </a:r>
          </a:p>
          <a:p>
            <a:r>
              <a:rPr lang="en-US" sz="1400">
                <a:solidFill>
                  <a:srgbClr val="111111"/>
                </a:solidFill>
              </a:rPr>
              <a:t>[ev-09] About GitHub Copilot plugins: https://docs.github.com/en/copilot/concepts/agents/about-plugins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4. Govern a small portfolio</a:t>
            </a:r>
          </a:p>
          <a:p>
            <a:r>
              <a:rPr lang="en-US" sz="1400">
                <a:solidFill>
                  <a:srgbClr val="111111"/>
                </a:solidFill>
              </a:rPr>
              <a:t>Assign one owner per capability and service. Publish a host compatibility matrix, version each package, and add routes only when demand justifies lifecycle cost.</a:t>
            </a:r>
          </a:p>
          <a:p>
            <a:r>
              <a:rPr lang="en-US" sz="1400">
                <a:solidFill>
                  <a:srgbClr val="111111"/>
                </a:solidFill>
              </a:rPr>
              <a:t>Proposed operating model, grounded in the documented route and compatibility boundaries. No source prescribes an enterprise org chart or ROI target.
Evidence: Three host routes use different delivery contracts: Cowork uses Microsoft 365 app packages; declarative agents use MCP or API actions; GitHub Copilot uses plugin packages. [ev-01] Build plugins for Copilot Cowork
Evidence: Skills and MCP configuration can be reusable, while manifests, discovery, authentication and client-specific components remain host-specific. [ev-03] Build plugins for Copilot Cowork</a:t>
            </a:r>
          </a:p>
          <a:p>
            <a:r>
              <a:rPr lang="en-US" sz="1400">
                <a:solidFill>
                  <a:srgbClr val="111111"/>
                </a:solidFill>
              </a:rPr>
              <a:t>Citations</a:t>
            </a:r>
          </a:p>
          <a:p>
            <a:r>
              <a:rPr lang="en-US" sz="1400">
                <a:solidFill>
                  <a:srgbClr val="111111"/>
                </a:solidFill>
              </a:rPr>
              <a:t>[ev-01] Build plugins for Copilot Cowork: https://learn.microsoft.com/en-us/microsoft-365/copilot/cowork/cowork-plugin-development</a:t>
            </a:r>
          </a:p>
          <a:p>
            <a:r>
              <a:rPr lang="en-US" sz="1400">
                <a:solidFill>
                  <a:srgbClr val="111111"/>
                </a:solidFill>
              </a:rPr>
              <a:t>[ev-02] Build plugins for Copilot Cowork: https://learn.microsoft.com/en-us/microsoft-365/copilot/cowork/cowork-plugin-development</a:t>
            </a:r>
          </a:p>
          <a:p>
            <a:r>
              <a:rPr lang="en-US" sz="1400">
                <a:solidFill>
                  <a:srgbClr val="111111"/>
                </a:solidFill>
              </a:rPr>
              <a:t>[ev-04] MCP and API plugins for declarative agents: https://learn.microsoft.com/en-us/microsoft-365/copilot/extensibility/overview-plugins</a:t>
            </a:r>
          </a:p>
          <a:p>
            <a:r>
              <a:rPr lang="en-US" sz="1400">
                <a:solidFill>
                  <a:srgbClr val="111111"/>
                </a:solidFill>
              </a:rPr>
              <a:t>[ev-05] MCP and API plugins for declarative agents: https://learn.microsoft.com/en-us/microsoft-365/copilot/extensibility/overview-plugins</a:t>
            </a:r>
          </a:p>
          <a:p>
            <a:r>
              <a:rPr lang="en-US" sz="1400">
                <a:solidFill>
                  <a:srgbClr val="111111"/>
                </a:solidFill>
              </a:rPr>
              <a:t>[ev-07] About GitHub Copilot plugins: https://docs.github.com/en/copilot/concepts/agents/about-plugins</a:t>
            </a:r>
          </a:p>
          <a:p>
            <a:r>
              <a:rPr lang="en-US" sz="1400">
                <a:solidFill>
                  <a:srgbClr val="111111"/>
                </a:solidFill>
              </a:rPr>
              <a:t>[ev-03] Build plugins for Copilot Cowork: https://learn.microsoft.com/en-us/microsoft-365/copilot/cowork/cowork-plugin-development</a:t>
            </a:r>
          </a:p>
          <a:p>
            <a:r>
              <a:rPr lang="en-US" sz="1400">
                <a:solidFill>
                  <a:srgbClr val="111111"/>
                </a:solidFill>
              </a:rPr>
              <a:t>[ev-07] About GitHub Copilot plugins: https://docs.github.com/en/copilot/concepts/agents/about-plugins</a:t>
            </a:r>
          </a:p>
          <a:p>
            <a:r>
              <a:rPr lang="en-US" sz="1400">
                <a:solidFill>
                  <a:srgbClr val="111111"/>
                </a:solidFill>
              </a:rPr>
              <a:t>[ev-08] About GitHub Copilot plugins: https://docs.github.com/en/copilot/concepts/agents/about-plugins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Sources. Every claim traces to one.</a:t>
            </a:r>
          </a:p>
          <a:p>
            <a:r>
              <a:rPr lang="en-US" sz="1400">
                <a:solidFill>
                  <a:srgbClr val="111111"/>
                </a:solidFill>
              </a:rPr>
              <a:t>Bottom line: standardize skills and MCP, then govern compatibility and ownership for each host.</a:t>
            </a:r>
          </a:p>
          <a:p>
            <a:r>
              <a:rPr lang="en-US" sz="1400">
                <a:solidFill>
                  <a:srgbClr val="111111"/>
                </a:solidFill>
              </a:rPr>
              <a:t>Sources for every claim in this deck.</a:t>
            </a:r>
          </a:p>
          <a:p>
            <a:r>
              <a:rPr lang="en-US" sz="1400">
                <a:solidFill>
                  <a:srgbClr val="111111"/>
                </a:solidFill>
              </a:rPr>
              <a:t>Citations</a:t>
            </a:r>
          </a:p>
          <a:p>
            <a:r>
              <a:rPr lang="en-US" sz="1400">
                <a:solidFill>
                  <a:srgbClr val="111111"/>
                </a:solidFill>
              </a:rPr>
              <a:t>Build plugins for Copilot Cowork: https://learn.microsoft.com/en-us/microsoft-365/copilot/cowork/cowork-plugin-development</a:t>
            </a:r>
          </a:p>
          <a:p>
            <a:r>
              <a:rPr lang="en-US" sz="1400">
                <a:solidFill>
                  <a:srgbClr val="111111"/>
                </a:solidFill>
              </a:rPr>
              <a:t>Build plugins for Copilot Cowork: https://learn.microsoft.com/en-us/microsoft-365/copilot/cowork/cowork-plugin-development</a:t>
            </a:r>
          </a:p>
          <a:p>
            <a:r>
              <a:rPr lang="en-US" sz="1400">
                <a:solidFill>
                  <a:srgbClr val="111111"/>
                </a:solidFill>
              </a:rPr>
              <a:t>Build plugins for Copilot Cowork: https://learn.microsoft.com/en-us/microsoft-365/copilot/cowork/cowork-plugin-development</a:t>
            </a:r>
          </a:p>
          <a:p>
            <a:r>
              <a:rPr lang="en-US" sz="1400">
                <a:solidFill>
                  <a:srgbClr val="111111"/>
                </a:solidFill>
              </a:rPr>
              <a:t>MCP and API plugins for declarative agents: https://learn.microsoft.com/en-us/microsoft-365/copilot/extensibility/overview-plugins</a:t>
            </a:r>
          </a:p>
          <a:p>
            <a:r>
              <a:rPr lang="en-US" sz="1400">
                <a:solidFill>
                  <a:srgbClr val="111111"/>
                </a:solidFill>
              </a:rPr>
              <a:t>MCP and API plugins for declarative agents: https://learn.microsoft.com/en-us/microsoft-365/copilot/extensibility/overview-plugins</a:t>
            </a:r>
          </a:p>
          <a:p>
            <a:r>
              <a:rPr lang="en-US" sz="1400">
                <a:solidFill>
                  <a:srgbClr val="111111"/>
                </a:solidFill>
              </a:rPr>
              <a:t>MCP and API plugins for declarative agents: https://learn.microsoft.com/en-us/microsoft-365/copilot/extensibility/overview-plugins</a:t>
            </a:r>
          </a:p>
          <a:p>
            <a:r>
              <a:rPr lang="en-US" sz="1400">
                <a:solidFill>
                  <a:srgbClr val="111111"/>
                </a:solidFill>
              </a:rPr>
              <a:t>About GitHub Copilot plugins: https://docs.github.com/en/copilot/concepts/agents/about-plugins</a:t>
            </a:r>
          </a:p>
          <a:p>
            <a:r>
              <a:rPr lang="en-US" sz="1400">
                <a:solidFill>
                  <a:srgbClr val="111111"/>
                </a:solidFill>
              </a:rPr>
              <a:t>About GitHub Copilot plugins: https://docs.github.com/en/copilot/concepts/agents/about-plugins</a:t>
            </a:r>
          </a:p>
          <a:p>
            <a:r>
              <a:rPr lang="en-US" sz="1400">
                <a:solidFill>
                  <a:srgbClr val="111111"/>
                </a:solidFill>
              </a:rPr>
              <a:t>About GitHub Copilot plugins: https://docs.github.com/en/copilot/concepts/agents/about-plugins</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marL="0" indent="0">
        <a:defRPr sz="1800" kern="1200">
          <a:solidFill>
            <a:schemeClr val="tx1"/>
          </a:solidFill>
          <a:latin typeface="+mn-lt"/>
          <a:ea typeface="+mn-ea"/>
          <a:cs typeface="+mn-cs"/>
        </a:defRPr>
      </a:lvl1pPr>
    </p:titleStyle>
    <p:bodyStyle>
      <a:lvl1pPr algn="l" defTabSz="914400" marL="0" indent="0">
        <a:defRPr sz="1800" kern="1200">
          <a:solidFill>
            <a:schemeClr val="tx1"/>
          </a:solidFill>
          <a:latin typeface="+mn-lt"/>
          <a:ea typeface="+mn-ea"/>
          <a:cs typeface="+mn-cs"/>
        </a:defRPr>
      </a:lvl1pPr>
    </p:bodyStyle>
    <p:otherStyle>
      <a:lvl1pPr algn="l" defTabSz="914400" marL="0" indent="0">
        <a:defRPr sz="1800" kern="1200">
          <a:solidFill>
            <a:schemeClr val="tx1"/>
          </a:solidFill>
          <a:latin typeface="+mn-lt"/>
          <a:ea typeface="+mn-ea"/>
          <a:cs typeface="+mn-cs"/>
        </a:defRPr>
      </a:lvl1pPr>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 Id="rIdImage1" Type="http://schemas.openxmlformats.org/officeDocument/2006/relationships/image" Target="../media/visual-three-routes-14b35a988c5a.png"/></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 Id="rIdImage1" Type="http://schemas.openxmlformats.org/officeDocument/2006/relationships/image" Target="../media/visual-reuse-boundary-e0b1f15ed737.png"/></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visual-supported-paths-bb76cd387200.pn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 Id="rIdImage1" Type="http://schemas.openxmlformats.org/officeDocument/2006/relationships/image" Target="../media/visual-portfolio-0076bdb75bde.png"/></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E1726"/>
          </a:solidFill>
          <a:ln>
            <a:noFill/>
          </a:ln>
        </p:spPr>
      </p:sp>
      <p:sp>
        <p:nvSpPr>
          <p:cNvPr id="3" name="Highlight rule"/>
          <p:cNvSpPr/>
          <p:nvPr/>
        </p:nvSpPr>
        <p:spPr>
          <a:xfrm>
            <a:off x="0" y="502920"/>
            <a:ext cx="12192000" cy="45720"/>
          </a:xfrm>
          <a:prstGeom prst="rect">
            <a:avLst/>
          </a:prstGeom>
          <a:solidFill>
            <a:srgbClr val="8AC1EB"/>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Microsoft Plugin Architecture</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CBEC2"/>
                </a:solidFill>
              </a:rPr>
              <a:t>1 / 6</a:t>
            </a:r>
          </a:p>
        </p:txBody>
      </p:sp>
      <p:sp>
        <p:nvSpPr>
          <p:cNvPr id="6" name="Title"/>
          <p:cNvSpPr txBox="1"/>
          <p:nvPr/>
        </p:nvSpPr>
        <p:spPr>
          <a:xfrm>
            <a:off x="685800" y="1100000"/>
            <a:ext cx="10820400" cy="200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3600" b="1">
                <a:solidFill>
                  <a:srgbClr val="0B121E"/>
                </a:solidFill>
                <a:latin typeface="+mj-lt"/>
              </a:rPr>
              <a:t>Microsoft Plugin Architecture:</a:t>
            </a:r>
            <a:r>
              <a:rPr lang="en-US" sz="3600" b="1">
                <a:solidFill>
                  <a:srgbClr val="006EC3"/>
                </a:solidFill>
                <a:latin typeface="+mj-lt"/>
              </a:rPr>
              <a:t> reuse the core, govern each host</a:t>
            </a:r>
          </a:p>
        </p:txBody>
      </p:sp>
      <p:sp>
        <p:nvSpPr>
          <p:cNvPr id="7" name="Summary"/>
          <p:cNvSpPr txBox="1"/>
          <p:nvPr/>
        </p:nvSpPr>
        <p:spPr>
          <a:xfrm>
            <a:off x="685800" y="3150000"/>
            <a:ext cx="9600000" cy="14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2400">
                <a:solidFill>
                  <a:srgbClr val="64686E"/>
                </a:solidFill>
              </a:rPr>
              <a:t>Bottom line: standardize skills and MCP, then govern compatibility and ownership for each host.</a:t>
            </a:r>
          </a:p>
        </p:txBody>
      </p:sp>
      <p:sp>
        <p:nvSpPr>
          <p:cNvPr id="8" name="Decision"/>
          <p:cNvSpPr/>
          <p:nvPr/>
        </p:nvSpPr>
        <p:spPr>
          <a:xfrm>
            <a:off x="685800" y="4650000"/>
            <a:ext cx="10820400" cy="1000000"/>
          </a:xfrm>
          <a:prstGeom prst="roundRect">
            <a:avLst>
              <a:gd name="adj" fmla="val 6000"/>
            </a:avLst>
          </a:prstGeom>
          <a:solidFill>
            <a:srgbClr val="EDF6FC"/>
          </a:solidFill>
          <a:ln w="12700">
            <a:solidFill>
              <a:srgbClr val="567892"/>
            </a:solidFill>
          </a:ln>
        </p:spPr>
        <p:txBody>
          <a:bodyPr wrap="square" lIns="182880" tIns="91440" rIns="182880" bIns="91440" anchor="ctr">
            <a:normAutofit/>
          </a:bodyPr>
          <a:lstStyle/>
          <a:p>
            <a:pPr algn="l">
              <a:lnSpc>
                <a:spcPct val="105000"/>
              </a:lnSpc>
              <a:spcAft>
                <a:spcPts val="0"/>
              </a:spcAft>
            </a:pPr>
            <a:r>
              <a:rPr lang="en-US" sz="1400" b="1">
                <a:solidFill>
                  <a:srgbClr val="006EC3"/>
                </a:solidFill>
              </a:rPr>
              <a:t>DECISION  </a:t>
            </a:r>
            <a:r>
              <a:rPr lang="en-US" sz="2000" b="1">
                <a:solidFill>
                  <a:srgbClr val="0B121E"/>
                </a:solidFill>
              </a:rPr>
              <a:t>Standardize skills and MCP; govern compatibility and ownership per host.</a:t>
            </a:r>
          </a:p>
        </p:txBody>
      </p:sp>
      <p:sp>
        <p:nvSpPr>
          <p:cNvPr id="9"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4686E"/>
                </a:solidFill>
              </a:rPr>
              <a:t>microsoft-plugin-architecture-2026-06-am-michael-kokoro-onnx</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E1726"/>
          </a:solidFill>
          <a:ln>
            <a:noFill/>
          </a:ln>
        </p:spPr>
      </p:sp>
      <p:sp>
        <p:nvSpPr>
          <p:cNvPr id="3" name="Highlight rule"/>
          <p:cNvSpPr/>
          <p:nvPr/>
        </p:nvSpPr>
        <p:spPr>
          <a:xfrm>
            <a:off x="0" y="502920"/>
            <a:ext cx="12192000" cy="45720"/>
          </a:xfrm>
          <a:prstGeom prst="rect">
            <a:avLst/>
          </a:prstGeom>
          <a:solidFill>
            <a:srgbClr val="8AC1EB"/>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Microsoft Plugin Architecture</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CBEC2"/>
                </a:solidFill>
              </a:rPr>
              <a:t>2 / 6</a:t>
            </a:r>
          </a:p>
        </p:txBody>
      </p:sp>
      <p:sp>
        <p:nvSpPr>
          <p:cNvPr id="6" name="Title"/>
          <p:cNvSpPr txBox="1"/>
          <p:nvPr/>
        </p:nvSpPr>
        <p:spPr>
          <a:xfrm>
            <a:off x="685800" y="70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0B121E"/>
                </a:solidFill>
                <a:latin typeface="+mj-lt"/>
              </a:rPr>
              <a:t>1.</a:t>
            </a:r>
            <a:r>
              <a:rPr lang="en-US" sz="2900" b="1">
                <a:solidFill>
                  <a:srgbClr val="006EC3"/>
                </a:solidFill>
                <a:latin typeface="+mj-lt"/>
              </a:rPr>
              <a:t> Choose the host route</a:t>
            </a:r>
          </a:p>
        </p:txBody>
      </p:sp>
      <p:sp>
        <p:nvSpPr>
          <p:cNvPr id="7" name="Body"/>
          <p:cNvSpPr txBox="1"/>
          <p:nvPr/>
        </p:nvSpPr>
        <p:spPr>
          <a:xfrm>
            <a:off x="685800" y="1950000"/>
            <a:ext cx="3900000" cy="39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2400">
                <a:solidFill>
                  <a:srgbClr val="0B121E"/>
                </a:solidFill>
              </a:rPr>
              <a:t>Cowork uses a Microsoft 365 app package. Declarative agents use MCP or REST API actions. GitHub Copilot uses plugin packages with portable and client-specific parts.</a:t>
            </a:r>
          </a:p>
        </p:txBody>
      </p:sp>
      <p:sp>
        <p:nvSpPr>
          <p:cNvPr id="8" name="Accent rule"/>
          <p:cNvSpPr/>
          <p:nvPr/>
        </p:nvSpPr>
        <p:spPr>
          <a:xfrm>
            <a:off x="548640" y="2000000"/>
            <a:ext cx="45720" cy="3800000"/>
          </a:xfrm>
          <a:prstGeom prst="rect">
            <a:avLst/>
          </a:prstGeom>
          <a:solidFill>
            <a:srgbClr val="006EC3"/>
          </a:solidFill>
          <a:ln>
            <a:noFill/>
          </a:ln>
        </p:spPr>
      </p:sp>
      <p:pic>
        <p:nvPicPr>
          <p:cNvPr id="9" name="Asset visual-three-routes" descr="Three host routes share concepts, but each has a distinct delivery contract. (mermaid diagram)"/>
          <p:cNvPicPr>
            <a:picLocks noChangeAspect="1"/>
          </p:cNvPicPr>
          <p:nvPr/>
        </p:nvPicPr>
        <p:blipFill>
          <a:blip r:embed="rIdImage1"/>
          <a:stretch>
            <a:fillRect/>
          </a:stretch>
        </p:blipFill>
        <p:spPr>
          <a:xfrm>
            <a:off x="5000000" y="2221875"/>
            <a:ext cx="6500000" cy="3656250"/>
          </a:xfrm>
          <a:prstGeom prst="rect">
            <a:avLst/>
          </a:prstGeom>
          <a:ln>
            <a:solidFill>
              <a:srgbClr val="D9D9D9"/>
            </a:solidFill>
          </a:ln>
        </p:spPr>
      </p:pic>
      <p:sp>
        <p:nvSpPr>
          <p:cNvPr id="10"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4686E"/>
                </a:solidFill>
              </a:rPr>
              <a:t>Sources: Build plugins for Copilot Cowork  ·  MCP and API plugins for declarative agents  ·  About GitHub Copilot plugins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E1726"/>
          </a:solidFill>
          <a:ln>
            <a:noFill/>
          </a:ln>
        </p:spPr>
      </p:sp>
      <p:sp>
        <p:nvSpPr>
          <p:cNvPr id="3" name="Highlight rule"/>
          <p:cNvSpPr/>
          <p:nvPr/>
        </p:nvSpPr>
        <p:spPr>
          <a:xfrm>
            <a:off x="0" y="502920"/>
            <a:ext cx="12192000" cy="45720"/>
          </a:xfrm>
          <a:prstGeom prst="rect">
            <a:avLst/>
          </a:prstGeom>
          <a:solidFill>
            <a:srgbClr val="8AC1EB"/>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Microsoft Plugin Architecture</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CBEC2"/>
                </a:solidFill>
              </a:rPr>
              <a:t>3 / 6</a:t>
            </a:r>
          </a:p>
        </p:txBody>
      </p:sp>
      <p:sp>
        <p:nvSpPr>
          <p:cNvPr id="6" name="Title"/>
          <p:cNvSpPr txBox="1"/>
          <p:nvPr/>
        </p:nvSpPr>
        <p:spPr>
          <a:xfrm>
            <a:off x="685800" y="70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0B121E"/>
                </a:solidFill>
                <a:latin typeface="+mj-lt"/>
              </a:rPr>
              <a:t>2.</a:t>
            </a:r>
            <a:r>
              <a:rPr lang="en-US" sz="2900" b="1">
                <a:solidFill>
                  <a:srgbClr val="006EC3"/>
                </a:solidFill>
                <a:latin typeface="+mj-lt"/>
              </a:rPr>
              <a:t> Reuse the core, not the wrapper</a:t>
            </a:r>
          </a:p>
        </p:txBody>
      </p:sp>
      <p:sp>
        <p:nvSpPr>
          <p:cNvPr id="7" name="Body"/>
          <p:cNvSpPr txBox="1"/>
          <p:nvPr/>
        </p:nvSpPr>
        <p:spPr>
          <a:xfrm>
            <a:off x="685800" y="1950000"/>
            <a:ext cx="3900000" cy="39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2500">
                <a:solidFill>
                  <a:srgbClr val="0B121E"/>
                </a:solidFill>
              </a:rPr>
              <a:t>Reuse skill logic and MCP configuration where tested. Keep authentication, manifests, discovery and client-only components inside each host package.</a:t>
            </a:r>
          </a:p>
        </p:txBody>
      </p:sp>
      <p:sp>
        <p:nvSpPr>
          <p:cNvPr id="8" name="Accent rule"/>
          <p:cNvSpPr/>
          <p:nvPr/>
        </p:nvSpPr>
        <p:spPr>
          <a:xfrm>
            <a:off x="548640" y="2000000"/>
            <a:ext cx="45720" cy="3800000"/>
          </a:xfrm>
          <a:prstGeom prst="rect">
            <a:avLst/>
          </a:prstGeom>
          <a:solidFill>
            <a:srgbClr val="006EC3"/>
          </a:solidFill>
          <a:ln>
            <a:noFill/>
          </a:ln>
        </p:spPr>
      </p:sp>
      <p:pic>
        <p:nvPicPr>
          <p:cNvPr id="9" name="Asset visual-reuse-boundary" descr="A governed reusable core connects skills to tools and data while host wrappers own policy and packaging. (excalidraw diagram)"/>
          <p:cNvPicPr>
            <a:picLocks noChangeAspect="1"/>
          </p:cNvPicPr>
          <p:nvPr/>
        </p:nvPicPr>
        <p:blipFill>
          <a:blip r:embed="rIdImage1"/>
          <a:stretch>
            <a:fillRect/>
          </a:stretch>
        </p:blipFill>
        <p:spPr>
          <a:xfrm>
            <a:off x="5000000" y="2221875"/>
            <a:ext cx="6500000" cy="3656250"/>
          </a:xfrm>
          <a:prstGeom prst="rect">
            <a:avLst/>
          </a:prstGeom>
          <a:ln>
            <a:solidFill>
              <a:srgbClr val="D9D9D9"/>
            </a:solidFill>
          </a:ln>
        </p:spPr>
      </p:pic>
      <p:sp>
        <p:nvSpPr>
          <p:cNvPr id="10"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4686E"/>
                </a:solidFill>
              </a:rPr>
              <a:t>Sources: Build plugins for Copilot Cowork  ·  About GitHub Copilot plugins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E1726"/>
          </a:solidFill>
          <a:ln>
            <a:noFill/>
          </a:ln>
        </p:spPr>
      </p:sp>
      <p:sp>
        <p:nvSpPr>
          <p:cNvPr id="3" name="Highlight rule"/>
          <p:cNvSpPr/>
          <p:nvPr/>
        </p:nvSpPr>
        <p:spPr>
          <a:xfrm>
            <a:off x="0" y="502920"/>
            <a:ext cx="12192000" cy="45720"/>
          </a:xfrm>
          <a:prstGeom prst="rect">
            <a:avLst/>
          </a:prstGeom>
          <a:solidFill>
            <a:srgbClr val="8AC1EB"/>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Microsoft Plugin Architecture</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CBEC2"/>
                </a:solidFill>
              </a:rPr>
              <a:t>4 / 6</a:t>
            </a:r>
          </a:p>
        </p:txBody>
      </p:sp>
      <p:sp>
        <p:nvSpPr>
          <p:cNvPr id="6" name="Title"/>
          <p:cNvSpPr txBox="1"/>
          <p:nvPr/>
        </p:nvSpPr>
        <p:spPr>
          <a:xfrm>
            <a:off x="685800" y="70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0B121E"/>
                </a:solidFill>
                <a:latin typeface="+mj-lt"/>
              </a:rPr>
              <a:t>3.</a:t>
            </a:r>
            <a:r>
              <a:rPr lang="en-US" sz="2900" b="1">
                <a:solidFill>
                  <a:srgbClr val="006EC3"/>
                </a:solidFill>
                <a:latin typeface="+mj-lt"/>
              </a:rPr>
              <a:t> Preserve supported paths</a:t>
            </a:r>
          </a:p>
        </p:txBody>
      </p:sp>
      <p:sp>
        <p:nvSpPr>
          <p:cNvPr id="7" name="Body"/>
          <p:cNvSpPr txBox="1"/>
          <p:nvPr/>
        </p:nvSpPr>
        <p:spPr>
          <a:xfrm>
            <a:off x="685800" y="1950000"/>
            <a:ext cx="3900000" cy="39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2500">
                <a:solidFill>
                  <a:srgbClr val="0B121E"/>
                </a:solidFill>
              </a:rPr>
              <a:t>REST API actions remain supported in declarative agents. Agent Plugins 1.0 adds portability, while legacy GitHub Copilot plugins continue to load.</a:t>
            </a:r>
          </a:p>
        </p:txBody>
      </p:sp>
      <p:sp>
        <p:nvSpPr>
          <p:cNvPr id="8" name="Accent rule"/>
          <p:cNvSpPr/>
          <p:nvPr/>
        </p:nvSpPr>
        <p:spPr>
          <a:xfrm>
            <a:off x="548640" y="2000000"/>
            <a:ext cx="45720" cy="3800000"/>
          </a:xfrm>
          <a:prstGeom prst="rect">
            <a:avLst/>
          </a:prstGeom>
          <a:solidFill>
            <a:srgbClr val="006EC3"/>
          </a:solidFill>
          <a:ln>
            <a:noFill/>
          </a:ln>
        </p:spPr>
      </p:sp>
      <p:pic>
        <p:nvPicPr>
          <p:cNvPr id="9" name="Asset visual-supported-paths" descr="Modern portability does not make supported REST API or legacy plugin routes obsolete. (marp diagram)"/>
          <p:cNvPicPr>
            <a:picLocks noChangeAspect="1"/>
          </p:cNvPicPr>
          <p:nvPr/>
        </p:nvPicPr>
        <p:blipFill>
          <a:blip r:embed="rIdImage1"/>
          <a:stretch>
            <a:fillRect/>
          </a:stretch>
        </p:blipFill>
        <p:spPr>
          <a:xfrm>
            <a:off x="5000000" y="2221875"/>
            <a:ext cx="6500000" cy="3656250"/>
          </a:xfrm>
          <a:prstGeom prst="rect">
            <a:avLst/>
          </a:prstGeom>
          <a:ln>
            <a:solidFill>
              <a:srgbClr val="D9D9D9"/>
            </a:solidFill>
          </a:ln>
        </p:spPr>
      </p:pic>
      <p:sp>
        <p:nvSpPr>
          <p:cNvPr id="10"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4686E"/>
                </a:solidFill>
              </a:rPr>
              <a:t>Sources: MCP and API plugins for declarative agents  ·  About GitHub Copilot plugins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E1726"/>
          </a:solidFill>
          <a:ln>
            <a:noFill/>
          </a:ln>
        </p:spPr>
      </p:sp>
      <p:sp>
        <p:nvSpPr>
          <p:cNvPr id="3" name="Highlight rule"/>
          <p:cNvSpPr/>
          <p:nvPr/>
        </p:nvSpPr>
        <p:spPr>
          <a:xfrm>
            <a:off x="0" y="502920"/>
            <a:ext cx="12192000" cy="45720"/>
          </a:xfrm>
          <a:prstGeom prst="rect">
            <a:avLst/>
          </a:prstGeom>
          <a:solidFill>
            <a:srgbClr val="8AC1EB"/>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Microsoft Plugin Architecture</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CBEC2"/>
                </a:solidFill>
              </a:rPr>
              <a:t>5 / 6</a:t>
            </a:r>
          </a:p>
        </p:txBody>
      </p:sp>
      <p:sp>
        <p:nvSpPr>
          <p:cNvPr id="6" name="Title"/>
          <p:cNvSpPr txBox="1"/>
          <p:nvPr/>
        </p:nvSpPr>
        <p:spPr>
          <a:xfrm>
            <a:off x="685800" y="70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0B121E"/>
                </a:solidFill>
                <a:latin typeface="+mj-lt"/>
              </a:rPr>
              <a:t>4.</a:t>
            </a:r>
            <a:r>
              <a:rPr lang="en-US" sz="2900" b="1">
                <a:solidFill>
                  <a:srgbClr val="006EC3"/>
                </a:solidFill>
                <a:latin typeface="+mj-lt"/>
              </a:rPr>
              <a:t> Govern a small portfolio</a:t>
            </a:r>
          </a:p>
        </p:txBody>
      </p:sp>
      <p:sp>
        <p:nvSpPr>
          <p:cNvPr id="7" name="Body"/>
          <p:cNvSpPr txBox="1"/>
          <p:nvPr/>
        </p:nvSpPr>
        <p:spPr>
          <a:xfrm>
            <a:off x="685800" y="1950000"/>
            <a:ext cx="3900000" cy="39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2400">
                <a:solidFill>
                  <a:srgbClr val="0B121E"/>
                </a:solidFill>
              </a:rPr>
              <a:t>Assign one owner per capability and service. Publish a host compatibility matrix, version each package, and add routes only when demand justifies lifecycle cost.</a:t>
            </a:r>
          </a:p>
        </p:txBody>
      </p:sp>
      <p:sp>
        <p:nvSpPr>
          <p:cNvPr id="8" name="Accent rule"/>
          <p:cNvSpPr/>
          <p:nvPr/>
        </p:nvSpPr>
        <p:spPr>
          <a:xfrm>
            <a:off x="548640" y="2000000"/>
            <a:ext cx="45720" cy="3800000"/>
          </a:xfrm>
          <a:prstGeom prst="rect">
            <a:avLst/>
          </a:prstGeom>
          <a:solidFill>
            <a:srgbClr val="006EC3"/>
          </a:solidFill>
          <a:ln>
            <a:noFill/>
          </a:ln>
        </p:spPr>
      </p:sp>
      <p:pic>
        <p:nvPicPr>
          <p:cNvPr id="9" name="Asset visual-portfolio" descr="A small governed portfolio makes compatibility and operational ownership explicit. (marp diagram)"/>
          <p:cNvPicPr>
            <a:picLocks noChangeAspect="1"/>
          </p:cNvPicPr>
          <p:nvPr/>
        </p:nvPicPr>
        <p:blipFill>
          <a:blip r:embed="rIdImage1"/>
          <a:stretch>
            <a:fillRect/>
          </a:stretch>
        </p:blipFill>
        <p:spPr>
          <a:xfrm>
            <a:off x="5000000" y="2221875"/>
            <a:ext cx="6500000" cy="3656250"/>
          </a:xfrm>
          <a:prstGeom prst="rect">
            <a:avLst/>
          </a:prstGeom>
          <a:ln>
            <a:solidFill>
              <a:srgbClr val="D9D9D9"/>
            </a:solidFill>
          </a:ln>
        </p:spPr>
      </p:pic>
      <p:sp>
        <p:nvSpPr>
          <p:cNvPr id="10"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4686E"/>
                </a:solidFill>
              </a:rPr>
              <a:t>Sources: Build plugins for Copilot Cowork  ·  MCP and API plugins for declarative agents  ·  About GitHub Copilot plugins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E1726"/>
          </a:solidFill>
          <a:ln>
            <a:noFill/>
          </a:ln>
        </p:spPr>
      </p:sp>
      <p:sp>
        <p:nvSpPr>
          <p:cNvPr id="3" name="Highlight rule"/>
          <p:cNvSpPr/>
          <p:nvPr/>
        </p:nvSpPr>
        <p:spPr>
          <a:xfrm>
            <a:off x="0" y="502920"/>
            <a:ext cx="12192000" cy="45720"/>
          </a:xfrm>
          <a:prstGeom prst="rect">
            <a:avLst/>
          </a:prstGeom>
          <a:solidFill>
            <a:srgbClr val="8AC1EB"/>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Microsoft Plugin Architecture</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CBEC2"/>
                </a:solidFill>
              </a:rPr>
              <a:t>6 / 6</a:t>
            </a:r>
          </a:p>
        </p:txBody>
      </p:sp>
      <p:sp>
        <p:nvSpPr>
          <p:cNvPr id="6" name="Title"/>
          <p:cNvSpPr txBox="1"/>
          <p:nvPr/>
        </p:nvSpPr>
        <p:spPr>
          <a:xfrm>
            <a:off x="685800" y="760000"/>
            <a:ext cx="10820400" cy="100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400" b="1">
                <a:solidFill>
                  <a:srgbClr val="0B121E"/>
                </a:solidFill>
                <a:latin typeface="+mj-lt"/>
              </a:rPr>
              <a:t>Sources.</a:t>
            </a:r>
            <a:r>
              <a:rPr lang="en-US" sz="2400" b="1">
                <a:solidFill>
                  <a:srgbClr val="006EC3"/>
                </a:solidFill>
                <a:latin typeface="+mj-lt"/>
              </a:rPr>
              <a:t> Every claim traces to one.</a:t>
            </a:r>
          </a:p>
        </p:txBody>
      </p:sp>
      <p:sp>
        <p:nvSpPr>
          <p:cNvPr id="7" name="Sources"/>
          <p:cNvSpPr txBox="1"/>
          <p:nvPr/>
        </p:nvSpPr>
        <p:spPr>
          <a:xfrm>
            <a:off x="685800" y="1900000"/>
            <a:ext cx="10820400" cy="43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400" b="1">
                <a:solidFill>
                  <a:srgbClr val="0B121E"/>
                </a:solidFill>
              </a:rPr>
              <a:t>Build plugins for Copilot Cowork</a:t>
            </a:r>
            <a:r>
              <a:rPr lang="en-US" sz="1100">
                <a:solidFill>
                  <a:srgbClr val="64686E"/>
                </a:solidFill>
              </a:rPr>
              <a:t>  retrieved 2026-10-06</a:t>
            </a:r>
          </a:p>
          <a:p>
            <a:pPr algn="l">
              <a:lnSpc>
                <a:spcPct val="105000"/>
              </a:lnSpc>
              <a:spcAft>
                <a:spcPts val="900"/>
              </a:spcAft>
            </a:pPr>
            <a:r>
              <a:rPr lang="en-US" sz="1100">
                <a:solidFill>
                  <a:srgbClr val="006EC3"/>
                </a:solidFill>
              </a:rPr>
              <a:t>https://learn.microsoft.com/en-us/microsoft-365/copilot/cowork/cowork-plugin-development</a:t>
            </a:r>
          </a:p>
          <a:p>
            <a:pPr algn="l">
              <a:lnSpc>
                <a:spcPct val="105000"/>
              </a:lnSpc>
              <a:spcAft>
                <a:spcPts val="0"/>
              </a:spcAft>
            </a:pPr>
            <a:r>
              <a:rPr lang="en-US" sz="1400" b="1">
                <a:solidFill>
                  <a:srgbClr val="0B121E"/>
                </a:solidFill>
              </a:rPr>
              <a:t>MCP and API plugins for declarative agents</a:t>
            </a:r>
            <a:r>
              <a:rPr lang="en-US" sz="1100">
                <a:solidFill>
                  <a:srgbClr val="64686E"/>
                </a:solidFill>
              </a:rPr>
              <a:t>  retrieved 2026-10-06</a:t>
            </a:r>
          </a:p>
          <a:p>
            <a:pPr algn="l">
              <a:lnSpc>
                <a:spcPct val="105000"/>
              </a:lnSpc>
              <a:spcAft>
                <a:spcPts val="900"/>
              </a:spcAft>
            </a:pPr>
            <a:r>
              <a:rPr lang="en-US" sz="1100">
                <a:solidFill>
                  <a:srgbClr val="006EC3"/>
                </a:solidFill>
              </a:rPr>
              <a:t>https://learn.microsoft.com/en-us/microsoft-365/copilot/extensibility/overview-plugins</a:t>
            </a:r>
          </a:p>
          <a:p>
            <a:pPr algn="l">
              <a:lnSpc>
                <a:spcPct val="105000"/>
              </a:lnSpc>
              <a:spcAft>
                <a:spcPts val="0"/>
              </a:spcAft>
            </a:pPr>
            <a:r>
              <a:rPr lang="en-US" sz="1400" b="1">
                <a:solidFill>
                  <a:srgbClr val="0B121E"/>
                </a:solidFill>
              </a:rPr>
              <a:t>About GitHub Copilot plugins</a:t>
            </a:r>
            <a:r>
              <a:rPr lang="en-US" sz="1100">
                <a:solidFill>
                  <a:srgbClr val="64686E"/>
                </a:solidFill>
              </a:rPr>
              <a:t>  retrieved 2026-10-06</a:t>
            </a:r>
          </a:p>
          <a:p>
            <a:pPr algn="l">
              <a:lnSpc>
                <a:spcPct val="105000"/>
              </a:lnSpc>
              <a:spcAft>
                <a:spcPts val="900"/>
              </a:spcAft>
            </a:pPr>
            <a:r>
              <a:rPr lang="en-US" sz="1100">
                <a:solidFill>
                  <a:srgbClr val="006EC3"/>
                </a:solidFill>
              </a:rPr>
              <a:t>https://docs.github.com/en/copilot/concepts/agents/about-plugins</a:t>
            </a:r>
          </a:p>
        </p:txBody>
      </p:sp>
      <p:sp>
        <p:nvSpPr>
          <p:cNvPr id="8"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4686E"/>
                </a:solidFill>
              </a:rPr>
              <a:t>microsoft-plugin-architecture-2026-06-am-michael-kokoro-onnx</a:t>
            </a:r>
          </a:p>
        </p:txBody>
      </p:sp>
    </p:spTree>
  </p:cSld>
  <p:clrMapOvr>
    <a:masterClrMapping/>
  </p:clrMapOvr>
</p:sld>
</file>

<file path=ppt/theme/theme1.xml><?xml version="1.0" encoding="utf-8"?>
<a:theme xmlns:a="http://schemas.openxmlformats.org/drawingml/2006/main" name="microsoft-plugin-architecture-brand">
  <a:themeElements>
    <a:clrScheme name="microsoft-plugin-architecture-brand">
      <a:dk1>
        <a:srgbClr val="0B121E"/>
      </a:dk1>
      <a:lt1>
        <a:srgbClr val="F4F8FC"/>
      </a:lt1>
      <a:dk2>
        <a:srgbClr val="0E1726"/>
      </a:dk2>
      <a:lt2>
        <a:srgbClr val="E6F1F9"/>
      </a:lt2>
      <a:accent1>
        <a:srgbClr val="006EC3"/>
      </a:accent1>
      <a:accent2>
        <a:srgbClr val="8AC1EB"/>
      </a:accent2>
      <a:accent3>
        <a:srgbClr val="006EC3"/>
      </a:accent3>
      <a:accent4>
        <a:srgbClr val="090F19"/>
      </a:accent4>
      <a:accent5>
        <a:srgbClr val="64686E"/>
      </a:accent5>
      <a:accent6>
        <a:srgbClr val="B42318"/>
      </a:accent6>
      <a:hlink>
        <a:srgbClr val="006EC3"/>
      </a:hlink>
      <a:folHlink>
        <a:srgbClr val="64686E"/>
      </a:folHlink>
    </a:clrScheme>
    <a:fontScheme name="microsoft-plugin-architecture-brand">
      <a:majorFont>
        <a:latin typeface="Segoe UI Variable Display"/>
        <a:ea typeface=""/>
        <a:cs typeface=""/>
      </a:majorFont>
      <a:minorFont>
        <a:latin typeface="Segoe UI"/>
        <a:ea typeface=""/>
        <a:cs typeface=""/>
      </a:minorFont>
    </a:fontScheme>
    <a:fmtScheme name="microsoft-plugin-architecture-brand">
      <a:fillStyleLst>
        <a:solidFill>
          <a:schemeClr val="phClr"/>
        </a:solidFill>
        <a:gradFill rotWithShape="1">
          <a:gsLst>
            <a:gs pos="0">
              <a:schemeClr val="phClr">
                <a:tint val="50000"/>
                <a:satMod val="300000"/>
              </a:schemeClr>
            </a:gs>
            <a:gs pos="100000">
              <a:schemeClr val="phClr">
                <a:tint val="37000"/>
                <a:satMod val="300000"/>
              </a:schemeClr>
            </a:gs>
          </a:gsLst>
          <a:lin ang="16200000" scaled="1"/>
        </a:gradFill>
        <a:gradFill rotWithShape="1">
          <a:gsLst>
            <a:gs pos="0">
              <a:schemeClr val="phClr">
                <a:shade val="51000"/>
                <a:satMod val="130000"/>
              </a:schemeClr>
            </a:gs>
            <a:gs pos="100000">
              <a:schemeClr val="phClr">
                <a:shade val="93000"/>
                <a:satMod val="130000"/>
              </a:schemeClr>
            </a:gs>
          </a:gsLst>
          <a:lin ang="162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a2swe</Application>
  <Slides>6</Slides>
  <Notes>6</Not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Plugin Architecture: reuse the core, govern each host</dc:title>
  <dc:creator>a2swe</dc:creator>
  <cp:lastModifiedBy>a2swe</cp:lastModifiedBy>
  <dcterms:created xsi:type="dcterms:W3CDTF">2020-01-01T00:00:00Z</dcterms:created>
  <dcterms:modified xsi:type="dcterms:W3CDTF">2020-01-01T00:00:00Z</dcterms:modified>
</cp:coreProperties>
</file>