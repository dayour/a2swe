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60350"/>
            <a:ext cx="8229600" cy="0"/>
          </a:xfrm>
          <a:prstGeom prst="line">
            <a:avLst/>
          </a:prstGeom>
          <a:noFill/>
          <a:ln w="19050">
            <a:solidFill>
              <a:srgbClr val="CAD5E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55550"/>
            <a:ext cx="7054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365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879157" y="355550"/>
            <a:ext cx="286379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2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PUBLIC-EVIDENCE EXPLAINER · UNOFFICIAL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68437"/>
            <a:ext cx="5116729" cy="1003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52"/>
              </a:lnSpc>
              <a:spcAft>
                <a:spcPts val="1700"/>
              </a:spcAft>
              <a:buNone/>
            </a:pPr>
            <a:r>
              <a:rPr lang="en-US" sz="38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agent. Three questions.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287935"/>
            <a:ext cx="5116729" cy="594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spcAft>
                <a:spcPts val="1700"/>
              </a:spcAft>
              <a:buNone/>
            </a:pPr>
            <a:r>
              <a:rPr lang="en-US" sz="1800" dirty="0">
                <a:solidFill>
                  <a:srgbClr val="52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owns it? What can it access? Can you trace its actions?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097857"/>
            <a:ext cx="5016401" cy="923181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89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leaders + implementers</a:t>
            </a:r>
            <a:endParaRPr lang="en-US" sz="1400" dirty="0"/>
          </a:p>
          <a:p>
            <a:pPr algn="l" marL="114300" indent="-114300">
              <a:lnSpc>
                <a:spcPts val="189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Microsoft evidence</a:t>
            </a:r>
            <a:endParaRPr lang="en-US" sz="1400" dirty="0"/>
          </a:p>
          <a:p>
            <a:pPr algn="l" marL="114300" indent="-114300">
              <a:lnSpc>
                <a:spcPts val="189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Unofficial editorial candidate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829151" y="1858863"/>
            <a:ext cx="1473101" cy="1473101"/>
          </a:xfrm>
          <a:prstGeom prst="roundRect">
            <a:avLst>
              <a:gd name="adj" fmla="val 50003"/>
            </a:avLst>
          </a:prstGeom>
          <a:solidFill>
            <a:srgbClr val="E8F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243786" y="2252514"/>
            <a:ext cx="65670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457200" y="4530626"/>
            <a:ext cx="8229600" cy="0"/>
          </a:xfrm>
          <a:prstGeom prst="line">
            <a:avLst/>
          </a:prstGeom>
          <a:noFill/>
          <a:ln w="19050">
            <a:solidFill>
              <a:srgbClr val="CAD5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654451"/>
            <a:ext cx="83941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candidate · Evidence, visual, rights, tenant, and release approvals remain distinct.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60350"/>
            <a:ext cx="8229600" cy="0"/>
          </a:xfrm>
          <a:prstGeom prst="line">
            <a:avLst/>
          </a:prstGeom>
          <a:noFill/>
          <a:ln w="19050">
            <a:solidFill>
              <a:srgbClr val="CAD5E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55550"/>
            <a:ext cx="7054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365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879157" y="355550"/>
            <a:ext cx="286379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2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PUBLIC-EVIDENCE EXPLAINER · UNOFFICIAL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61008"/>
            <a:ext cx="5116729" cy="818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4"/>
              </a:lnSpc>
              <a:spcAft>
                <a:spcPts val="1700"/>
              </a:spcAft>
              <a:buNone/>
            </a:pPr>
            <a:r>
              <a:rPr lang="en-US" sz="31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365 is the control plane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57200" y="2195364"/>
            <a:ext cx="5116729" cy="594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spcAft>
                <a:spcPts val="1700"/>
              </a:spcAft>
              <a:buNone/>
            </a:pPr>
            <a:r>
              <a:rPr lang="en-US" sz="1800" dirty="0">
                <a:solidFill>
                  <a:srgbClr val="52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Observe, govern, and secure agents across their lifecycle.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005286"/>
            <a:ext cx="5016401" cy="923181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89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Complements agent builders and runtimes</a:t>
            </a:r>
            <a:endParaRPr lang="en-US" sz="1400" dirty="0"/>
          </a:p>
          <a:p>
            <a:pPr algn="l" marL="114300" indent="-114300">
              <a:lnSpc>
                <a:spcPts val="189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not host or execute the agent</a:t>
            </a:r>
            <a:endParaRPr lang="en-US" sz="1400" dirty="0"/>
          </a:p>
          <a:p>
            <a:pPr algn="l" marL="114300" indent="-114300">
              <a:lnSpc>
                <a:spcPts val="189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 only the capabilities you need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829151" y="1858863"/>
            <a:ext cx="1473101" cy="1473101"/>
          </a:xfrm>
          <a:prstGeom prst="roundRect">
            <a:avLst>
              <a:gd name="adj" fmla="val 50003"/>
            </a:avLst>
          </a:prstGeom>
          <a:solidFill>
            <a:srgbClr val="E8F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243786" y="2252514"/>
            <a:ext cx="65670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457200" y="4530626"/>
            <a:ext cx="8229600" cy="0"/>
          </a:xfrm>
          <a:prstGeom prst="line">
            <a:avLst/>
          </a:prstGeom>
          <a:noFill/>
          <a:ln w="19050">
            <a:solidFill>
              <a:srgbClr val="CAD5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654451"/>
            <a:ext cx="83941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candidate · Evidence, visual, rights, tenant, and release approvals remain distinct.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60350"/>
            <a:ext cx="8229600" cy="0"/>
          </a:xfrm>
          <a:prstGeom prst="line">
            <a:avLst/>
          </a:prstGeom>
          <a:noFill/>
          <a:ln w="19050">
            <a:solidFill>
              <a:srgbClr val="CAD5E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55550"/>
            <a:ext cx="7054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365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879157" y="355550"/>
            <a:ext cx="286379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2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PUBLIC-EVIDENCE EXPLAINER · UNOFFICIAL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514177"/>
            <a:ext cx="5116729" cy="409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4"/>
              </a:lnSpc>
              <a:spcAft>
                <a:spcPts val="1700"/>
              </a:spcAft>
              <a:buNone/>
            </a:pPr>
            <a:r>
              <a:rPr lang="en-US" sz="31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57200" y="2139255"/>
            <a:ext cx="5116729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spcAft>
                <a:spcPts val="1700"/>
              </a:spcAft>
              <a:buNone/>
            </a:pPr>
            <a:r>
              <a:rPr lang="en-US" sz="1800" dirty="0">
                <a:solidFill>
                  <a:srgbClr val="52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inventory and activity into view.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652117"/>
            <a:ext cx="5016401" cy="923181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89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agent invocations</a:t>
            </a:r>
            <a:endParaRPr lang="en-US" sz="1400" dirty="0"/>
          </a:p>
          <a:p>
            <a:pPr algn="l" marL="114300" indent="-114300">
              <a:lnSpc>
                <a:spcPts val="189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Correlate tool and inference spans</a:t>
            </a:r>
            <a:endParaRPr lang="en-US" sz="1400" dirty="0"/>
          </a:p>
          <a:p>
            <a:pPr algn="l" marL="114300" indent="-114300">
              <a:lnSpc>
                <a:spcPts val="189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downstream visibility — HTTP 200 is not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829151" y="1858863"/>
            <a:ext cx="1473101" cy="1473101"/>
          </a:xfrm>
          <a:prstGeom prst="roundRect">
            <a:avLst>
              <a:gd name="adj" fmla="val 50003"/>
            </a:avLst>
          </a:prstGeom>
          <a:solidFill>
            <a:srgbClr val="E8F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243786" y="2252514"/>
            <a:ext cx="65670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457200" y="4530626"/>
            <a:ext cx="8229600" cy="0"/>
          </a:xfrm>
          <a:prstGeom prst="line">
            <a:avLst/>
          </a:prstGeom>
          <a:noFill/>
          <a:ln w="19050">
            <a:solidFill>
              <a:srgbClr val="CAD5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654451"/>
            <a:ext cx="83941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candidate · Evidence, visual, rights, tenant, and release approvals remain distinct.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60350"/>
            <a:ext cx="8229600" cy="0"/>
          </a:xfrm>
          <a:prstGeom prst="line">
            <a:avLst/>
          </a:prstGeom>
          <a:noFill/>
          <a:ln w="19050">
            <a:solidFill>
              <a:srgbClr val="CAD5E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55550"/>
            <a:ext cx="7054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365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879157" y="355550"/>
            <a:ext cx="286379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2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PUBLIC-EVIDENCE EXPLAINER · UNOFFICIAL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514177"/>
            <a:ext cx="5116729" cy="409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4"/>
              </a:lnSpc>
              <a:spcAft>
                <a:spcPts val="1700"/>
              </a:spcAft>
              <a:buNone/>
            </a:pPr>
            <a:r>
              <a:rPr lang="en-US" sz="31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57200" y="2139255"/>
            <a:ext cx="5116729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spcAft>
                <a:spcPts val="1700"/>
              </a:spcAft>
              <a:buNone/>
            </a:pPr>
            <a:r>
              <a:rPr lang="en-US" sz="1800" dirty="0">
                <a:solidFill>
                  <a:srgbClr val="52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ownership and access explicit.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652117"/>
            <a:ext cx="5016401" cy="923181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89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Blueprint and agent identity are distinct</a:t>
            </a:r>
            <a:endParaRPr lang="en-US" sz="1400" dirty="0"/>
          </a:p>
          <a:p>
            <a:pPr algn="l" marL="114300" indent="-114300">
              <a:lnSpc>
                <a:spcPts val="189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S2S, OBO, or Agentic-User deliberately</a:t>
            </a:r>
            <a:endParaRPr lang="en-US" sz="1400" dirty="0"/>
          </a:p>
          <a:p>
            <a:pPr algn="l" marL="114300" indent="-114300">
              <a:lnSpc>
                <a:spcPts val="189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Permissions still require consent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829151" y="1858863"/>
            <a:ext cx="1473101" cy="1473101"/>
          </a:xfrm>
          <a:prstGeom prst="roundRect">
            <a:avLst>
              <a:gd name="adj" fmla="val 50003"/>
            </a:avLst>
          </a:prstGeom>
          <a:solidFill>
            <a:srgbClr val="E8F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243786" y="2252514"/>
            <a:ext cx="65670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457200" y="4530626"/>
            <a:ext cx="8229600" cy="0"/>
          </a:xfrm>
          <a:prstGeom prst="line">
            <a:avLst/>
          </a:prstGeom>
          <a:noFill/>
          <a:ln w="19050">
            <a:solidFill>
              <a:srgbClr val="CAD5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654451"/>
            <a:ext cx="83941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candidate · Evidence, visual, rights, tenant, and release approvals remain distinct.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60350"/>
            <a:ext cx="8229600" cy="0"/>
          </a:xfrm>
          <a:prstGeom prst="line">
            <a:avLst/>
          </a:prstGeom>
          <a:noFill/>
          <a:ln w="19050">
            <a:solidFill>
              <a:srgbClr val="CAD5E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55550"/>
            <a:ext cx="7054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365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879157" y="355550"/>
            <a:ext cx="286379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2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PUBLIC-EVIDENCE EXPLAINER · UNOFFICIAL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365647"/>
            <a:ext cx="5116729" cy="409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4"/>
              </a:lnSpc>
              <a:spcAft>
                <a:spcPts val="1700"/>
              </a:spcAft>
              <a:buNone/>
            </a:pPr>
            <a:r>
              <a:rPr lang="en-US" sz="31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57200" y="1990725"/>
            <a:ext cx="5116729" cy="594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spcAft>
                <a:spcPts val="1700"/>
              </a:spcAft>
              <a:buNone/>
            </a:pPr>
            <a:r>
              <a:rPr lang="en-US" sz="1800" dirty="0">
                <a:solidFill>
                  <a:srgbClr val="52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identity, data protection, and threat detection.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800648"/>
            <a:ext cx="5016401" cy="923181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89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Entra</a:t>
            </a:r>
            <a:endParaRPr lang="en-US" sz="1400" dirty="0"/>
          </a:p>
          <a:p>
            <a:pPr algn="l" marL="114300" indent="-114300">
              <a:lnSpc>
                <a:spcPts val="189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Purview</a:t>
            </a:r>
            <a:endParaRPr lang="en-US" sz="1400" dirty="0"/>
          </a:p>
          <a:p>
            <a:pPr algn="l" marL="114300" indent="-114300">
              <a:lnSpc>
                <a:spcPts val="189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Defender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829151" y="1858863"/>
            <a:ext cx="1473101" cy="1473101"/>
          </a:xfrm>
          <a:prstGeom prst="roundRect">
            <a:avLst>
              <a:gd name="adj" fmla="val 50003"/>
            </a:avLst>
          </a:prstGeom>
          <a:solidFill>
            <a:srgbClr val="E8F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243786" y="2252514"/>
            <a:ext cx="65670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457200" y="4530626"/>
            <a:ext cx="8229600" cy="0"/>
          </a:xfrm>
          <a:prstGeom prst="line">
            <a:avLst/>
          </a:prstGeom>
          <a:noFill/>
          <a:ln w="19050">
            <a:solidFill>
              <a:srgbClr val="CAD5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654451"/>
            <a:ext cx="83941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candidate · Evidence, visual, rights, tenant, and release approvals remain distinct.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60350"/>
            <a:ext cx="8229600" cy="0"/>
          </a:xfrm>
          <a:prstGeom prst="line">
            <a:avLst/>
          </a:prstGeom>
          <a:noFill/>
          <a:ln w="19050">
            <a:solidFill>
              <a:srgbClr val="CAD5E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55550"/>
            <a:ext cx="7054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365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879157" y="355550"/>
            <a:ext cx="286379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2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PUBLIC-EVIDENCE EXPLAINER · UNOFFICIAL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309539"/>
            <a:ext cx="5116729" cy="818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4"/>
              </a:lnSpc>
              <a:spcAft>
                <a:spcPts val="1700"/>
              </a:spcAft>
              <a:buNone/>
            </a:pPr>
            <a:r>
              <a:rPr lang="en-US" sz="31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the smallest integration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57200" y="2343894"/>
            <a:ext cx="5116729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spcAft>
                <a:spcPts val="1700"/>
              </a:spcAft>
              <a:buNone/>
            </a:pPr>
            <a:r>
              <a:rPr lang="en-US" sz="1800" dirty="0">
                <a:solidFill>
                  <a:srgbClr val="52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platform support before adding code.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856756"/>
            <a:ext cx="5016401" cy="923181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89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integration first</a:t>
            </a:r>
            <a:endParaRPr lang="en-US" sz="1400" dirty="0"/>
          </a:p>
          <a:p>
            <a:pPr algn="l" marL="114300" indent="-114300">
              <a:lnSpc>
                <a:spcPts val="189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 sync only where explicitly supported</a:t>
            </a:r>
            <a:endParaRPr lang="en-US" sz="1400" dirty="0"/>
          </a:p>
          <a:p>
            <a:pPr algn="l" marL="114300" indent="-114300">
              <a:lnSpc>
                <a:spcPts val="189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365 SDK for selected capabilities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829151" y="1858863"/>
            <a:ext cx="1473101" cy="1473101"/>
          </a:xfrm>
          <a:prstGeom prst="roundRect">
            <a:avLst>
              <a:gd name="adj" fmla="val 50003"/>
            </a:avLst>
          </a:prstGeom>
          <a:solidFill>
            <a:srgbClr val="E8F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243786" y="2252514"/>
            <a:ext cx="65670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457200" y="4530626"/>
            <a:ext cx="8229600" cy="0"/>
          </a:xfrm>
          <a:prstGeom prst="line">
            <a:avLst/>
          </a:prstGeom>
          <a:noFill/>
          <a:ln w="19050">
            <a:solidFill>
              <a:srgbClr val="CAD5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654451"/>
            <a:ext cx="83941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candidate · Evidence, visual, rights, tenant, and release approvals remain distinct.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60350"/>
            <a:ext cx="8229600" cy="0"/>
          </a:xfrm>
          <a:prstGeom prst="line">
            <a:avLst/>
          </a:prstGeom>
          <a:noFill/>
          <a:ln w="19050">
            <a:solidFill>
              <a:srgbClr val="CAD5E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55550"/>
            <a:ext cx="7054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365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879157" y="355550"/>
            <a:ext cx="286379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2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PUBLIC-EVIDENCE EXPLAINER · UNOFFICIAL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514177"/>
            <a:ext cx="5116729" cy="409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4"/>
              </a:lnSpc>
              <a:spcAft>
                <a:spcPts val="1700"/>
              </a:spcAft>
              <a:buNone/>
            </a:pPr>
            <a:r>
              <a:rPr lang="en-US" sz="31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one accountable pilot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57200" y="2139255"/>
            <a:ext cx="5116729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spcAft>
                <a:spcPts val="1700"/>
              </a:spcAft>
              <a:buNone/>
            </a:pPr>
            <a:r>
              <a:rPr lang="en-US" sz="1800" dirty="0">
                <a:solidFill>
                  <a:srgbClr val="52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only after evidence survives review.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652117"/>
            <a:ext cx="5016401" cy="923181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89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assigned licensing and preview boundaries</a:t>
            </a:r>
            <a:endParaRPr lang="en-US" sz="1400" dirty="0"/>
          </a:p>
          <a:p>
            <a:pPr algn="l" marL="114300" indent="-114300">
              <a:lnSpc>
                <a:spcPts val="189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identity, consent, telemetry, and rollback</a:t>
            </a:r>
            <a:endParaRPr lang="en-US" sz="1400" dirty="0"/>
          </a:p>
          <a:p>
            <a:pPr algn="l" marL="114300" indent="-114300">
              <a:lnSpc>
                <a:spcPts val="189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tenant verification separate from offline checks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829151" y="1858863"/>
            <a:ext cx="1473101" cy="1473101"/>
          </a:xfrm>
          <a:prstGeom prst="roundRect">
            <a:avLst>
              <a:gd name="adj" fmla="val 50003"/>
            </a:avLst>
          </a:prstGeom>
          <a:solidFill>
            <a:srgbClr val="E8F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243786" y="2252514"/>
            <a:ext cx="65670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457200" y="4530626"/>
            <a:ext cx="8229600" cy="0"/>
          </a:xfrm>
          <a:prstGeom prst="line">
            <a:avLst/>
          </a:prstGeom>
          <a:noFill/>
          <a:ln w="19050">
            <a:solidFill>
              <a:srgbClr val="CAD5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654451"/>
            <a:ext cx="83941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candidate · Evidence, visual, rights, tenant, and release approvals remain distinct.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60350"/>
            <a:ext cx="8229600" cy="0"/>
          </a:xfrm>
          <a:prstGeom prst="line">
            <a:avLst/>
          </a:prstGeom>
          <a:noFill/>
          <a:ln w="19050">
            <a:solidFill>
              <a:srgbClr val="CAD5E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55550"/>
            <a:ext cx="7054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365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879157" y="355550"/>
            <a:ext cx="286379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2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PUBLIC-EVIDENCE EXPLAINER · UNOFFICIAL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245543"/>
            <a:ext cx="5116729" cy="409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4"/>
              </a:lnSpc>
              <a:spcAft>
                <a:spcPts val="1700"/>
              </a:spcAft>
              <a:buNone/>
            </a:pPr>
            <a:r>
              <a:rPr lang="en-US" sz="31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and qualifications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57200" y="1870621"/>
            <a:ext cx="5116729" cy="594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spcAft>
                <a:spcPts val="1700"/>
              </a:spcAft>
              <a:buNone/>
            </a:pPr>
            <a:r>
              <a:rPr lang="en-US" sz="1800" dirty="0">
                <a:solidFill>
                  <a:srgbClr val="52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based on the dated public evidence pack.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680543"/>
            <a:ext cx="5016401" cy="1163241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89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projects/agent-365/research/sources.json</a:t>
            </a:r>
            <a:endParaRPr lang="en-US" sz="1400" dirty="0"/>
          </a:p>
          <a:p>
            <a:pPr algn="l" marL="114300" indent="-114300">
              <a:lnSpc>
                <a:spcPts val="189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cutoff: 2026-09-21</a:t>
            </a:r>
            <a:endParaRPr lang="en-US" sz="1400" dirty="0"/>
          </a:p>
          <a:p>
            <a:pPr algn="l" marL="114300" indent="-114300">
              <a:lnSpc>
                <a:spcPts val="189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tenant action, Microsoft endorsement, or DomainReady certification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829151" y="1858863"/>
            <a:ext cx="1473101" cy="1473101"/>
          </a:xfrm>
          <a:prstGeom prst="roundRect">
            <a:avLst>
              <a:gd name="adj" fmla="val 50003"/>
            </a:avLst>
          </a:prstGeom>
          <a:solidFill>
            <a:srgbClr val="E8F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243786" y="2252514"/>
            <a:ext cx="65670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457200" y="4530626"/>
            <a:ext cx="8229600" cy="0"/>
          </a:xfrm>
          <a:prstGeom prst="line">
            <a:avLst/>
          </a:prstGeom>
          <a:noFill/>
          <a:ln w="19050">
            <a:solidFill>
              <a:srgbClr val="CAD5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654451"/>
            <a:ext cx="83941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candidate · Evidence, visual, rights, tenant, and release approvals remain distinct.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Unofficial review candidate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365: control with context</dc:title>
  <dc:subject>Microsoft Agent 365 public-evidence engineering explainer</dc:subject>
  <dc:creator>a2swe</dc:creator>
  <cp:lastModifiedBy>a2swe</cp:lastModifiedBy>
  <cp:revision>1</cp:revision>
  <dcterms:created xsi:type="dcterms:W3CDTF">2026-09-22T20:39:14Z</dcterms:created>
  <dcterms:modified xsi:type="dcterms:W3CDTF">2026-09-22T20:39:14Z</dcterms:modified>
</cp:coreProperties>
</file>