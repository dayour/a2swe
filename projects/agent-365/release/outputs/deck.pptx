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theme" Target="theme/them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Agent 365: pilot the control plane first</a:t>
            </a:r>
          </a:p>
          <a:p>
            <a:r>
              <a:rPr lang="en-US" sz="1400">
                <a:solidFill>
                  <a:srgbClr val="111111"/>
                </a:solidFill>
              </a:rPr>
              <a:t>Bottom line: use Agent 365 as the control plane for one accountable pilot; verify ownership, access, action traces, licenses, and preview limits before scaling.</a:t>
            </a:r>
          </a:p>
          <a:p>
            <a:r>
              <a:rPr lang="en-US" sz="1400">
                <a:solidFill>
                  <a:srgbClr val="111111"/>
                </a:solidFill>
              </a:rPr>
              <a:t>Bottom line: use Agent 365 as the control plane for one accountable pilot; verify ownership, access, action traces, licenses, and preview limits before scaling.
Agent 365 is the control plane for AI agents. Ask who owns each one, where it runs, what it can reach, who it affects, and what risk needs action.
Observe with a registry, activity, and health first. Add telemetry so each request, model step, tool call, and error has a trace for operators, not guesswork.
Govern and secure access as one path. Pair lifecycle review, Entra controls, Purview data checks, and Defender signals for every agent before wider rollout.
Keep the current agent and add only needed SDK pieces. Pilot one owned use case, verify licenses and preview limits, then scale only from evidence and review.
Evidence: Agent 365 is a centralized control plane for observing, governing, and securing AI agents. [ev-01] Microsoft Agent 365 - Service Descriptions
Evidence: Observation should pair agent inventory with audited traces for interactions, inference events, and tool usage. [ev-03] Microsoft Agent 365 overview
Evidence: Governance and security connect lifecycle controls, Entra permissions, Purview protection, and Defender detection. [ev-05] Microsoft Agent 365 overview
Evidence: SDK integration extends existing agents with enterprise capabilities without creating or hosting the agent. [ev-07] Microsoft Agent 365 SDK and CLI
Evidence: A pilot must verify prerequisites, licenses, preview limits, and telemetry before scaling. [ev-09] Quickstart: Connect an Existing Agent to Agent 365</a:t>
            </a:r>
          </a:p>
          <a:p>
            <a:r>
              <a:rPr lang="en-US" sz="1400">
                <a:solidFill>
                  <a:srgbClr val="111111"/>
                </a:solidFill>
              </a:rPr>
              <a:t>Citations</a:t>
            </a:r>
          </a:p>
          <a:p>
            <a:r>
              <a:rPr lang="en-US" sz="1400">
                <a:solidFill>
                  <a:srgbClr val="111111"/>
                </a:solidFill>
              </a:rPr>
              <a:t>[ev-01] Microsoft Agent 365 - Service Descriptions</a:t>
            </a:r>
          </a:p>
          <a:p>
            <a:r>
              <a:rPr lang="en-US" sz="1400">
                <a:solidFill>
                  <a:srgbClr val="111111"/>
                </a:solidFill>
              </a:rPr>
              <a:t>[ev-02] Microsoft Agent 365 overview</a:t>
            </a:r>
          </a:p>
          <a:p>
            <a:r>
              <a:rPr lang="en-US" sz="1400">
                <a:solidFill>
                  <a:srgbClr val="111111"/>
                </a:solidFill>
              </a:rPr>
              <a:t>[ev-03] Microsoft Agent 365 overview</a:t>
            </a:r>
          </a:p>
          <a:p>
            <a:r>
              <a:rPr lang="en-US" sz="1400">
                <a:solidFill>
                  <a:srgbClr val="111111"/>
                </a:solidFill>
              </a:rPr>
              <a:t>[ev-04] Microsoft Agent 365 SDK and CLI</a:t>
            </a:r>
          </a:p>
          <a:p>
            <a:r>
              <a:rPr lang="en-US" sz="1400">
                <a:solidFill>
                  <a:srgbClr val="111111"/>
                </a:solidFill>
              </a:rPr>
              <a:t>[ev-05] Microsoft Agent 365 overview</a:t>
            </a:r>
          </a:p>
          <a:p>
            <a:r>
              <a:rPr lang="en-US" sz="1400">
                <a:solidFill>
                  <a:srgbClr val="111111"/>
                </a:solidFill>
              </a:rPr>
              <a:t>[ev-06] Microsoft Agent 365 overview</a:t>
            </a:r>
          </a:p>
          <a:p>
            <a:r>
              <a:rPr lang="en-US" sz="1400">
                <a:solidFill>
                  <a:srgbClr val="111111"/>
                </a:solidFill>
              </a:rPr>
              <a:t>[ev-07] Microsoft Agent 365 SDK and CLI</a:t>
            </a:r>
          </a:p>
          <a:p>
            <a:r>
              <a:rPr lang="en-US" sz="1400">
                <a:solidFill>
                  <a:srgbClr val="111111"/>
                </a:solidFill>
              </a:rPr>
              <a:t>[ev-08] Microsoft Agent 365 SDK and CLI</a:t>
            </a:r>
          </a:p>
          <a:p>
            <a:r>
              <a:rPr lang="en-US" sz="1400">
                <a:solidFill>
                  <a:srgbClr val="111111"/>
                </a:solidFill>
              </a:rPr>
              <a:t>[ev-09] Quickstart: Connect an Existing Agent to Agent 365</a:t>
            </a:r>
          </a:p>
          <a:p>
            <a:r>
              <a:rPr lang="en-US" sz="1400">
                <a:solidFill>
                  <a:srgbClr val="111111"/>
                </a:solidFill>
              </a:rPr>
              <a:t>[ev-10] Quickstart: Connect an Existing Agent to Agent 365</a:t>
            </a:r>
          </a:p>
          <a:p>
            <a:r>
              <a:rPr lang="en-US" sz="1400">
                <a:solidFill>
                  <a:srgbClr val="111111"/>
                </a:solidFill>
              </a:rPr>
              <a:t>[ev-11] Quickstart: Connect an Existing Agent to Agent 365</a:t>
            </a:r>
          </a:p>
          <a:p>
            <a:r>
              <a:rPr lang="en-US" sz="1400">
                <a:solidFill>
                  <a:srgbClr val="111111"/>
                </a:solidFill>
              </a:rPr>
              <a:t>[ev-12] Microsoft Agent 365 - Service Descriptions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Name the control plane</a:t>
            </a:r>
          </a:p>
          <a:p>
            <a:r>
              <a:rPr lang="en-US" sz="1400">
                <a:solidFill>
                  <a:srgbClr val="111111"/>
                </a:solidFill>
              </a:rPr>
              <a:t>Agent 365 is the control plane for AI agents. Ask who owns each one, where it runs, what it can reach, who it affects, and what risk needs action.</a:t>
            </a:r>
          </a:p>
          <a:p>
            <a:r>
              <a:rPr lang="en-US" sz="1400">
                <a:solidFill>
                  <a:srgbClr val="111111"/>
                </a:solidFill>
              </a:rPr>
              <a:t>Evidence: service description calls Agent 365 a centralized control plane; overview states observe, govern, and secure. Interpretation: ownership and access questions make the pilot accountable.
Evidence: Agent 365 is a centralized control plane for observing, governing, and securing AI agents. [ev-01] Microsoft Agent 365 - Service Descriptions
Evidence: A pilot must verify prerequisites, licenses, preview limits, and telemetry before scaling. [ev-09] Quickstart: Connect an Existing Agent to Agent 365</a:t>
            </a:r>
          </a:p>
          <a:p>
            <a:r>
              <a:rPr lang="en-US" sz="1400">
                <a:solidFill>
                  <a:srgbClr val="111111"/>
                </a:solidFill>
              </a:rPr>
              <a:t>Citations</a:t>
            </a:r>
          </a:p>
          <a:p>
            <a:r>
              <a:rPr lang="en-US" sz="1400">
                <a:solidFill>
                  <a:srgbClr val="111111"/>
                </a:solidFill>
              </a:rPr>
              <a:t>[ev-01] Microsoft Agent 365 - Service Descriptions: https://learn.microsoft.com/en-us/office365/servicedescriptions/microsoft-agent-365/microsoft-agent-365</a:t>
            </a:r>
          </a:p>
          <a:p>
            <a:r>
              <a:rPr lang="en-US" sz="1400">
                <a:solidFill>
                  <a:srgbClr val="111111"/>
                </a:solidFill>
              </a:rPr>
              <a:t>[ev-02] Microsoft Agent 365 overview: https://learn.microsoft.com/en-us/microsoft-agent-365/overview</a:t>
            </a:r>
          </a:p>
          <a:p>
            <a:r>
              <a:rPr lang="en-US" sz="1400">
                <a:solidFill>
                  <a:srgbClr val="111111"/>
                </a:solidFill>
              </a:rPr>
              <a:t>[ev-09] Quickstart: Connect an Existing Agent to Agent 365: https://learn.microsoft.com/en-us/microsoft-agent-365/developer/get-started</a:t>
            </a:r>
          </a:p>
          <a:p>
            <a:r>
              <a:rPr lang="en-US" sz="1400">
                <a:solidFill>
                  <a:srgbClr val="111111"/>
                </a:solidFill>
              </a:rPr>
              <a:t>[ev-10] Quickstart: Connect an Existing Agent to Agent 365: https://learn.microsoft.com/en-us/microsoft-agent-365/developer/get-started</a:t>
            </a:r>
          </a:p>
          <a:p>
            <a:r>
              <a:rPr lang="en-US" sz="1400">
                <a:solidFill>
                  <a:srgbClr val="111111"/>
                </a:solidFill>
              </a:rPr>
              <a:t>[ev-11] Quickstart: Connect an Existing Agent to Agent 365: https://learn.microsoft.com/en-us/microsoft-agent-365/developer/get-started</a:t>
            </a:r>
          </a:p>
          <a:p>
            <a:r>
              <a:rPr lang="en-US" sz="1400">
                <a:solidFill>
                  <a:srgbClr val="111111"/>
                </a:solidFill>
              </a:rPr>
              <a:t>[ev-12] Microsoft Agent 365 - Service Descriptions: https://learn.microsoft.com/en-us/office365/servicedescriptions/microsoft-agent-365/microsoft-agent-365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Observe traced work</a:t>
            </a:r>
          </a:p>
          <a:p>
            <a:r>
              <a:rPr lang="en-US" sz="1400">
                <a:solidFill>
                  <a:srgbClr val="111111"/>
                </a:solidFill>
              </a:rPr>
              <a:t>Observe with a registry, activity, and health first. Add telemetry so each request, model step, tool call, and error has a trace for operators, not guesswork.</a:t>
            </a:r>
          </a:p>
          <a:p>
            <a:r>
              <a:rPr lang="en-US" sz="1400">
                <a:solidFill>
                  <a:srgbClr val="111111"/>
                </a:solidFill>
              </a:rPr>
              <a:t>Evidence: overview describes real-time visibility into the agentic environment; SDK guidance describes audited, traceable interactions, inference events, and tool usage.
Evidence: Observation should pair agent inventory with audited traces for interactions, inference events, and tool usage. [ev-03] Microsoft Agent 365 overview</a:t>
            </a:r>
          </a:p>
          <a:p>
            <a:r>
              <a:rPr lang="en-US" sz="1400">
                <a:solidFill>
                  <a:srgbClr val="111111"/>
                </a:solidFill>
              </a:rPr>
              <a:t>Citations</a:t>
            </a:r>
          </a:p>
          <a:p>
            <a:r>
              <a:rPr lang="en-US" sz="1400">
                <a:solidFill>
                  <a:srgbClr val="111111"/>
                </a:solidFill>
              </a:rPr>
              <a:t>[ev-03] Microsoft Agent 365 overview: https://learn.microsoft.com/en-us/microsoft-agent-365/overview</a:t>
            </a:r>
          </a:p>
          <a:p>
            <a:r>
              <a:rPr lang="en-US" sz="1400">
                <a:solidFill>
                  <a:srgbClr val="111111"/>
                </a:solidFill>
              </a:rPr>
              <a:t>[ev-04] Microsoft Agent 365 SDK and CLI: https://learn.microsoft.com/en-us/microsoft-agent-365/developer/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Govern and secure access</a:t>
            </a:r>
          </a:p>
          <a:p>
            <a:r>
              <a:rPr lang="en-US" sz="1400">
                <a:solidFill>
                  <a:srgbClr val="111111"/>
                </a:solidFill>
              </a:rPr>
              <a:t>Govern and secure access as one path. Pair lifecycle review, Entra controls, Purview data checks, and Defender signals for every agent before wider rollout.</a:t>
            </a:r>
          </a:p>
          <a:p>
            <a:r>
              <a:rPr lang="en-US" sz="1400">
                <a:solidFill>
                  <a:srgbClr val="111111"/>
                </a:solidFill>
              </a:rPr>
              <a:t>Evidence: overview connects registry, Microsoft 365 admin center, Entra, and Purview with lifecycle and permissions; the secure section identifies Defender threat detection.
Evidence: Governance and security connect lifecycle controls, Entra permissions, Purview protection, and Defender detection. [ev-05] Microsoft Agent 365 overview</a:t>
            </a:r>
          </a:p>
          <a:p>
            <a:r>
              <a:rPr lang="en-US" sz="1400">
                <a:solidFill>
                  <a:srgbClr val="111111"/>
                </a:solidFill>
              </a:rPr>
              <a:t>Citations</a:t>
            </a:r>
          </a:p>
          <a:p>
            <a:r>
              <a:rPr lang="en-US" sz="1400">
                <a:solidFill>
                  <a:srgbClr val="111111"/>
                </a:solidFill>
              </a:rPr>
              <a:t>[ev-05] Microsoft Agent 365 overview: https://learn.microsoft.com/en-us/microsoft-agent-365/overview</a:t>
            </a:r>
          </a:p>
          <a:p>
            <a:r>
              <a:rPr lang="en-US" sz="1400">
                <a:solidFill>
                  <a:srgbClr val="111111"/>
                </a:solidFill>
              </a:rPr>
              <a:t>[ev-06] Microsoft Agent 365 overview: https://learn.microsoft.com/en-us/microsoft-agent-365/overview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4. Pilot before expansion</a:t>
            </a:r>
          </a:p>
          <a:p>
            <a:r>
              <a:rPr lang="en-US" sz="1400">
                <a:solidFill>
                  <a:srgbClr val="111111"/>
                </a:solidFill>
              </a:rPr>
              <a:t>Keep the current agent and add only needed SDK pieces. Pilot one owned use case, verify licenses and preview limits, then scale only from evidence and review.</a:t>
            </a:r>
          </a:p>
          <a:p>
            <a:r>
              <a:rPr lang="en-US" sz="1400">
                <a:solidFill>
                  <a:srgbClr val="111111"/>
                </a:solidFill>
              </a:rPr>
              <a:t>Evidence: the SDK extends existing agents without creating or hosting them. The quickstart and service description make validation, assigned licenses, preview status, and plan availability explicit checks.
Evidence: SDK integration extends existing agents with enterprise capabilities without creating or hosting the agent. [ev-07] Microsoft Agent 365 SDK and CLI
Evidence: A pilot must verify prerequisites, licenses, preview limits, and telemetry before scaling. [ev-09] Quickstart: Connect an Existing Agent to Agent 365</a:t>
            </a:r>
          </a:p>
          <a:p>
            <a:r>
              <a:rPr lang="en-US" sz="1400">
                <a:solidFill>
                  <a:srgbClr val="111111"/>
                </a:solidFill>
              </a:rPr>
              <a:t>Citations</a:t>
            </a:r>
          </a:p>
          <a:p>
            <a:r>
              <a:rPr lang="en-US" sz="1400">
                <a:solidFill>
                  <a:srgbClr val="111111"/>
                </a:solidFill>
              </a:rPr>
              <a:t>[ev-07] Microsoft Agent 365 SDK and CLI: https://learn.microsoft.com/en-us/microsoft-agent-365/developer/</a:t>
            </a:r>
          </a:p>
          <a:p>
            <a:r>
              <a:rPr lang="en-US" sz="1400">
                <a:solidFill>
                  <a:srgbClr val="111111"/>
                </a:solidFill>
              </a:rPr>
              <a:t>[ev-08] Microsoft Agent 365 SDK and CLI: https://learn.microsoft.com/en-us/microsoft-agent-365/developer/</a:t>
            </a:r>
          </a:p>
          <a:p>
            <a:r>
              <a:rPr lang="en-US" sz="1400">
                <a:solidFill>
                  <a:srgbClr val="111111"/>
                </a:solidFill>
              </a:rPr>
              <a:t>[ev-09] Quickstart: Connect an Existing Agent to Agent 365: https://learn.microsoft.com/en-us/microsoft-agent-365/developer/get-started</a:t>
            </a:r>
          </a:p>
          <a:p>
            <a:r>
              <a:rPr lang="en-US" sz="1400">
                <a:solidFill>
                  <a:srgbClr val="111111"/>
                </a:solidFill>
              </a:rPr>
              <a:t>[ev-10] Quickstart: Connect an Existing Agent to Agent 365: https://learn.microsoft.com/en-us/microsoft-agent-365/developer/get-started</a:t>
            </a:r>
          </a:p>
          <a:p>
            <a:r>
              <a:rPr lang="en-US" sz="1400">
                <a:solidFill>
                  <a:srgbClr val="111111"/>
                </a:solidFill>
              </a:rPr>
              <a:t>[ev-11] Quickstart: Connect an Existing Agent to Agent 365: https://learn.microsoft.com/en-us/microsoft-agent-365/developer/get-started</a:t>
            </a:r>
          </a:p>
          <a:p>
            <a:r>
              <a:rPr lang="en-US" sz="1400">
                <a:solidFill>
                  <a:srgbClr val="111111"/>
                </a:solidFill>
              </a:rPr>
              <a:t>[ev-12] Microsoft Agent 365 - Service Descriptions: https://learn.microsoft.com/en-us/office365/servicedescriptions/microsoft-agent-365/microsoft-agent-365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use Agent 365 as the control plane for one accountable pilot; verify ownership, access, action traces, licenses, and preview limits before scaling.</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Microsoft Agent 365 - Service Descriptions: https://learn.microsoft.com/en-us/office365/servicedescriptions/microsoft-agent-365/microsoft-agent-365</a:t>
            </a:r>
          </a:p>
          <a:p>
            <a:r>
              <a:rPr lang="en-US" sz="1400">
                <a:solidFill>
                  <a:srgbClr val="111111"/>
                </a:solidFill>
              </a:rPr>
              <a:t>Microsoft Agent 365 overview: https://learn.microsoft.com/en-us/microsoft-agent-365/overview</a:t>
            </a:r>
          </a:p>
          <a:p>
            <a:r>
              <a:rPr lang="en-US" sz="1400">
                <a:solidFill>
                  <a:srgbClr val="111111"/>
                </a:solidFill>
              </a:rPr>
              <a:t>Microsoft Agent 365 overview: https://learn.microsoft.com/en-us/microsoft-agent-365/overview</a:t>
            </a:r>
          </a:p>
          <a:p>
            <a:r>
              <a:rPr lang="en-US" sz="1400">
                <a:solidFill>
                  <a:srgbClr val="111111"/>
                </a:solidFill>
              </a:rPr>
              <a:t>Microsoft Agent 365 SDK and CLI: https://learn.microsoft.com/en-us/microsoft-agent-365/developer/</a:t>
            </a:r>
          </a:p>
          <a:p>
            <a:r>
              <a:rPr lang="en-US" sz="1400">
                <a:solidFill>
                  <a:srgbClr val="111111"/>
                </a:solidFill>
              </a:rPr>
              <a:t>Microsoft Agent 365 overview: https://learn.microsoft.com/en-us/microsoft-agent-365/overview</a:t>
            </a:r>
          </a:p>
          <a:p>
            <a:r>
              <a:rPr lang="en-US" sz="1400">
                <a:solidFill>
                  <a:srgbClr val="111111"/>
                </a:solidFill>
              </a:rPr>
              <a:t>Microsoft Agent 365 overview: https://learn.microsoft.com/en-us/microsoft-agent-365/overview</a:t>
            </a:r>
          </a:p>
          <a:p>
            <a:r>
              <a:rPr lang="en-US" sz="1400">
                <a:solidFill>
                  <a:srgbClr val="111111"/>
                </a:solidFill>
              </a:rPr>
              <a:t>Microsoft Agent 365 SDK and CLI: https://learn.microsoft.com/en-us/microsoft-agent-365/developer/</a:t>
            </a:r>
          </a:p>
          <a:p>
            <a:r>
              <a:rPr lang="en-US" sz="1400">
                <a:solidFill>
                  <a:srgbClr val="111111"/>
                </a:solidFill>
              </a:rPr>
              <a:t>Microsoft Agent 365 SDK and CLI: https://learn.microsoft.com/en-us/microsoft-agent-365/developer/</a:t>
            </a:r>
          </a:p>
          <a:p>
            <a:r>
              <a:rPr lang="en-US" sz="1400">
                <a:solidFill>
                  <a:srgbClr val="111111"/>
                </a:solidFill>
              </a:rPr>
              <a:t>Quickstart: Connect an Existing Agent to Agent 365: https://learn.microsoft.com/en-us/microsoft-agent-365/developer/get-started</a:t>
            </a:r>
          </a:p>
          <a:p>
            <a:r>
              <a:rPr lang="en-US" sz="1400">
                <a:solidFill>
                  <a:srgbClr val="111111"/>
                </a:solidFill>
              </a:rPr>
              <a:t>Quickstart: Connect an Existing Agent to Agent 365: https://learn.microsoft.com/en-us/microsoft-agent-365/developer/get-started</a:t>
            </a:r>
          </a:p>
          <a:p>
            <a:r>
              <a:rPr lang="en-US" sz="1400">
                <a:solidFill>
                  <a:srgbClr val="111111"/>
                </a:solidFill>
              </a:rPr>
              <a:t>Quickstart: Connect an Existing Agent to Agent 365: https://learn.microsoft.com/en-us/microsoft-agent-365/developer/get-started</a:t>
            </a:r>
          </a:p>
          <a:p>
            <a:r>
              <a:rPr lang="en-US" sz="1400">
                <a:solidFill>
                  <a:srgbClr val="111111"/>
                </a:solidFill>
              </a:rPr>
              <a:t>Microsoft Agent 365 - Service Descriptions: https://learn.microsoft.com/en-us/office365/servicedescriptions/microsoft-agent-365/microsoft-agent-365</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control-plane-76dafae40d9f.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observe-traces-da597c282f7b.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govern-secure-a69ba06a6a2d.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accountable-pilot-1c8c6a37d5ed.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Agent 365</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1 / 6</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700" b="1">
                <a:solidFill>
                  <a:srgbClr val="071923"/>
                </a:solidFill>
                <a:latin typeface="+mj-lt"/>
              </a:rPr>
              <a:t>Agent 365:</a:t>
            </a:r>
            <a:r>
              <a:rPr lang="en-US" sz="3700" b="1">
                <a:solidFill>
                  <a:srgbClr val="0067B8"/>
                </a:solidFill>
                <a:latin typeface="+mj-lt"/>
              </a:rPr>
              <a:t> pilot the control plane first</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26C71"/>
                </a:solidFill>
              </a:rPr>
              <a:t>Bottom line: use Agent 365 as the control plane for one accountable pilot; verify ownership, access, action traces, licenses, and preview limits before scaling.</a:t>
            </a:r>
          </a:p>
        </p:txBody>
      </p:sp>
      <p:sp>
        <p:nvSpPr>
          <p:cNvPr id="8" name="Decision"/>
          <p:cNvSpPr/>
          <p:nvPr/>
        </p:nvSpPr>
        <p:spPr>
          <a:xfrm>
            <a:off x="685800" y="4650000"/>
            <a:ext cx="10820400" cy="1000000"/>
          </a:xfrm>
          <a:prstGeom prst="roundRect">
            <a:avLst>
              <a:gd name="adj" fmla="val 6000"/>
            </a:avLst>
          </a:prstGeom>
          <a:solidFill>
            <a:srgbClr val="E5FBFF"/>
          </a:solidFill>
          <a:ln w="12700">
            <a:solidFill>
              <a:srgbClr val="328F9E"/>
            </a:solidFill>
          </a:ln>
        </p:spPr>
        <p:txBody>
          <a:bodyPr wrap="square" lIns="182880" tIns="91440" rIns="182880" bIns="91440" anchor="ctr">
            <a:normAutofit/>
          </a:bodyPr>
          <a:lstStyle/>
          <a:p>
            <a:pPr algn="l">
              <a:lnSpc>
                <a:spcPct val="105000"/>
              </a:lnSpc>
              <a:spcAft>
                <a:spcPts val="0"/>
              </a:spcAft>
            </a:pPr>
            <a:r>
              <a:rPr lang="en-US" sz="1400" b="1">
                <a:solidFill>
                  <a:srgbClr val="0067B8"/>
                </a:solidFill>
              </a:rPr>
              <a:t>DECISION  </a:t>
            </a:r>
            <a:r>
              <a:rPr lang="en-US" sz="2000" b="1">
                <a:solidFill>
                  <a:srgbClr val="071923"/>
                </a:solidFill>
              </a:rPr>
              <a:t>Pilot one accountable agent before scaling governance.</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agent-365-2026-05-am-michael-kokoro-onnx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Agent 365</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2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1.</a:t>
            </a:r>
            <a:r>
              <a:rPr lang="en-US" sz="2900" b="1">
                <a:solidFill>
                  <a:srgbClr val="0067B8"/>
                </a:solidFill>
                <a:latin typeface="+mj-lt"/>
              </a:rPr>
              <a:t> Name the control plane</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71923"/>
                </a:solidFill>
              </a:rPr>
              <a:t>Agent 365 is the control plane for AI agents. Ask who owns each one, where it runs, what it can reach, who it affects, and what risk needs action.</a:t>
            </a:r>
          </a:p>
        </p:txBody>
      </p:sp>
      <p:sp>
        <p:nvSpPr>
          <p:cNvPr id="8" name="Accent rule"/>
          <p:cNvSpPr/>
          <p:nvPr/>
        </p:nvSpPr>
        <p:spPr>
          <a:xfrm>
            <a:off x="548640" y="2000000"/>
            <a:ext cx="45720" cy="3800000"/>
          </a:xfrm>
          <a:prstGeom prst="rect">
            <a:avLst/>
          </a:prstGeom>
          <a:solidFill>
            <a:srgbClr val="0067B8"/>
          </a:solidFill>
          <a:ln>
            <a:noFill/>
          </a:ln>
        </p:spPr>
      </p:sp>
      <p:pic>
        <p:nvPicPr>
          <p:cNvPr id="9" name="Asset visual-control-plane" descr="Frame the pilot with ownership, access, and traceability before scale.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Microsoft Agent 365 - Service Descriptions  ·  Microsoft Agent 365 overview  ·  Quickstart: Connect an Existing Agent to Agent 365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Agent 365</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3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2.</a:t>
            </a:r>
            <a:r>
              <a:rPr lang="en-US" sz="2900" b="1">
                <a:solidFill>
                  <a:srgbClr val="0067B8"/>
                </a:solidFill>
                <a:latin typeface="+mj-lt"/>
              </a:rPr>
              <a:t> Observe traced work</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71923"/>
                </a:solidFill>
              </a:rPr>
              <a:t>Observe with a registry, activity, and health first. Add telemetry so each request, model step, tool call, and error has a trace for operators, not guesswork.</a:t>
            </a:r>
          </a:p>
        </p:txBody>
      </p:sp>
      <p:sp>
        <p:nvSpPr>
          <p:cNvPr id="8" name="Accent rule"/>
          <p:cNvSpPr/>
          <p:nvPr/>
        </p:nvSpPr>
        <p:spPr>
          <a:xfrm>
            <a:off x="548640" y="2000000"/>
            <a:ext cx="45720" cy="3800000"/>
          </a:xfrm>
          <a:prstGeom prst="rect">
            <a:avLst/>
          </a:prstGeom>
          <a:solidFill>
            <a:srgbClr val="0067B8"/>
          </a:solidFill>
          <a:ln>
            <a:noFill/>
          </a:ln>
        </p:spPr>
      </p:sp>
      <p:pic>
        <p:nvPicPr>
          <p:cNvPr id="9" name="Asset visual-observe-traces" descr="Inventory plus telemetry turns agent activity into traceable evidence.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Microsoft Agent 365 overview  ·  Microsoft Agent 365 SDK and CLI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Agent 365</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4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3.</a:t>
            </a:r>
            <a:r>
              <a:rPr lang="en-US" sz="2900" b="1">
                <a:solidFill>
                  <a:srgbClr val="0067B8"/>
                </a:solidFill>
                <a:latin typeface="+mj-lt"/>
              </a:rPr>
              <a:t> Govern and secure access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71923"/>
                </a:solidFill>
              </a:rPr>
              <a:t>Govern and secure access as one path. Pair lifecycle review, Entra controls, Purview data checks, and Defender signals for every agent before wider rollout.</a:t>
            </a:r>
          </a:p>
        </p:txBody>
      </p:sp>
      <p:sp>
        <p:nvSpPr>
          <p:cNvPr id="8" name="Accent rule"/>
          <p:cNvSpPr/>
          <p:nvPr/>
        </p:nvSpPr>
        <p:spPr>
          <a:xfrm>
            <a:off x="548640" y="2000000"/>
            <a:ext cx="45720" cy="3800000"/>
          </a:xfrm>
          <a:prstGeom prst="rect">
            <a:avLst/>
          </a:prstGeom>
          <a:solidFill>
            <a:srgbClr val="0067B8"/>
          </a:solidFill>
          <a:ln>
            <a:noFill/>
          </a:ln>
        </p:spPr>
      </p:sp>
      <p:pic>
        <p:nvPicPr>
          <p:cNvPr id="9" name="Asset visual-govern-secure" descr="Use the Microsoft control stack as one governed access path.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Microsoft Agent 365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Agent 365</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5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71923"/>
                </a:solidFill>
                <a:latin typeface="+mj-lt"/>
              </a:rPr>
              <a:t>4.</a:t>
            </a:r>
            <a:r>
              <a:rPr lang="en-US" sz="2900" b="1">
                <a:solidFill>
                  <a:srgbClr val="0067B8"/>
                </a:solidFill>
                <a:latin typeface="+mj-lt"/>
              </a:rPr>
              <a:t> Pilot before expansion</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71923"/>
                </a:solidFill>
              </a:rPr>
              <a:t>Keep the current agent and add only needed SDK pieces. Pilot one owned use case, verify licenses and preview limits, then scale only from evidence and review.</a:t>
            </a:r>
          </a:p>
        </p:txBody>
      </p:sp>
      <p:sp>
        <p:nvSpPr>
          <p:cNvPr id="8" name="Accent rule"/>
          <p:cNvSpPr/>
          <p:nvPr/>
        </p:nvSpPr>
        <p:spPr>
          <a:xfrm>
            <a:off x="548640" y="2000000"/>
            <a:ext cx="45720" cy="3800000"/>
          </a:xfrm>
          <a:prstGeom prst="rect">
            <a:avLst/>
          </a:prstGeom>
          <a:solidFill>
            <a:srgbClr val="0067B8"/>
          </a:solidFill>
          <a:ln>
            <a:noFill/>
          </a:ln>
        </p:spPr>
      </p:sp>
      <p:pic>
        <p:nvPicPr>
          <p:cNvPr id="9" name="Asset visual-accountable-pilot" descr="Start small, prove the controls, and expand only from evidence.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Sources: Microsoft Agent 365 SDK and CLI  ·  Quickstart: Connect an Existing Agent to Agent 365  ·  Microsoft Agent 365 - Service Descriptions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91F2C"/>
          </a:solidFill>
          <a:ln>
            <a:noFill/>
          </a:ln>
        </p:spPr>
      </p:sp>
      <p:sp>
        <p:nvSpPr>
          <p:cNvPr id="3" name="Highlight rule"/>
          <p:cNvSpPr/>
          <p:nvPr/>
        </p:nvSpPr>
        <p:spPr>
          <a:xfrm>
            <a:off x="0" y="502920"/>
            <a:ext cx="12192000" cy="45720"/>
          </a:xfrm>
          <a:prstGeom prst="rect">
            <a:avLst/>
          </a:prstGeom>
          <a:solidFill>
            <a:srgbClr val="50E6FF"/>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Agent 365</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C0C4"/>
                </a:solidFill>
              </a:rPr>
              <a:t>6 / 6</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71923"/>
                </a:solidFill>
                <a:latin typeface="+mj-lt"/>
              </a:rPr>
              <a:t>Sources.</a:t>
            </a:r>
            <a:r>
              <a:rPr lang="en-US" sz="2400" b="1">
                <a:solidFill>
                  <a:srgbClr val="0067B8"/>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71923"/>
                </a:solidFill>
              </a:rPr>
              <a:t>Microsoft Agent 365 - Service Descriptions</a:t>
            </a:r>
            <a:r>
              <a:rPr lang="en-US" sz="1100">
                <a:solidFill>
                  <a:srgbClr val="626C71"/>
                </a:solidFill>
              </a:rPr>
              <a:t>  retrieved 2026-10-06</a:t>
            </a:r>
          </a:p>
          <a:p>
            <a:pPr algn="l">
              <a:lnSpc>
                <a:spcPct val="105000"/>
              </a:lnSpc>
              <a:spcAft>
                <a:spcPts val="900"/>
              </a:spcAft>
            </a:pPr>
            <a:r>
              <a:rPr lang="en-US" sz="1100">
                <a:solidFill>
                  <a:srgbClr val="0067B8"/>
                </a:solidFill>
              </a:rPr>
              <a:t>https://learn.microsoft.com/en-us/office365/servicedescriptions/microsoft-agent-365/microsoft-agent-365</a:t>
            </a:r>
          </a:p>
          <a:p>
            <a:pPr algn="l">
              <a:lnSpc>
                <a:spcPct val="105000"/>
              </a:lnSpc>
              <a:spcAft>
                <a:spcPts val="0"/>
              </a:spcAft>
            </a:pPr>
            <a:r>
              <a:rPr lang="en-US" sz="1400" b="1">
                <a:solidFill>
                  <a:srgbClr val="071923"/>
                </a:solidFill>
              </a:rPr>
              <a:t>Microsoft Agent 365 overview</a:t>
            </a:r>
            <a:r>
              <a:rPr lang="en-US" sz="1100">
                <a:solidFill>
                  <a:srgbClr val="626C71"/>
                </a:solidFill>
              </a:rPr>
              <a:t>  retrieved 2026-10-06</a:t>
            </a:r>
          </a:p>
          <a:p>
            <a:pPr algn="l">
              <a:lnSpc>
                <a:spcPct val="105000"/>
              </a:lnSpc>
              <a:spcAft>
                <a:spcPts val="900"/>
              </a:spcAft>
            </a:pPr>
            <a:r>
              <a:rPr lang="en-US" sz="1100">
                <a:solidFill>
                  <a:srgbClr val="0067B8"/>
                </a:solidFill>
              </a:rPr>
              <a:t>https://learn.microsoft.com/en-us/microsoft-agent-365/overview</a:t>
            </a:r>
          </a:p>
          <a:p>
            <a:pPr algn="l">
              <a:lnSpc>
                <a:spcPct val="105000"/>
              </a:lnSpc>
              <a:spcAft>
                <a:spcPts val="0"/>
              </a:spcAft>
            </a:pPr>
            <a:r>
              <a:rPr lang="en-US" sz="1400" b="1">
                <a:solidFill>
                  <a:srgbClr val="071923"/>
                </a:solidFill>
              </a:rPr>
              <a:t>Microsoft Agent 365 SDK and CLI</a:t>
            </a:r>
            <a:r>
              <a:rPr lang="en-US" sz="1100">
                <a:solidFill>
                  <a:srgbClr val="626C71"/>
                </a:solidFill>
              </a:rPr>
              <a:t>  retrieved 2026-10-06</a:t>
            </a:r>
          </a:p>
          <a:p>
            <a:pPr algn="l">
              <a:lnSpc>
                <a:spcPct val="105000"/>
              </a:lnSpc>
              <a:spcAft>
                <a:spcPts val="900"/>
              </a:spcAft>
            </a:pPr>
            <a:r>
              <a:rPr lang="en-US" sz="1100">
                <a:solidFill>
                  <a:srgbClr val="0067B8"/>
                </a:solidFill>
              </a:rPr>
              <a:t>https://learn.microsoft.com/en-us/microsoft-agent-365/developer/</a:t>
            </a:r>
          </a:p>
          <a:p>
            <a:pPr algn="l">
              <a:lnSpc>
                <a:spcPct val="105000"/>
              </a:lnSpc>
              <a:spcAft>
                <a:spcPts val="0"/>
              </a:spcAft>
            </a:pPr>
            <a:r>
              <a:rPr lang="en-US" sz="1400" b="1">
                <a:solidFill>
                  <a:srgbClr val="071923"/>
                </a:solidFill>
              </a:rPr>
              <a:t>Quickstart: Connect an Existing Agent to Agent 365</a:t>
            </a:r>
            <a:r>
              <a:rPr lang="en-US" sz="1100">
                <a:solidFill>
                  <a:srgbClr val="626C71"/>
                </a:solidFill>
              </a:rPr>
              <a:t>  retrieved 2026-10-06</a:t>
            </a:r>
          </a:p>
          <a:p>
            <a:pPr algn="l">
              <a:lnSpc>
                <a:spcPct val="105000"/>
              </a:lnSpc>
              <a:spcAft>
                <a:spcPts val="900"/>
              </a:spcAft>
            </a:pPr>
            <a:r>
              <a:rPr lang="en-US" sz="1100">
                <a:solidFill>
                  <a:srgbClr val="0067B8"/>
                </a:solidFill>
              </a:rPr>
              <a:t>https://learn.microsoft.com/en-us/microsoft-agent-365/developer/get-started</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26C71"/>
                </a:solidFill>
              </a:rPr>
              <a:t>agent-365-2026-05-am-michael-kokoro-onnx</a:t>
            </a:r>
          </a:p>
        </p:txBody>
      </p:sp>
    </p:spTree>
  </p:cSld>
  <p:clrMapOvr>
    <a:masterClrMapping/>
  </p:clrMapOvr>
</p:sld>
</file>

<file path=ppt/theme/theme1.xml><?xml version="1.0" encoding="utf-8"?>
<a:theme xmlns:a="http://schemas.openxmlformats.org/drawingml/2006/main" name="agent-365-brand">
  <a:themeElements>
    <a:clrScheme name="agent-365-brand">
      <a:dk1>
        <a:srgbClr val="071923"/>
      </a:dk1>
      <a:lt1>
        <a:srgbClr val="F4F8FC"/>
      </a:lt1>
      <a:dk2>
        <a:srgbClr val="091F2C"/>
      </a:dk2>
      <a:lt2>
        <a:srgbClr val="E6F0F8"/>
      </a:lt2>
      <a:accent1>
        <a:srgbClr val="0067B8"/>
      </a:accent1>
      <a:accent2>
        <a:srgbClr val="50E6FF"/>
      </a:accent2>
      <a:accent3>
        <a:srgbClr val="0067B8"/>
      </a:accent3>
      <a:accent4>
        <a:srgbClr val="06141D"/>
      </a:accent4>
      <a:accent5>
        <a:srgbClr val="626C71"/>
      </a:accent5>
      <a:accent6>
        <a:srgbClr val="B42318"/>
      </a:accent6>
      <a:hlink>
        <a:srgbClr val="0067B8"/>
      </a:hlink>
      <a:folHlink>
        <a:srgbClr val="626C71"/>
      </a:folHlink>
    </a:clrScheme>
    <a:fontScheme name="agent-365-brand">
      <a:majorFont>
        <a:latin typeface="Segoe UI Variable Display"/>
        <a:ea typeface=""/>
        <a:cs typeface=""/>
      </a:majorFont>
      <a:minorFont>
        <a:latin typeface="Segoe UI Variable Text"/>
        <a:ea typeface=""/>
        <a:cs typeface=""/>
      </a:minorFont>
    </a:fontScheme>
    <a:fmtScheme name="agent-365-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6</Slides>
  <Notes>6</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365: pilot the control plane first</dc:title>
  <dc:creator>a2swe</dc:creator>
  <cp:lastModifiedBy>a2swe</cp:lastModifiedBy>
  <dcterms:created xsi:type="dcterms:W3CDTF">2020-01-01T00:00:00Z</dcterms:created>
  <dcterms:modified xsi:type="dcterms:W3CDTF">2020-01-01T00:00:00Z</dcterms:modified>
</cp:coreProperties>
</file>