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Override PartName="/docProps/app.xml" ContentType="application/vnd.openxmlformats-officedocument.extended-properties+xml"/>
  <Override PartName="/docProps/core.xml" ContentType="application/vnd.openxmlformats-package.core-properties+xml"/>
  <Override PartName="/ppt/presentation.xml" ContentType="application/vnd.openxmlformats-officedocument.presentationml.presentation.main+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Lst>
  <p:sldSz cx="12192000" cy="6858000" type="screen16x9"/>
  <p:notesSz cx="6858000" cy="9144000"/>
  <p:defaultTextStyle>
    <a:defPPr>
      <a:defRPr lang="en-US"/>
    </a:defPPr>
  </p:defaultTextStyle>
</p:presentation>
</file>

<file path=ppt/presProps.xml><?xml version="1.0" encoding="utf-8"?>
<p:presentationPr xmlns:p="http://schemas.openxmlformats.org/presentationml/2006/main">
  <p:showPr>
    <p:present/>
  </p:showPr>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p:normalViewPr>
    <p:restoredLeft sz="15620"/>
    <p:restoredTop sz="94660"/>
  </p:normalViewPr>
  <p:slideViewPr>
    <p:cSldViewPr>
      <p:cViewPr varScale="1">
        <p:scale>
          <a:sx n="100" d="100"/>
          <a:sy n="100" d="100"/>
        </p:scale>
        <p:origin x="0" y="0"/>
      </p:cViewPr>
      <p:guideLst/>
    </p:cSldViewPr>
  </p:slideViewPr>
  <p:notesTextViewPr>
    <p:cViewPr>
      <p:scale>
        <a:sx n="100" d="100"/>
        <a:sy n="100" d="100"/>
      </p:scale>
      <p:origin x="0" y="0"/>
    </p:cViewPr>
  </p:notesTextViewPr>
  <p:gridSpacing cx="78028800" cy="780288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theme" Target="theme/theme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ableStyles" Target="tableStyles.xml"/></Relationships>
</file>

<file path=ppt/notesSlides/_rels/notesSlide1.xml.rels><?xml version="1.0" encoding="UTF-8" standalone="yes"?><Relationships xmlns="http://schemas.openxmlformats.org/package/2006/relationships"><Relationship Id="rIdSlide" Type="http://schemas.openxmlformats.org/officeDocument/2006/relationships/slide" Target="../slides/slide1.xml"/></Relationships>
</file>

<file path=ppt/notesSlides/_rels/notesSlide2.xml.rels><?xml version="1.0" encoding="UTF-8" standalone="yes"?><Relationships xmlns="http://schemas.openxmlformats.org/package/2006/relationships"><Relationship Id="rIdSlide" Type="http://schemas.openxmlformats.org/officeDocument/2006/relationships/slide" Target="../slides/slide2.xml"/></Relationships>
</file>

<file path=ppt/notesSlides/_rels/notesSlide3.xml.rels><?xml version="1.0" encoding="UTF-8" standalone="yes"?><Relationships xmlns="http://schemas.openxmlformats.org/package/2006/relationships"><Relationship Id="rIdSlide" Type="http://schemas.openxmlformats.org/officeDocument/2006/relationships/slide" Target="../slides/slide3.xml"/></Relationships>
</file>

<file path=ppt/notesSlides/_rels/notesSlide4.xml.rels><?xml version="1.0" encoding="UTF-8" standalone="yes"?><Relationships xmlns="http://schemas.openxmlformats.org/package/2006/relationships"><Relationship Id="rIdSlide" Type="http://schemas.openxmlformats.org/officeDocument/2006/relationships/slide" Target="../slides/slide4.xml"/></Relationships>
</file>

<file path=ppt/notesSlides/_rels/notesSlide5.xml.rels><?xml version="1.0" encoding="UTF-8" standalone="yes"?><Relationships xmlns="http://schemas.openxmlformats.org/package/2006/relationships"><Relationship Id="rIdSlide"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cNvSpPr txBox="1"/>
          <p:nvPr/>
        </p:nvSpPr>
        <p:spPr>
          <a:xfrm>
            <a:off x="685800" y="685800"/>
            <a:ext cx="7772400" cy="4572000"/>
          </a:xfrm>
          <a:prstGeom prst="rect">
            <a:avLst/>
          </a:prstGeom>
          <a:noFill/>
          <a:ln>
            <a:noFill/>
          </a:ln>
        </p:spPr>
        <p:txBody>
          <a:bodyPr wrap="square" anchor="t" vertOverflow="clip" horzOverflow="clip"/>
          <a:lstStyle/>
          <a:p>
            <a:r>
              <a:rPr lang="en-US" sz="1400" b="1">
                <a:solidFill>
                  <a:srgbClr val="111111"/>
                </a:solidFill>
              </a:rPr>
              <a:t>Autopilot Agents: decide the operating model before the rollout</a:t>
            </a:r>
          </a:p>
          <a:p>
            <a:r>
              <a:rPr lang="en-US" sz="1400">
                <a:solidFill>
                  <a:srgbClr val="111111"/>
                </a:solidFill>
              </a:rPr>
              <a:t>Bottom line: treat Copilot Autopilot as a bounded standing role, not a better chatbot. Approve one private-preview pilot only where a named leader owns the goal, access boundary, cost and outcomes.</a:t>
            </a:r>
          </a:p>
          <a:p>
            <a:r>
              <a:rPr lang="en-US" sz="1400">
                <a:solidFill>
                  <a:srgbClr val="111111"/>
                </a:solidFill>
              </a:rPr>
              <a:t>Bottom line: treat Copilot Autopilot as a bounded standing role, not a better chatbot. Approve one private-preview pilot only where a named leader owns the goal, access boundary, cost and outcomes.
The shift is from asking for an answer to assigning a standing role. Autopilot was announced with identity, memory, a computer and workspace; leaders still set objectives and boundaries. That changes governance, not just productivity.
Foundry provides an architectural lens, not proof that every implementation is identical: identity establishes the role, while capability can change. The organization controls interactions, access and actions, and an accountable manager remains essential.
Pilot one recurring workflow with one team and one accountable owner. Reuse a blueprint for logic, but scope each instance to its own permissions and assignment. Because Copilot Autopilot remains private preview, require a stop condition and outcome review before expansion.
Evidence: Copilot Autopilot, previously called Scout, was announced as a persistent digital teammate with its own identity, memory, computer and workspace; people set its objective and boundaries and remain informed and in control. [ev-01] Introducing the new Copilot with Home, Code and Autopilot
Evidence: Microsoft said Copilot Autopilot was expanding to private preview at the end of September 2026; the announcement does not establish general availability. [ev-04] Introducing the new Copilot with Home, Code and Autopilot
Evidence: As an architectural lens, Microsoft Foundry defines an autopilot by a persistent standing role and its own identity, security profile and accountable manager, not by a changing feature list. [ev-05] What is an autopilot in Microsoft Foundry?
Evidence: In the Foundry model, autonomy remains bounded: the organization controls when an autopilot responds, who it interacts with, what it accesses and which actions it can take. [ev-07] What is an autopilot in Microsoft Foundry?
Evidence: The Foundry blueprint model separates reusable agent logic and infrastructure from team-specific business access, with each created instance receiving its own identity, permissions and assignment. [ev-08] What is an autopilot in Microsoft Foundry?</a:t>
            </a:r>
          </a:p>
          <a:p>
            <a:r>
              <a:rPr lang="en-US" sz="1400">
                <a:solidFill>
                  <a:srgbClr val="111111"/>
                </a:solidFill>
              </a:rPr>
              <a:t>Citations</a:t>
            </a:r>
          </a:p>
          <a:p>
            <a:r>
              <a:rPr lang="en-US" sz="1400">
                <a:solidFill>
                  <a:srgbClr val="111111"/>
                </a:solidFill>
              </a:rPr>
              <a:t>[ev-01] Introducing the new Copilot with Home, Code and Autopilot</a:t>
            </a:r>
          </a:p>
          <a:p>
            <a:r>
              <a:rPr lang="en-US" sz="1400">
                <a:solidFill>
                  <a:srgbClr val="111111"/>
                </a:solidFill>
              </a:rPr>
              <a:t>[ev-02] Introducing the new Copilot with Home, Code and Autopilot</a:t>
            </a:r>
          </a:p>
          <a:p>
            <a:r>
              <a:rPr lang="en-US" sz="1400">
                <a:solidFill>
                  <a:srgbClr val="111111"/>
                </a:solidFill>
              </a:rPr>
              <a:t>[ev-03] Introducing the new Copilot with Home, Code and Autopilot</a:t>
            </a:r>
          </a:p>
          <a:p>
            <a:r>
              <a:rPr lang="en-US" sz="1400">
                <a:solidFill>
                  <a:srgbClr val="111111"/>
                </a:solidFill>
              </a:rPr>
              <a:t>[ev-04] Introducing the new Copilot with Home, Code and Autopilot</a:t>
            </a:r>
          </a:p>
          <a:p>
            <a:r>
              <a:rPr lang="en-US" sz="1400">
                <a:solidFill>
                  <a:srgbClr val="111111"/>
                </a:solidFill>
              </a:rPr>
              <a:t>[ev-05] What is an autopilot in Microsoft Foundry?</a:t>
            </a:r>
          </a:p>
          <a:p>
            <a:r>
              <a:rPr lang="en-US" sz="1400">
                <a:solidFill>
                  <a:srgbClr val="111111"/>
                </a:solidFill>
              </a:rPr>
              <a:t>[ev-06] What is an autopilot in Microsoft Foundry?</a:t>
            </a:r>
          </a:p>
          <a:p>
            <a:r>
              <a:rPr lang="en-US" sz="1400">
                <a:solidFill>
                  <a:srgbClr val="111111"/>
                </a:solidFill>
              </a:rPr>
              <a:t>[ev-07] What is an autopilot in Microsoft Foundry?</a:t>
            </a:r>
          </a:p>
          <a:p>
            <a:r>
              <a:rPr lang="en-US" sz="1400">
                <a:solidFill>
                  <a:srgbClr val="111111"/>
                </a:solidFill>
              </a:rPr>
              <a:t>[ev-08] What is an autopilot in Microsoft Foundry?</a:t>
            </a:r>
          </a:p>
          <a:p>
            <a:r>
              <a:rPr lang="en-US" sz="1400">
                <a:solidFill>
                  <a:srgbClr val="111111"/>
                </a:solidFill>
              </a:rPr>
              <a:t>[ev-09] What is an autopilot in Microsoft Foundry?</a:t>
            </a:r>
          </a:p>
          <a:p>
            <a:r>
              <a:rPr lang="en-US" sz="1400">
                <a:solidFill>
                  <a:srgbClr val="111111"/>
                </a:solidFill>
              </a:rPr>
              <a:t>[ev-10] What is an autopilot in Microsoft Foundry?</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cNvSpPr txBox="1"/>
          <p:nvPr/>
        </p:nvSpPr>
        <p:spPr>
          <a:xfrm>
            <a:off x="685800" y="685800"/>
            <a:ext cx="7772400" cy="4572000"/>
          </a:xfrm>
          <a:prstGeom prst="rect">
            <a:avLst/>
          </a:prstGeom>
          <a:noFill/>
          <a:ln>
            <a:noFill/>
          </a:ln>
        </p:spPr>
        <p:txBody>
          <a:bodyPr wrap="square" anchor="t" vertOverflow="clip" horzOverflow="clip"/>
          <a:lstStyle/>
          <a:p>
            <a:r>
              <a:rPr lang="en-US" sz="1400" b="1">
                <a:solidFill>
                  <a:srgbClr val="111111"/>
                </a:solidFill>
              </a:rPr>
              <a:t>1. Change the unit of delegation</a:t>
            </a:r>
          </a:p>
          <a:p>
            <a:r>
              <a:rPr lang="en-US" sz="1400">
                <a:solidFill>
                  <a:srgbClr val="111111"/>
                </a:solidFill>
              </a:rPr>
              <a:t>The shift is from asking for an answer to assigning a standing role. Autopilot was announced with identity, memory, a computer and workspace; leaders still set objectives and boundaries. That changes governance, not just productivity.</a:t>
            </a:r>
          </a:p>
          <a:p>
            <a:r>
              <a:rPr lang="en-US" sz="1400">
                <a:solidFill>
                  <a:srgbClr val="111111"/>
                </a:solidFill>
              </a:rPr>
              <a:t>Evidence: Microsoft announcement, Autopilot section, retrieved 2026-10-06. Interpretation: a standing role changes the operating model. This is Copilot Autopilot, previously Scout, not Windows Autopilot device provisioning.
Evidence: Copilot Autopilot, previously called Scout, was announced as a persistent digital teammate with its own identity, memory, computer and workspace; people set its objective and boundaries and remain informed and in control. [ev-01] Introducing the new Copilot with Home, Code and Autopilot</a:t>
            </a:r>
          </a:p>
          <a:p>
            <a:r>
              <a:rPr lang="en-US" sz="1400">
                <a:solidFill>
                  <a:srgbClr val="111111"/>
                </a:solidFill>
              </a:rPr>
              <a:t>Citations</a:t>
            </a:r>
          </a:p>
          <a:p>
            <a:r>
              <a:rPr lang="en-US" sz="1400">
                <a:solidFill>
                  <a:srgbClr val="111111"/>
                </a:solidFill>
              </a:rPr>
              <a:t>[ev-01] Introducing the new Copilot with Home, Code and Autopilot: https://blogs.microsoft.com/blog/2026/09/25/introducing-the-new-copilot-with-home-code-and-autopilot/</a:t>
            </a:r>
          </a:p>
          <a:p>
            <a:r>
              <a:rPr lang="en-US" sz="1400">
                <a:solidFill>
                  <a:srgbClr val="111111"/>
                </a:solidFill>
              </a:rPr>
              <a:t>[ev-02] Introducing the new Copilot with Home, Code and Autopilot: https://blogs.microsoft.com/blog/2026/09/25/introducing-the-new-copilot-with-home-code-and-autopilot/</a:t>
            </a:r>
          </a:p>
          <a:p>
            <a:r>
              <a:rPr lang="en-US" sz="1400">
                <a:solidFill>
                  <a:srgbClr val="111111"/>
                </a:solidFill>
              </a:rPr>
              <a:t>[ev-03] Introducing the new Copilot with Home, Code and Autopilot: https://blogs.microsoft.com/blog/2026/09/25/introducing-the-new-copilot-with-home-code-and-autopilot/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cNvSpPr txBox="1"/>
          <p:nvPr/>
        </p:nvSpPr>
        <p:spPr>
          <a:xfrm>
            <a:off x="685800" y="685800"/>
            <a:ext cx="7772400" cy="4572000"/>
          </a:xfrm>
          <a:prstGeom prst="rect">
            <a:avLst/>
          </a:prstGeom>
          <a:noFill/>
          <a:ln>
            <a:noFill/>
          </a:ln>
        </p:spPr>
        <p:txBody>
          <a:bodyPr wrap="square" anchor="t" vertOverflow="clip" horzOverflow="clip"/>
          <a:lstStyle/>
          <a:p>
            <a:r>
              <a:rPr lang="en-US" sz="1400" b="1">
                <a:solidFill>
                  <a:srgbClr val="111111"/>
                </a:solidFill>
              </a:rPr>
              <a:t>2. Govern identity before capability</a:t>
            </a:r>
          </a:p>
          <a:p>
            <a:r>
              <a:rPr lang="en-US" sz="1400">
                <a:solidFill>
                  <a:srgbClr val="111111"/>
                </a:solidFill>
              </a:rPr>
              <a:t>Foundry provides an architectural lens, not proof that every implementation is identical: identity establishes the role, while capability can change. The organization controls interactions, access and actions, and an accountable manager remains essential.</a:t>
            </a:r>
          </a:p>
          <a:p>
            <a:r>
              <a:rPr lang="en-US" sz="1400">
                <a:solidFill>
                  <a:srgbClr val="111111"/>
                </a:solidFill>
              </a:rPr>
              <a:t>Evidence: Microsoft Foundry autopilot overview, opening definition and autonomy section, retrieved 2026-10-06. Applicability limit: architectural lens only; do not assert implementation equivalence with Copilot Autopilot.
Evidence: As an architectural lens, Microsoft Foundry defines an autopilot by a persistent standing role and its own identity, security profile and accountable manager, not by a changing feature list. [ev-05] What is an autopilot in Microsoft Foundry?
Evidence: In the Foundry model, autonomy remains bounded: the organization controls when an autopilot responds, who it interacts with, what it accesses and which actions it can take. [ev-07] What is an autopilot in Microsoft Foundry?</a:t>
            </a:r>
          </a:p>
          <a:p>
            <a:r>
              <a:rPr lang="en-US" sz="1400">
                <a:solidFill>
                  <a:srgbClr val="111111"/>
                </a:solidFill>
              </a:rPr>
              <a:t>Citations</a:t>
            </a:r>
          </a:p>
          <a:p>
            <a:r>
              <a:rPr lang="en-US" sz="1400">
                <a:solidFill>
                  <a:srgbClr val="111111"/>
                </a:solidFill>
              </a:rPr>
              <a:t>[ev-05] What is an autopilot in Microsoft Foundry?: https://learn.microsoft.com/en-us/azure/foundry/agents/concepts/autopilot-overview</a:t>
            </a:r>
          </a:p>
          <a:p>
            <a:r>
              <a:rPr lang="en-US" sz="1400">
                <a:solidFill>
                  <a:srgbClr val="111111"/>
                </a:solidFill>
              </a:rPr>
              <a:t>[ev-06] What is an autopilot in Microsoft Foundry?: https://learn.microsoft.com/en-us/azure/foundry/agents/concepts/autopilot-overview</a:t>
            </a:r>
          </a:p>
          <a:p>
            <a:r>
              <a:rPr lang="en-US" sz="1400">
                <a:solidFill>
                  <a:srgbClr val="111111"/>
                </a:solidFill>
              </a:rPr>
              <a:t>[ev-07] What is an autopilot in Microsoft Foundry?: https://learn.microsoft.com/en-us/azure/foundry/agents/concepts/autopilot-overview</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cNvSpPr txBox="1"/>
          <p:nvPr/>
        </p:nvSpPr>
        <p:spPr>
          <a:xfrm>
            <a:off x="685800" y="685800"/>
            <a:ext cx="7772400" cy="4572000"/>
          </a:xfrm>
          <a:prstGeom prst="rect">
            <a:avLst/>
          </a:prstGeom>
          <a:noFill/>
          <a:ln>
            <a:noFill/>
          </a:ln>
        </p:spPr>
        <p:txBody>
          <a:bodyPr wrap="square" anchor="t" vertOverflow="clip" horzOverflow="clip"/>
          <a:lstStyle/>
          <a:p>
            <a:r>
              <a:rPr lang="en-US" sz="1400" b="1">
                <a:solidFill>
                  <a:srgbClr val="111111"/>
                </a:solidFill>
              </a:rPr>
              <a:t>3. Pilot the role, not the technology</a:t>
            </a:r>
          </a:p>
          <a:p>
            <a:r>
              <a:rPr lang="en-US" sz="1400">
                <a:solidFill>
                  <a:srgbClr val="111111"/>
                </a:solidFill>
              </a:rPr>
              <a:t>Pilot one recurring workflow with one team and one accountable owner. Reuse a blueprint for logic, but scope each instance to its own permissions and assignment. Because Copilot Autopilot remains private preview, require a stop condition and outcome review before expansion.</a:t>
            </a:r>
          </a:p>
          <a:p>
            <a:r>
              <a:rPr lang="en-US" sz="1400">
                <a:solidFill>
                  <a:srgbClr val="111111"/>
                </a:solidFill>
              </a:rPr>
              <a:t>Evidence: Microsoft announcement private-preview statement and Microsoft Foundry blueprint section, retrieved 2026-10-06. Proposed action: one workflow, one team, one owner, explicit access boundary, cost guardrail, stop condition and review.
Evidence: Microsoft said Copilot Autopilot was expanding to private preview at the end of September 2026; the announcement does not establish general availability. [ev-04] Introducing the new Copilot with Home, Code and Autopilot
Evidence: The Foundry blueprint model separates reusable agent logic and infrastructure from team-specific business access, with each created instance receiving its own identity, permissions and assignment. [ev-08] What is an autopilot in Microsoft Foundry?</a:t>
            </a:r>
          </a:p>
          <a:p>
            <a:r>
              <a:rPr lang="en-US" sz="1400">
                <a:solidFill>
                  <a:srgbClr val="111111"/>
                </a:solidFill>
              </a:rPr>
              <a:t>Citations</a:t>
            </a:r>
          </a:p>
          <a:p>
            <a:r>
              <a:rPr lang="en-US" sz="1400">
                <a:solidFill>
                  <a:srgbClr val="111111"/>
                </a:solidFill>
              </a:rPr>
              <a:t>[ev-04] Introducing the new Copilot with Home, Code and Autopilot: https://blogs.microsoft.com/blog/2026/09/25/introducing-the-new-copilot-with-home-code-and-autopilot/</a:t>
            </a:r>
          </a:p>
          <a:p>
            <a:r>
              <a:rPr lang="en-US" sz="1400">
                <a:solidFill>
                  <a:srgbClr val="111111"/>
                </a:solidFill>
              </a:rPr>
              <a:t>[ev-08] What is an autopilot in Microsoft Foundry?: https://learn.microsoft.com/en-us/azure/foundry/agents/concepts/autopilot-overview</a:t>
            </a:r>
          </a:p>
          <a:p>
            <a:r>
              <a:rPr lang="en-US" sz="1400">
                <a:solidFill>
                  <a:srgbClr val="111111"/>
                </a:solidFill>
              </a:rPr>
              <a:t>[ev-09] What is an autopilot in Microsoft Foundry?: https://learn.microsoft.com/en-us/azure/foundry/agents/concepts/autopilot-overview</a:t>
            </a:r>
          </a:p>
          <a:p>
            <a:r>
              <a:rPr lang="en-US" sz="1400">
                <a:solidFill>
                  <a:srgbClr val="111111"/>
                </a:solidFill>
              </a:rPr>
              <a:t>[ev-10] What is an autopilot in Microsoft Foundry?: https://learn.microsoft.com/en-us/azure/foundry/agents/concepts/autopilot-overview</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cNvSpPr txBox="1"/>
          <p:nvPr/>
        </p:nvSpPr>
        <p:spPr>
          <a:xfrm>
            <a:off x="685800" y="685800"/>
            <a:ext cx="7772400" cy="4572000"/>
          </a:xfrm>
          <a:prstGeom prst="rect">
            <a:avLst/>
          </a:prstGeom>
          <a:noFill/>
          <a:ln>
            <a:noFill/>
          </a:ln>
        </p:spPr>
        <p:txBody>
          <a:bodyPr wrap="square" anchor="t" vertOverflow="clip" horzOverflow="clip"/>
          <a:lstStyle/>
          <a:p>
            <a:r>
              <a:rPr lang="en-US" sz="1400" b="1">
                <a:solidFill>
                  <a:srgbClr val="111111"/>
                </a:solidFill>
              </a:rPr>
              <a:t>Sources. Every claim traces to one.</a:t>
            </a:r>
          </a:p>
          <a:p>
            <a:r>
              <a:rPr lang="en-US" sz="1400">
                <a:solidFill>
                  <a:srgbClr val="111111"/>
                </a:solidFill>
              </a:rPr>
              <a:t>Bottom line: treat Copilot Autopilot as a bounded standing role, not a better chatbot. Approve one private-preview pilot only where a named leader owns the goal, access boundary, cost and outcomes.</a:t>
            </a:r>
          </a:p>
          <a:p>
            <a:r>
              <a:rPr lang="en-US" sz="1400">
                <a:solidFill>
                  <a:srgbClr val="111111"/>
                </a:solidFill>
              </a:rPr>
              <a:t>Sources for every claim in this deck.</a:t>
            </a:r>
          </a:p>
          <a:p>
            <a:r>
              <a:rPr lang="en-US" sz="1400">
                <a:solidFill>
                  <a:srgbClr val="111111"/>
                </a:solidFill>
              </a:rPr>
              <a:t>Citations</a:t>
            </a:r>
          </a:p>
          <a:p>
            <a:r>
              <a:rPr lang="en-US" sz="1400">
                <a:solidFill>
                  <a:srgbClr val="111111"/>
                </a:solidFill>
              </a:rPr>
              <a:t>Introducing the new Copilot with Home, Code and Autopilot: https://blogs.microsoft.com/blog/2026/09/25/introducing-the-new-copilot-with-home-code-and-autopilot/</a:t>
            </a:r>
          </a:p>
          <a:p>
            <a:r>
              <a:rPr lang="en-US" sz="1400">
                <a:solidFill>
                  <a:srgbClr val="111111"/>
                </a:solidFill>
              </a:rPr>
              <a:t>Introducing the new Copilot with Home, Code and Autopilot: https://blogs.microsoft.com/blog/2026/09/25/introducing-the-new-copilot-with-home-code-and-autopilot/</a:t>
            </a:r>
          </a:p>
          <a:p>
            <a:r>
              <a:rPr lang="en-US" sz="1400">
                <a:solidFill>
                  <a:srgbClr val="111111"/>
                </a:solidFill>
              </a:rPr>
              <a:t>Introducing the new Copilot with Home, Code and Autopilot: https://blogs.microsoft.com/blog/2026/09/25/introducing-the-new-copilot-with-home-code-and-autopilot/</a:t>
            </a:r>
          </a:p>
          <a:p>
            <a:r>
              <a:rPr lang="en-US" sz="1400">
                <a:solidFill>
                  <a:srgbClr val="111111"/>
                </a:solidFill>
              </a:rPr>
              <a:t>Introducing the new Copilot with Home, Code and Autopilot: https://blogs.microsoft.com/blog/2026/09/25/introducing-the-new-copilot-with-home-code-and-autopilot/</a:t>
            </a:r>
          </a:p>
          <a:p>
            <a:r>
              <a:rPr lang="en-US" sz="1400">
                <a:solidFill>
                  <a:srgbClr val="111111"/>
                </a:solidFill>
              </a:rPr>
              <a:t>What is an autopilot in Microsoft Foundry?: https://learn.microsoft.com/en-us/azure/foundry/agents/concepts/autopilot-overview</a:t>
            </a:r>
          </a:p>
          <a:p>
            <a:r>
              <a:rPr lang="en-US" sz="1400">
                <a:solidFill>
                  <a:srgbClr val="111111"/>
                </a:solidFill>
              </a:rPr>
              <a:t>What is an autopilot in Microsoft Foundry?: https://learn.microsoft.com/en-us/azure/foundry/agents/concepts/autopilot-overview</a:t>
            </a:r>
          </a:p>
          <a:p>
            <a:r>
              <a:rPr lang="en-US" sz="1400">
                <a:solidFill>
                  <a:srgbClr val="111111"/>
                </a:solidFill>
              </a:rPr>
              <a:t>What is an autopilot in Microsoft Foundry?: https://learn.microsoft.com/en-us/azure/foundry/agents/concepts/autopilot-overview</a:t>
            </a:r>
          </a:p>
          <a:p>
            <a:r>
              <a:rPr lang="en-US" sz="1400">
                <a:solidFill>
                  <a:srgbClr val="111111"/>
                </a:solidFill>
              </a:rPr>
              <a:t>What is an autopilot in Microsoft Foundry?: https://learn.microsoft.com/en-us/azure/foundry/agents/concepts/autopilot-overview</a:t>
            </a:r>
          </a:p>
          <a:p>
            <a:r>
              <a:rPr lang="en-US" sz="1400">
                <a:solidFill>
                  <a:srgbClr val="111111"/>
                </a:solidFill>
              </a:rPr>
              <a:t>What is an autopilot in Microsoft Foundry?: https://learn.microsoft.com/en-us/azure/foundry/agents/concepts/autopilot-overview</a:t>
            </a:r>
          </a:p>
          <a:p>
            <a:r>
              <a:rPr lang="en-US" sz="1400">
                <a:solidFill>
                  <a:srgbClr val="111111"/>
                </a:solidFill>
              </a:rPr>
              <a:t>What is an autopilot in Microsoft Foundry?: https://learn.microsoft.com/en-us/azure/foundry/agents/concepts/autopilot-overview</a:t>
            </a: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marL="0" indent="0">
        <a:defRPr sz="1800" kern="1200">
          <a:solidFill>
            <a:schemeClr val="tx1"/>
          </a:solidFill>
          <a:latin typeface="+mn-lt"/>
          <a:ea typeface="+mn-ea"/>
          <a:cs typeface="+mn-cs"/>
        </a:defRPr>
      </a:lvl1pPr>
    </p:titleStyle>
    <p:bodyStyle>
      <a:lvl1pPr algn="l" defTabSz="914400" marL="0" indent="0">
        <a:defRPr sz="1800" kern="1200">
          <a:solidFill>
            <a:schemeClr val="tx1"/>
          </a:solidFill>
          <a:latin typeface="+mn-lt"/>
          <a:ea typeface="+mn-ea"/>
          <a:cs typeface="+mn-cs"/>
        </a:defRPr>
      </a:lvl1pPr>
    </p:bodyStyle>
    <p:otherStyle>
      <a:lvl1pPr algn="l" defTabSz="914400" marL="0" indent="0">
        <a:defRPr sz="1800" kern="1200">
          <a:solidFill>
            <a:schemeClr val="tx1"/>
          </a:solidFill>
          <a:latin typeface="+mn-lt"/>
          <a:ea typeface="+mn-ea"/>
          <a:cs typeface="+mn-cs"/>
        </a:defRPr>
      </a:lvl1pPr>
    </p:otherStyle>
  </p:txStyles>
</p:sldMaster>
</file>

<file path=ppt/slides/_rels/slide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xml"/><Relationship Id="rIdImage1" Type="http://schemas.openxmlformats.org/officeDocument/2006/relationships/image" Target="../media/visual-operating-model-2a349e67618c.png"/></Relationships>
</file>

<file path=ppt/slides/_rels/slide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3.xml"/><Relationship Id="rIdImage1" Type="http://schemas.openxmlformats.org/officeDocument/2006/relationships/image" Target="../media/visual-identity-boundaries-ae03e8f375ca.png"/></Relationships>
</file>

<file path=ppt/slides/_rels/slide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4.xml"/><Relationship Id="rIdImage1" Type="http://schemas.openxmlformats.org/officeDocument/2006/relationships/image" Target="../media/visual-pilot-8714a4e800e6.png"/></Relationships>
</file>

<file path=ppt/slides/_rels/slide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71B2D"/>
        </a:solidFill>
        <a:effectLst/>
      </p:bgPr>
    </p:bg>
    <p:spTree>
      <p:nvGrpSpPr>
        <p:cNvPr id="1" name=""/>
        <p:cNvGrpSpPr/>
        <p:nvPr/>
      </p:nvGrpSpPr>
      <p:grpSpPr/>
      <p:sp>
        <p:nvSpPr>
          <p:cNvPr id="2" name="Accent band"/>
          <p:cNvSpPr/>
          <p:nvPr/>
        </p:nvSpPr>
        <p:spPr>
          <a:xfrm>
            <a:off x="0" y="0"/>
            <a:ext cx="12192000" cy="91440"/>
          </a:xfrm>
          <a:prstGeom prst="rect">
            <a:avLst/>
          </a:prstGeom>
          <a:solidFill>
            <a:srgbClr val="16B8C8"/>
          </a:solidFill>
          <a:ln>
            <a:noFill/>
          </a:ln>
        </p:spPr>
      </p:sp>
      <p:sp>
        <p:nvSpPr>
          <p:cNvPr id="3" name="Title"/>
          <p:cNvSpPr txBox="1"/>
          <p:nvPr/>
        </p:nvSpPr>
        <p:spPr>
          <a:xfrm>
            <a:off x="685800" y="900000"/>
            <a:ext cx="10820400" cy="2000000"/>
          </a:xfrm>
          <a:prstGeom prst="rect">
            <a:avLst/>
          </a:prstGeom>
          <a:noFill/>
          <a:ln>
            <a:noFill/>
          </a:ln>
        </p:spPr>
        <p:txBody>
          <a:bodyPr wrap="square" lIns="182880" tIns="91440" rIns="182880" bIns="91440" anchor="ctr">
            <a:normAutofit/>
          </a:bodyPr>
          <a:lstStyle/>
          <a:p>
            <a:pPr algn="l">
              <a:lnSpc>
                <a:spcPct val="105000"/>
              </a:lnSpc>
              <a:spcAft>
                <a:spcPts val="0"/>
              </a:spcAft>
            </a:pPr>
            <a:r>
              <a:rPr lang="en-US" sz="3600" b="1">
                <a:solidFill>
                  <a:srgbClr val="F4FBFF"/>
                </a:solidFill>
              </a:rPr>
              <a:t>Autopilot Agents:</a:t>
            </a:r>
            <a:r>
              <a:rPr lang="en-US" sz="3600" b="1">
                <a:solidFill>
                  <a:srgbClr val="16B8C8"/>
                </a:solidFill>
              </a:rPr>
              <a:t> decide the operating model before the rollout</a:t>
            </a:r>
          </a:p>
        </p:txBody>
      </p:sp>
      <p:sp>
        <p:nvSpPr>
          <p:cNvPr id="4" name="Summary"/>
          <p:cNvSpPr txBox="1"/>
          <p:nvPr/>
        </p:nvSpPr>
        <p:spPr>
          <a:xfrm>
            <a:off x="685800" y="3000000"/>
            <a:ext cx="9600000" cy="120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1600">
                <a:solidFill>
                  <a:srgbClr val="B2BCC4"/>
                </a:solidFill>
              </a:rPr>
              <a:t>Bottom line: treat Copilot Autopilot as a bounded standing role, not a better chatbot. Approve one private-preview pilot only where a named leader owns the goal,…</a:t>
            </a:r>
          </a:p>
        </p:txBody>
      </p:sp>
      <p:sp>
        <p:nvSpPr>
          <p:cNvPr id="5" name="Decision"/>
          <p:cNvSpPr/>
          <p:nvPr/>
        </p:nvSpPr>
        <p:spPr>
          <a:xfrm>
            <a:off x="685800" y="4500000"/>
            <a:ext cx="10820400" cy="1000000"/>
          </a:xfrm>
          <a:prstGeom prst="roundRect">
            <a:avLst>
              <a:gd name="adj" fmla="val 9000"/>
            </a:avLst>
          </a:prstGeom>
          <a:solidFill>
            <a:srgbClr val="093446"/>
          </a:solidFill>
          <a:ln w="12700">
            <a:solidFill>
              <a:srgbClr val="16B8C8"/>
            </a:solidFill>
          </a:ln>
        </p:spPr>
        <p:txBody>
          <a:bodyPr wrap="square" lIns="182880" tIns="91440" rIns="182880" bIns="91440" anchor="ctr">
            <a:normAutofit/>
          </a:bodyPr>
          <a:lstStyle/>
          <a:p>
            <a:pPr algn="l">
              <a:lnSpc>
                <a:spcPct val="105000"/>
              </a:lnSpc>
              <a:spcAft>
                <a:spcPts val="0"/>
              </a:spcAft>
            </a:pPr>
            <a:r>
              <a:rPr lang="en-US" sz="1400" b="1">
                <a:solidFill>
                  <a:srgbClr val="16B8C8"/>
                </a:solidFill>
              </a:rPr>
              <a:t>DECISION  </a:t>
            </a:r>
            <a:r>
              <a:rPr lang="en-US" sz="1600" b="1">
                <a:solidFill>
                  <a:srgbClr val="F4FBFF"/>
                </a:solidFill>
              </a:rPr>
              <a:t>Approve one narrow private-preview pilot only when a named business leader owns the goal, access boundary, cost guardrail, exception path and outcome review.</a:t>
            </a:r>
          </a:p>
        </p:txBody>
      </p:sp>
      <p:sp>
        <p:nvSpPr>
          <p:cNvPr id="6" name="Footer"/>
          <p:cNvSpPr txBox="1"/>
          <p:nvPr/>
        </p:nvSpPr>
        <p:spPr>
          <a:xfrm>
            <a:off x="685800" y="6250000"/>
            <a:ext cx="9400000" cy="42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1000">
                <a:solidFill>
                  <a:srgbClr val="B2BCC4"/>
                </a:solidFill>
              </a:rPr>
              <a:t>microsoft-autopilot-agents-r1</a:t>
            </a:r>
          </a:p>
        </p:txBody>
      </p:sp>
      <p:sp>
        <p:nvSpPr>
          <p:cNvPr id="7" name="Slide number"/>
          <p:cNvSpPr txBox="1"/>
          <p:nvPr/>
        </p:nvSpPr>
        <p:spPr>
          <a:xfrm>
            <a:off x="10100000" y="6250000"/>
            <a:ext cx="1400000" cy="420000"/>
          </a:xfrm>
          <a:prstGeom prst="rect">
            <a:avLst/>
          </a:prstGeom>
          <a:noFill/>
          <a:ln>
            <a:noFill/>
          </a:ln>
        </p:spPr>
        <p:txBody>
          <a:bodyPr wrap="square" lIns="182880" tIns="91440" rIns="182880" bIns="91440" anchor="t">
            <a:normAutofit/>
          </a:bodyPr>
          <a:lstStyle/>
          <a:p>
            <a:pPr algn="r"/>
            <a:r>
              <a:rPr lang="en-US" sz="1000">
                <a:solidFill>
                  <a:srgbClr val="B2BCC4"/>
                </a:solidFill>
              </a:rPr>
              <a:t>1 / 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71B2D"/>
        </a:solidFill>
        <a:effectLst/>
      </p:bgPr>
    </p:bg>
    <p:spTree>
      <p:nvGrpSpPr>
        <p:cNvPr id="1" name=""/>
        <p:cNvGrpSpPr/>
        <p:nvPr/>
      </p:nvGrpSpPr>
      <p:grpSpPr/>
      <p:sp>
        <p:nvSpPr>
          <p:cNvPr id="2" name="Accent band"/>
          <p:cNvSpPr/>
          <p:nvPr/>
        </p:nvSpPr>
        <p:spPr>
          <a:xfrm>
            <a:off x="0" y="0"/>
            <a:ext cx="12192000" cy="91440"/>
          </a:xfrm>
          <a:prstGeom prst="rect">
            <a:avLst/>
          </a:prstGeom>
          <a:solidFill>
            <a:srgbClr val="16B8C8"/>
          </a:solidFill>
          <a:ln>
            <a:noFill/>
          </a:ln>
        </p:spPr>
      </p:sp>
      <p:sp>
        <p:nvSpPr>
          <p:cNvPr id="3" name="Title"/>
          <p:cNvSpPr txBox="1"/>
          <p:nvPr/>
        </p:nvSpPr>
        <p:spPr>
          <a:xfrm>
            <a:off x="685800" y="420000"/>
            <a:ext cx="10820400" cy="1150000"/>
          </a:xfrm>
          <a:prstGeom prst="rect">
            <a:avLst/>
          </a:prstGeom>
          <a:noFill/>
          <a:ln>
            <a:noFill/>
          </a:ln>
        </p:spPr>
        <p:txBody>
          <a:bodyPr wrap="square" lIns="182880" tIns="91440" rIns="182880" bIns="91440" anchor="ctr">
            <a:normAutofit/>
          </a:bodyPr>
          <a:lstStyle/>
          <a:p>
            <a:pPr algn="l">
              <a:lnSpc>
                <a:spcPct val="105000"/>
              </a:lnSpc>
              <a:spcAft>
                <a:spcPts val="0"/>
              </a:spcAft>
            </a:pPr>
            <a:r>
              <a:rPr lang="en-US" sz="2900" b="1">
                <a:solidFill>
                  <a:srgbClr val="F4FBFF"/>
                </a:solidFill>
              </a:rPr>
              <a:t>1.</a:t>
            </a:r>
            <a:r>
              <a:rPr lang="en-US" sz="2900" b="1">
                <a:solidFill>
                  <a:srgbClr val="16B8C8"/>
                </a:solidFill>
              </a:rPr>
              <a:t> Change the unit of delegation</a:t>
            </a:r>
          </a:p>
        </p:txBody>
      </p:sp>
      <p:sp>
        <p:nvSpPr>
          <p:cNvPr id="4" name="Body"/>
          <p:cNvSpPr txBox="1"/>
          <p:nvPr/>
        </p:nvSpPr>
        <p:spPr>
          <a:xfrm>
            <a:off x="685800" y="1750000"/>
            <a:ext cx="3900000" cy="390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2000">
                <a:solidFill>
                  <a:srgbClr val="F4FBFF"/>
                </a:solidFill>
              </a:rPr>
              <a:t>The shift is from asking for an answer to assigning a standing role. Autopilot was announced with identity, memory, a computer and workspace; leaders still set objectives and boundaries. That changes governance, not just productivity.</a:t>
            </a:r>
          </a:p>
        </p:txBody>
      </p:sp>
      <p:sp>
        <p:nvSpPr>
          <p:cNvPr id="5" name="Accent rule"/>
          <p:cNvSpPr/>
          <p:nvPr/>
        </p:nvSpPr>
        <p:spPr>
          <a:xfrm>
            <a:off x="548640" y="1800000"/>
            <a:ext cx="45720" cy="3800000"/>
          </a:xfrm>
          <a:prstGeom prst="rect">
            <a:avLst/>
          </a:prstGeom>
          <a:solidFill>
            <a:srgbClr val="16B8C8"/>
          </a:solidFill>
          <a:ln>
            <a:noFill/>
          </a:ln>
        </p:spPr>
      </p:sp>
      <p:pic>
        <p:nvPicPr>
          <p:cNvPr id="6" name="Asset visual-operating-model" descr="The operating-model shift: from one request to a bounded standing role with human accountability. (mermaid diagram)"/>
          <p:cNvPicPr>
            <a:picLocks noChangeAspect="1"/>
          </p:cNvPicPr>
          <p:nvPr/>
        </p:nvPicPr>
        <p:blipFill>
          <a:blip r:embed="rIdImage1"/>
          <a:stretch>
            <a:fillRect/>
          </a:stretch>
        </p:blipFill>
        <p:spPr>
          <a:xfrm>
            <a:off x="5000000" y="2021875"/>
            <a:ext cx="6500000" cy="3656250"/>
          </a:xfrm>
          <a:prstGeom prst="rect">
            <a:avLst/>
          </a:prstGeom>
          <a:ln>
            <a:solidFill>
              <a:srgbClr val="D9D9D9"/>
            </a:solidFill>
          </a:ln>
        </p:spPr>
      </p:pic>
      <p:sp>
        <p:nvSpPr>
          <p:cNvPr id="7" name="Footer"/>
          <p:cNvSpPr txBox="1"/>
          <p:nvPr/>
        </p:nvSpPr>
        <p:spPr>
          <a:xfrm>
            <a:off x="685800" y="6250000"/>
            <a:ext cx="9400000" cy="42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1000">
                <a:solidFill>
                  <a:srgbClr val="B2BCC4"/>
                </a:solidFill>
              </a:rPr>
              <a:t>Sources: [ev-01] Introducing the new Copilot with Home, Code and Autopilot  ·  [ev-02] Introducing the new Copilot with Home, Code and Autopilot  ·  [ev-03] Introducing the new Copilot with Home, Code and Autopilot</a:t>
            </a:r>
          </a:p>
        </p:txBody>
      </p:sp>
      <p:sp>
        <p:nvSpPr>
          <p:cNvPr id="8" name="Slide number"/>
          <p:cNvSpPr txBox="1"/>
          <p:nvPr/>
        </p:nvSpPr>
        <p:spPr>
          <a:xfrm>
            <a:off x="10100000" y="6250000"/>
            <a:ext cx="1400000" cy="420000"/>
          </a:xfrm>
          <a:prstGeom prst="rect">
            <a:avLst/>
          </a:prstGeom>
          <a:noFill/>
          <a:ln>
            <a:noFill/>
          </a:ln>
        </p:spPr>
        <p:txBody>
          <a:bodyPr wrap="square" lIns="182880" tIns="91440" rIns="182880" bIns="91440" anchor="t">
            <a:normAutofit/>
          </a:bodyPr>
          <a:lstStyle/>
          <a:p>
            <a:pPr algn="r"/>
            <a:r>
              <a:rPr lang="en-US" sz="1000">
                <a:solidFill>
                  <a:srgbClr val="B2BCC4"/>
                </a:solidFill>
              </a:rPr>
              <a:t>2 / 5</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71B2D"/>
        </a:solidFill>
        <a:effectLst/>
      </p:bgPr>
    </p:bg>
    <p:spTree>
      <p:nvGrpSpPr>
        <p:cNvPr id="1" name=""/>
        <p:cNvGrpSpPr/>
        <p:nvPr/>
      </p:nvGrpSpPr>
      <p:grpSpPr/>
      <p:sp>
        <p:nvSpPr>
          <p:cNvPr id="2" name="Accent band"/>
          <p:cNvSpPr/>
          <p:nvPr/>
        </p:nvSpPr>
        <p:spPr>
          <a:xfrm>
            <a:off x="0" y="0"/>
            <a:ext cx="12192000" cy="91440"/>
          </a:xfrm>
          <a:prstGeom prst="rect">
            <a:avLst/>
          </a:prstGeom>
          <a:solidFill>
            <a:srgbClr val="16B8C8"/>
          </a:solidFill>
          <a:ln>
            <a:noFill/>
          </a:ln>
        </p:spPr>
      </p:sp>
      <p:sp>
        <p:nvSpPr>
          <p:cNvPr id="3" name="Title"/>
          <p:cNvSpPr txBox="1"/>
          <p:nvPr/>
        </p:nvSpPr>
        <p:spPr>
          <a:xfrm>
            <a:off x="685800" y="420000"/>
            <a:ext cx="10820400" cy="1150000"/>
          </a:xfrm>
          <a:prstGeom prst="rect">
            <a:avLst/>
          </a:prstGeom>
          <a:noFill/>
          <a:ln>
            <a:noFill/>
          </a:ln>
        </p:spPr>
        <p:txBody>
          <a:bodyPr wrap="square" lIns="182880" tIns="91440" rIns="182880" bIns="91440" anchor="ctr">
            <a:normAutofit/>
          </a:bodyPr>
          <a:lstStyle/>
          <a:p>
            <a:pPr algn="l">
              <a:lnSpc>
                <a:spcPct val="105000"/>
              </a:lnSpc>
              <a:spcAft>
                <a:spcPts val="0"/>
              </a:spcAft>
            </a:pPr>
            <a:r>
              <a:rPr lang="en-US" sz="2900" b="1">
                <a:solidFill>
                  <a:srgbClr val="F4FBFF"/>
                </a:solidFill>
              </a:rPr>
              <a:t>2.</a:t>
            </a:r>
            <a:r>
              <a:rPr lang="en-US" sz="2900" b="1">
                <a:solidFill>
                  <a:srgbClr val="16B8C8"/>
                </a:solidFill>
              </a:rPr>
              <a:t> Govern identity before capability</a:t>
            </a:r>
          </a:p>
        </p:txBody>
      </p:sp>
      <p:sp>
        <p:nvSpPr>
          <p:cNvPr id="4" name="Body"/>
          <p:cNvSpPr txBox="1"/>
          <p:nvPr/>
        </p:nvSpPr>
        <p:spPr>
          <a:xfrm>
            <a:off x="685800" y="1750000"/>
            <a:ext cx="3900000" cy="390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1900">
                <a:solidFill>
                  <a:srgbClr val="F4FBFF"/>
                </a:solidFill>
              </a:rPr>
              <a:t>Foundry provides an architectural lens, not proof that every implementation is identical: identity establishes the role, while capability can change. The organization controls interactions, access and actions, and an accountable manager remains essential.</a:t>
            </a:r>
          </a:p>
        </p:txBody>
      </p:sp>
      <p:sp>
        <p:nvSpPr>
          <p:cNvPr id="5" name="Accent rule"/>
          <p:cNvSpPr/>
          <p:nvPr/>
        </p:nvSpPr>
        <p:spPr>
          <a:xfrm>
            <a:off x="548640" y="1800000"/>
            <a:ext cx="45720" cy="3800000"/>
          </a:xfrm>
          <a:prstGeom prst="rect">
            <a:avLst/>
          </a:prstGeom>
          <a:solidFill>
            <a:srgbClr val="16B8C8"/>
          </a:solidFill>
          <a:ln>
            <a:noFill/>
          </a:ln>
        </p:spPr>
      </p:sp>
      <p:pic>
        <p:nvPicPr>
          <p:cNvPr id="6" name="Asset visual-identity-boundaries" descr="Identity anchors the role; goals, access and actions remain bounded by the organization. (excalidraw diagram)"/>
          <p:cNvPicPr>
            <a:picLocks noChangeAspect="1"/>
          </p:cNvPicPr>
          <p:nvPr/>
        </p:nvPicPr>
        <p:blipFill>
          <a:blip r:embed="rIdImage1"/>
          <a:stretch>
            <a:fillRect/>
          </a:stretch>
        </p:blipFill>
        <p:spPr>
          <a:xfrm>
            <a:off x="5000000" y="2021875"/>
            <a:ext cx="6500000" cy="3656250"/>
          </a:xfrm>
          <a:prstGeom prst="rect">
            <a:avLst/>
          </a:prstGeom>
          <a:ln>
            <a:solidFill>
              <a:srgbClr val="D9D9D9"/>
            </a:solidFill>
          </a:ln>
        </p:spPr>
      </p:pic>
      <p:sp>
        <p:nvSpPr>
          <p:cNvPr id="7" name="Footer"/>
          <p:cNvSpPr txBox="1"/>
          <p:nvPr/>
        </p:nvSpPr>
        <p:spPr>
          <a:xfrm>
            <a:off x="685800" y="6250000"/>
            <a:ext cx="9400000" cy="42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1000">
                <a:solidFill>
                  <a:srgbClr val="B2BCC4"/>
                </a:solidFill>
              </a:rPr>
              <a:t>Sources: [ev-05] What is an autopilot in Microsoft Foundry?  ·  [ev-06] What is an autopilot in Microsoft Foundry?  ·  [ev-07] What is an autopilot in Microsoft Foundry?</a:t>
            </a:r>
          </a:p>
        </p:txBody>
      </p:sp>
      <p:sp>
        <p:nvSpPr>
          <p:cNvPr id="8" name="Slide number"/>
          <p:cNvSpPr txBox="1"/>
          <p:nvPr/>
        </p:nvSpPr>
        <p:spPr>
          <a:xfrm>
            <a:off x="10100000" y="6250000"/>
            <a:ext cx="1400000" cy="420000"/>
          </a:xfrm>
          <a:prstGeom prst="rect">
            <a:avLst/>
          </a:prstGeom>
          <a:noFill/>
          <a:ln>
            <a:noFill/>
          </a:ln>
        </p:spPr>
        <p:txBody>
          <a:bodyPr wrap="square" lIns="182880" tIns="91440" rIns="182880" bIns="91440" anchor="t">
            <a:normAutofit/>
          </a:bodyPr>
          <a:lstStyle/>
          <a:p>
            <a:pPr algn="r"/>
            <a:r>
              <a:rPr lang="en-US" sz="1000">
                <a:solidFill>
                  <a:srgbClr val="B2BCC4"/>
                </a:solidFill>
              </a:rPr>
              <a:t>3 / 5</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71B2D"/>
        </a:solidFill>
        <a:effectLst/>
      </p:bgPr>
    </p:bg>
    <p:spTree>
      <p:nvGrpSpPr>
        <p:cNvPr id="1" name=""/>
        <p:cNvGrpSpPr/>
        <p:nvPr/>
      </p:nvGrpSpPr>
      <p:grpSpPr/>
      <p:sp>
        <p:nvSpPr>
          <p:cNvPr id="2" name="Accent band"/>
          <p:cNvSpPr/>
          <p:nvPr/>
        </p:nvSpPr>
        <p:spPr>
          <a:xfrm>
            <a:off x="0" y="0"/>
            <a:ext cx="12192000" cy="91440"/>
          </a:xfrm>
          <a:prstGeom prst="rect">
            <a:avLst/>
          </a:prstGeom>
          <a:solidFill>
            <a:srgbClr val="16B8C8"/>
          </a:solidFill>
          <a:ln>
            <a:noFill/>
          </a:ln>
        </p:spPr>
      </p:sp>
      <p:sp>
        <p:nvSpPr>
          <p:cNvPr id="3" name="Title"/>
          <p:cNvSpPr txBox="1"/>
          <p:nvPr/>
        </p:nvSpPr>
        <p:spPr>
          <a:xfrm>
            <a:off x="685800" y="420000"/>
            <a:ext cx="10820400" cy="1150000"/>
          </a:xfrm>
          <a:prstGeom prst="rect">
            <a:avLst/>
          </a:prstGeom>
          <a:noFill/>
          <a:ln>
            <a:noFill/>
          </a:ln>
        </p:spPr>
        <p:txBody>
          <a:bodyPr wrap="square" lIns="182880" tIns="91440" rIns="182880" bIns="91440" anchor="ctr">
            <a:normAutofit/>
          </a:bodyPr>
          <a:lstStyle/>
          <a:p>
            <a:pPr algn="l">
              <a:lnSpc>
                <a:spcPct val="105000"/>
              </a:lnSpc>
              <a:spcAft>
                <a:spcPts val="0"/>
              </a:spcAft>
            </a:pPr>
            <a:r>
              <a:rPr lang="en-US" sz="2900" b="1">
                <a:solidFill>
                  <a:srgbClr val="F4FBFF"/>
                </a:solidFill>
              </a:rPr>
              <a:t>3.</a:t>
            </a:r>
            <a:r>
              <a:rPr lang="en-US" sz="2900" b="1">
                <a:solidFill>
                  <a:srgbClr val="16B8C8"/>
                </a:solidFill>
              </a:rPr>
              <a:t> Pilot the role, not the technology</a:t>
            </a:r>
          </a:p>
        </p:txBody>
      </p:sp>
      <p:sp>
        <p:nvSpPr>
          <p:cNvPr id="4" name="Body"/>
          <p:cNvSpPr txBox="1"/>
          <p:nvPr/>
        </p:nvSpPr>
        <p:spPr>
          <a:xfrm>
            <a:off x="685800" y="1750000"/>
            <a:ext cx="3900000" cy="390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1800">
                <a:solidFill>
                  <a:srgbClr val="F4FBFF"/>
                </a:solidFill>
              </a:rPr>
              <a:t>Pilot one recurring workflow with one team and one accountable owner. Reuse a blueprint for logic, but scope each instance to its own permissions and assignment. Because Copilot Autopilot remains private preview, require a stop condition and outcome review before expansion.</a:t>
            </a:r>
          </a:p>
        </p:txBody>
      </p:sp>
      <p:sp>
        <p:nvSpPr>
          <p:cNvPr id="5" name="Accent rule"/>
          <p:cNvSpPr/>
          <p:nvPr/>
        </p:nvSpPr>
        <p:spPr>
          <a:xfrm>
            <a:off x="548640" y="1800000"/>
            <a:ext cx="45720" cy="3800000"/>
          </a:xfrm>
          <a:prstGeom prst="rect">
            <a:avLst/>
          </a:prstGeom>
          <a:solidFill>
            <a:srgbClr val="16B8C8"/>
          </a:solidFill>
          <a:ln>
            <a:noFill/>
          </a:ln>
        </p:spPr>
      </p:sp>
      <p:pic>
        <p:nvPicPr>
          <p:cNvPr id="6" name="Asset visual-pilot" descr="A narrow, accountable private-preview pilot with explicit expansion gates. (marp diagram)"/>
          <p:cNvPicPr>
            <a:picLocks noChangeAspect="1"/>
          </p:cNvPicPr>
          <p:nvPr/>
        </p:nvPicPr>
        <p:blipFill>
          <a:blip r:embed="rIdImage1"/>
          <a:stretch>
            <a:fillRect/>
          </a:stretch>
        </p:blipFill>
        <p:spPr>
          <a:xfrm>
            <a:off x="5000000" y="2021875"/>
            <a:ext cx="6500000" cy="3656250"/>
          </a:xfrm>
          <a:prstGeom prst="rect">
            <a:avLst/>
          </a:prstGeom>
          <a:ln>
            <a:solidFill>
              <a:srgbClr val="D9D9D9"/>
            </a:solidFill>
          </a:ln>
        </p:spPr>
      </p:pic>
      <p:sp>
        <p:nvSpPr>
          <p:cNvPr id="7" name="Footer"/>
          <p:cNvSpPr txBox="1"/>
          <p:nvPr/>
        </p:nvSpPr>
        <p:spPr>
          <a:xfrm>
            <a:off x="685800" y="6250000"/>
            <a:ext cx="9400000" cy="42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1000">
                <a:solidFill>
                  <a:srgbClr val="B2BCC4"/>
                </a:solidFill>
              </a:rPr>
              <a:t>Sources: [ev-04] Introducing the new Copilot with Home, Code and Autopilot  ·  [ev-08] What is an autopilot in Microsoft Foundry?  ·  [ev-09] What is an autopilot in Microsoft Foundry?</a:t>
            </a:r>
          </a:p>
        </p:txBody>
      </p:sp>
      <p:sp>
        <p:nvSpPr>
          <p:cNvPr id="8" name="Slide number"/>
          <p:cNvSpPr txBox="1"/>
          <p:nvPr/>
        </p:nvSpPr>
        <p:spPr>
          <a:xfrm>
            <a:off x="10100000" y="6250000"/>
            <a:ext cx="1400000" cy="420000"/>
          </a:xfrm>
          <a:prstGeom prst="rect">
            <a:avLst/>
          </a:prstGeom>
          <a:noFill/>
          <a:ln>
            <a:noFill/>
          </a:ln>
        </p:spPr>
        <p:txBody>
          <a:bodyPr wrap="square" lIns="182880" tIns="91440" rIns="182880" bIns="91440" anchor="t">
            <a:normAutofit/>
          </a:bodyPr>
          <a:lstStyle/>
          <a:p>
            <a:pPr algn="r"/>
            <a:r>
              <a:rPr lang="en-US" sz="1000">
                <a:solidFill>
                  <a:srgbClr val="B2BCC4"/>
                </a:solidFill>
              </a:rPr>
              <a:t>4 / 5</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71B2D"/>
        </a:solidFill>
        <a:effectLst/>
      </p:bgPr>
    </p:bg>
    <p:spTree>
      <p:nvGrpSpPr>
        <p:cNvPr id="1" name=""/>
        <p:cNvGrpSpPr/>
        <p:nvPr/>
      </p:nvGrpSpPr>
      <p:grpSpPr/>
      <p:sp>
        <p:nvSpPr>
          <p:cNvPr id="2" name="Accent band"/>
          <p:cNvSpPr/>
          <p:nvPr/>
        </p:nvSpPr>
        <p:spPr>
          <a:xfrm>
            <a:off x="0" y="0"/>
            <a:ext cx="12192000" cy="91440"/>
          </a:xfrm>
          <a:prstGeom prst="rect">
            <a:avLst/>
          </a:prstGeom>
          <a:solidFill>
            <a:srgbClr val="16B8C8"/>
          </a:solidFill>
          <a:ln>
            <a:noFill/>
          </a:ln>
        </p:spPr>
      </p:sp>
      <p:sp>
        <p:nvSpPr>
          <p:cNvPr id="3" name="Title"/>
          <p:cNvSpPr txBox="1"/>
          <p:nvPr/>
        </p:nvSpPr>
        <p:spPr>
          <a:xfrm>
            <a:off x="685800" y="420000"/>
            <a:ext cx="10820400" cy="1000000"/>
          </a:xfrm>
          <a:prstGeom prst="rect">
            <a:avLst/>
          </a:prstGeom>
          <a:noFill/>
          <a:ln>
            <a:noFill/>
          </a:ln>
        </p:spPr>
        <p:txBody>
          <a:bodyPr wrap="square" lIns="182880" tIns="91440" rIns="182880" bIns="91440" anchor="ctr">
            <a:normAutofit/>
          </a:bodyPr>
          <a:lstStyle/>
          <a:p>
            <a:pPr algn="l">
              <a:lnSpc>
                <a:spcPct val="105000"/>
              </a:lnSpc>
              <a:spcAft>
                <a:spcPts val="0"/>
              </a:spcAft>
            </a:pPr>
            <a:r>
              <a:rPr lang="en-US" sz="2400" b="1">
                <a:solidFill>
                  <a:srgbClr val="F4FBFF"/>
                </a:solidFill>
              </a:rPr>
              <a:t>Sources.</a:t>
            </a:r>
            <a:r>
              <a:rPr lang="en-US" sz="2400" b="1">
                <a:solidFill>
                  <a:srgbClr val="16B8C8"/>
                </a:solidFill>
              </a:rPr>
              <a:t> Every claim traces to one.</a:t>
            </a:r>
          </a:p>
        </p:txBody>
      </p:sp>
      <p:sp>
        <p:nvSpPr>
          <p:cNvPr id="4" name="Sources"/>
          <p:cNvSpPr txBox="1"/>
          <p:nvPr/>
        </p:nvSpPr>
        <p:spPr>
          <a:xfrm>
            <a:off x="685800" y="1700000"/>
            <a:ext cx="10820400" cy="430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1800" b="1">
                <a:solidFill>
                  <a:srgbClr val="F4FBFF"/>
                </a:solidFill>
              </a:rPr>
              <a:t>Introducing the new Copilot with Home, Code and Autopilot</a:t>
            </a:r>
            <a:r>
              <a:rPr lang="en-US" sz="1200">
                <a:solidFill>
                  <a:srgbClr val="B2BCC4"/>
                </a:solidFill>
              </a:rPr>
              <a:t>  retrieved 2026-10-06</a:t>
            </a:r>
          </a:p>
          <a:p>
            <a:pPr algn="l">
              <a:lnSpc>
                <a:spcPct val="105000"/>
              </a:lnSpc>
              <a:spcAft>
                <a:spcPts val="1400"/>
              </a:spcAft>
            </a:pPr>
            <a:r>
              <a:rPr lang="en-US" sz="1400">
                <a:solidFill>
                  <a:srgbClr val="16B8C8"/>
                </a:solidFill>
              </a:rPr>
              <a:t>https://blogs.microsoft.com/blog/2026/09/25/introducing-the-new-copilot-with-home-code-and-autopilot/</a:t>
            </a:r>
          </a:p>
          <a:p>
            <a:pPr algn="l">
              <a:lnSpc>
                <a:spcPct val="105000"/>
              </a:lnSpc>
              <a:spcAft>
                <a:spcPts val="0"/>
              </a:spcAft>
            </a:pPr>
            <a:r>
              <a:rPr lang="en-US" sz="1800" b="1">
                <a:solidFill>
                  <a:srgbClr val="F4FBFF"/>
                </a:solidFill>
              </a:rPr>
              <a:t>What is an autopilot in Microsoft Foundry?</a:t>
            </a:r>
            <a:r>
              <a:rPr lang="en-US" sz="1200">
                <a:solidFill>
                  <a:srgbClr val="B2BCC4"/>
                </a:solidFill>
              </a:rPr>
              <a:t>  retrieved 2026-10-06</a:t>
            </a:r>
          </a:p>
          <a:p>
            <a:pPr algn="l">
              <a:lnSpc>
                <a:spcPct val="105000"/>
              </a:lnSpc>
              <a:spcAft>
                <a:spcPts val="1400"/>
              </a:spcAft>
            </a:pPr>
            <a:r>
              <a:rPr lang="en-US" sz="1400">
                <a:solidFill>
                  <a:srgbClr val="16B8C8"/>
                </a:solidFill>
              </a:rPr>
              <a:t>https://learn.microsoft.com/en-us/azure/foundry/agents/concepts/autopilot-overview</a:t>
            </a:r>
          </a:p>
        </p:txBody>
      </p:sp>
      <p:sp>
        <p:nvSpPr>
          <p:cNvPr id="5" name="Footer"/>
          <p:cNvSpPr txBox="1"/>
          <p:nvPr/>
        </p:nvSpPr>
        <p:spPr>
          <a:xfrm>
            <a:off x="685800" y="6250000"/>
            <a:ext cx="9400000" cy="42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1000">
                <a:solidFill>
                  <a:srgbClr val="B2BCC4"/>
                </a:solidFill>
              </a:rPr>
              <a:t>microsoft-autopilot-agents-r1</a:t>
            </a:r>
          </a:p>
        </p:txBody>
      </p:sp>
      <p:sp>
        <p:nvSpPr>
          <p:cNvPr id="6" name="Slide number"/>
          <p:cNvSpPr txBox="1"/>
          <p:nvPr/>
        </p:nvSpPr>
        <p:spPr>
          <a:xfrm>
            <a:off x="10100000" y="6250000"/>
            <a:ext cx="1400000" cy="420000"/>
          </a:xfrm>
          <a:prstGeom prst="rect">
            <a:avLst/>
          </a:prstGeom>
          <a:noFill/>
          <a:ln>
            <a:noFill/>
          </a:ln>
        </p:spPr>
        <p:txBody>
          <a:bodyPr wrap="square" lIns="182880" tIns="91440" rIns="182880" bIns="91440" anchor="t">
            <a:normAutofit/>
          </a:bodyPr>
          <a:lstStyle/>
          <a:p>
            <a:pPr algn="r"/>
            <a:r>
              <a:rPr lang="en-US" sz="1000">
                <a:solidFill>
                  <a:srgbClr val="B2BCC4"/>
                </a:solidFill>
              </a:rPr>
              <a:t>5 / 5</a:t>
            </a:r>
          </a:p>
        </p:txBody>
      </p:sp>
    </p:spTree>
  </p:cSld>
  <p:clrMapOvr>
    <a:masterClrMapping/>
  </p:clrMapOvr>
</p:sld>
</file>

<file path=ppt/theme/theme1.xml><?xml version="1.0" encoding="utf-8"?>
<a:theme xmlns:a="http://schemas.openxmlformats.org/drawingml/2006/main" name="executive-blue-teal">
  <a:themeElements>
    <a:clrScheme name="executive-blue-teal">
      <a:dk1>
        <a:srgbClr val="F4FBFF"/>
      </a:dk1>
      <a:lt1>
        <a:srgbClr val="071B2D"/>
      </a:lt1>
      <a:dk2>
        <a:srgbClr val="1F1F1F"/>
      </a:dk2>
      <a:lt2>
        <a:srgbClr val="F8F8F8"/>
      </a:lt2>
      <a:accent1>
        <a:srgbClr val="16B8C8"/>
      </a:accent1>
      <a:accent2>
        <a:srgbClr val="5B9BD5"/>
      </a:accent2>
      <a:accent3>
        <a:srgbClr val="70AD47"/>
      </a:accent3>
      <a:accent4>
        <a:srgbClr val="FFC000"/>
      </a:accent4>
      <a:accent5>
        <a:srgbClr val="C00000"/>
      </a:accent5>
      <a:accent6>
        <a:srgbClr val="7030A0"/>
      </a:accent6>
      <a:hlink>
        <a:srgbClr val="16B8C8"/>
      </a:hlink>
      <a:folHlink>
        <a:srgbClr val="7F7F7F"/>
      </a:folHlink>
    </a:clrScheme>
    <a:fontScheme name="executive-blue-teal">
      <a:majorFont>
        <a:latin typeface="Arial"/>
        <a:ea typeface=""/>
        <a:cs typeface=""/>
      </a:majorFont>
      <a:minorFont>
        <a:latin typeface="Arial"/>
        <a:ea typeface=""/>
        <a:cs typeface=""/>
      </a:minorFont>
    </a:fontScheme>
    <a:fmtScheme name="executive-blue-teal">
      <a:fillStyleLst>
        <a:solidFill>
          <a:schemeClr val="phClr"/>
        </a:solidFill>
        <a:gradFill rotWithShape="1">
          <a:gsLst>
            <a:gs pos="0">
              <a:schemeClr val="phClr">
                <a:tint val="50000"/>
                <a:satMod val="300000"/>
              </a:schemeClr>
            </a:gs>
            <a:gs pos="100000">
              <a:schemeClr val="phClr">
                <a:tint val="37000"/>
                <a:satMod val="300000"/>
              </a:schemeClr>
            </a:gs>
          </a:gsLst>
          <a:lin ang="16200000" scaled="1"/>
        </a:gradFill>
        <a:gradFill rotWithShape="1">
          <a:gsLst>
            <a:gs pos="0">
              <a:schemeClr val="phClr">
                <a:shade val="51000"/>
                <a:satMod val="130000"/>
              </a:schemeClr>
            </a:gs>
            <a:gs pos="100000">
              <a:schemeClr val="phClr">
                <a:shade val="93000"/>
                <a:satMod val="130000"/>
              </a:schemeClr>
            </a:gs>
          </a:gsLst>
          <a:lin ang="162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a2swe</Application>
  <Slides>5</Slides>
  <Notes>5</Note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Autopilot Agents: decide the operating model before the rollout</dc:title>
  <dc:creator>a2swe</dc:creator>
  <cp:lastModifiedBy>a2swe</cp:lastModifiedBy>
  <dcterms:created xsi:type="dcterms:W3CDTF">2020-01-01T00:00:00Z</dcterms:created>
  <dcterms:modified xsi:type="dcterms:W3CDTF">2020-01-01T00:00:00Z</dcterms:modified>
</cp:coreProperties>
</file>