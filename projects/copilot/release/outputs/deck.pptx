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docProps/app.xml" ContentType="application/vnd.openxmlformats-officedocument.extended-properties+xml"/>
  <Override PartName="/docProps/core.xml" ContentType="application/vnd.openxmlformats-package.core-properties+xml"/>
  <Override PartName="/ppt/presentation.xml" ContentType="application/vnd.openxmlformats-officedocument.presentationml.presentation.main+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Lst>
  <p:sldSz cx="12192000" cy="6858000" type="screen16x9"/>
  <p:notesSz cx="6858000" cy="9144000"/>
  <p:defaultTextStyle>
    <a:defPPr>
      <a:defRPr lang="en-US"/>
    </a:defPPr>
    <a:lvl1pPr algn="l" defTabSz="914400" marL="0" indent="0">
      <a:defRPr sz="1800" kern="1200">
        <a:solidFill>
          <a:schemeClr val="tx1"/>
        </a:solidFill>
        <a:latin typeface="+mn-lt"/>
        <a:ea typeface="+mn-ea"/>
        <a:cs typeface="+mn-cs"/>
      </a:defRPr>
    </a:lvl1pPr>
  </p:defaultTextStyle>
</p:presentation>
</file>

<file path=ppt/presProps.xml><?xml version="1.0" encoding="utf-8"?>
<p:presentationPr xmlns:p="http://schemas.openxmlformats.org/presentationml/2006/main">
  <p:showPr>
    <p:present/>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p:normalViewPr>
    <p:restoredLeft sz="15620"/>
    <p:restoredTop sz="94660"/>
  </p:normalViewPr>
  <p:slideViewPr>
    <p:cSldViewPr>
      <p:cViewPr varScale="1">
        <p:scale>
          <a:sx n="100" d="100"/>
          <a:sy n="100" d="100"/>
        </p:scale>
        <p:origin x="0" y="0"/>
      </p:cViewPr>
      <p:guideLst/>
    </p:cSldViewPr>
  </p:slideViewPr>
  <p:notesTextViewPr>
    <p:cViewPr>
      <p:scale>
        <a:sx n="100" d="100"/>
        <a:sy n="100" d="100"/>
      </p:scale>
      <p:origin x="0" y="0"/>
    </p:cViewPr>
  </p:notesTextViewPr>
  <p:gridSpacing cx="78028800" cy="780288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theme" Target="theme/theme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ableStyles" Target="tableStyles.xml"/></Relationships>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nvSpPr>
        <p:spPr>
          <a:xfrm>
            <a:off x="685800" y="685800"/>
            <a:ext cx="7772400" cy="4572000"/>
          </a:xfrm>
          <a:prstGeom prst="rect">
            <a:avLst/>
          </a:prstGeom>
          <a:noFill/>
          <a:ln>
            <a:noFill/>
          </a:ln>
        </p:spPr>
        <p:txBody>
          <a:bodyPr wrap="square" anchor="t" vertOverflow="clip" horzOverflow="clip"/>
          <a:lstStyle/>
          <a:p>
            <a:r>
              <a:rPr lang="en-US" sz="1400" b="1">
                <a:solidFill>
                  <a:srgbClr val="111111"/>
                </a:solidFill>
              </a:rPr>
              <a:t>Copilot: choose the right AI assistant for the job</a:t>
            </a:r>
          </a:p>
          <a:p>
            <a:r>
              <a:rPr lang="en-US" sz="1400">
                <a:solidFill>
                  <a:srgbClr val="111111"/>
                </a:solidFill>
              </a:rPr>
              <a:t>Bottom line: Copilot is a family, not one tool; choose Chat, Microsoft 365, GitHub, or Studio by job, then verify access, licensing, and grounding.</a:t>
            </a:r>
          </a:p>
          <a:p>
            <a:r>
              <a:rPr lang="en-US" sz="1400">
                <a:solidFill>
                  <a:srgbClr val="111111"/>
                </a:solidFill>
              </a:rPr>
              <a:t>Bottom line: Copilot is a family, not one tool; choose Chat, Microsoft 365, GitHub, or Studio by job, then verify access, licensing, and grounding.
Copilot Chat fits research and drafting. It can summarize web information, rewrite content, analyze files, create images, use agents, and ask supported work questions.
Microsoft 365 Copilot brings AI into work apps. Grounding, user permissions, compliance controls and license level shape what it can answer for each person.
GitHub Copilot fits coding workflows in developer tools. Copilot Studio builds agents and workflows connected to organizational data, systems, and channels for teams.
Make the decision after the fit is clear. Check permissions, license tier, and grounding so leaders know what each output can and cannot use in practice.
Evidence: Copilot Chat supports research, content generation, file analysis, images, agents, and supported organizational questions. [ev-01] Overview of Microsoft Copilot Chat
Evidence: Microsoft 365 Copilot is shaped by organizational grounding, user permissions, compliance controls, work-app access, and license level. [ev-03] What is Microsoft Copilot?
Evidence: GitHub Copilot supports coding work in editors, the command line, and GitHub, including completing code, edits, validation, and workflow support. [ev-05] GitHub Copilot · Your AI coding agent · GitHub
Evidence: Copilot Studio is a low-code route for building agents and workflows connected to organizational data, systems, and channels. [ev-07] Overview - Microsoft Copilot Studio
Evidence: The executive choice is job first, then access, licensing, grounding, and output scope. [ev-01] Overview of Microsoft Copilot Chat</a:t>
            </a:r>
          </a:p>
          <a:p>
            <a:r>
              <a:rPr lang="en-US" sz="1400">
                <a:solidFill>
                  <a:srgbClr val="111111"/>
                </a:solidFill>
              </a:rPr>
              <a:t>Citations</a:t>
            </a:r>
          </a:p>
          <a:p>
            <a:r>
              <a:rPr lang="en-US" sz="1400">
                <a:solidFill>
                  <a:srgbClr val="111111"/>
                </a:solidFill>
              </a:rPr>
              <a:t>[ev-01] Overview of Microsoft Copilot Chat</a:t>
            </a:r>
          </a:p>
          <a:p>
            <a:r>
              <a:rPr lang="en-US" sz="1400">
                <a:solidFill>
                  <a:srgbClr val="111111"/>
                </a:solidFill>
              </a:rPr>
              <a:t>[ev-02] Overview of Microsoft Copilot Chat</a:t>
            </a:r>
          </a:p>
          <a:p>
            <a:r>
              <a:rPr lang="en-US" sz="1400">
                <a:solidFill>
                  <a:srgbClr val="111111"/>
                </a:solidFill>
              </a:rPr>
              <a:t>[ev-03] What is Microsoft Copilot?</a:t>
            </a:r>
          </a:p>
          <a:p>
            <a:r>
              <a:rPr lang="en-US" sz="1400">
                <a:solidFill>
                  <a:srgbClr val="111111"/>
                </a:solidFill>
              </a:rPr>
              <a:t>[ev-04] What is Microsoft Copilot?</a:t>
            </a:r>
          </a:p>
          <a:p>
            <a:r>
              <a:rPr lang="en-US" sz="1400">
                <a:solidFill>
                  <a:srgbClr val="111111"/>
                </a:solidFill>
              </a:rPr>
              <a:t>[ev-05] GitHub Copilot · Your AI coding agent · GitHub</a:t>
            </a:r>
          </a:p>
          <a:p>
            <a:r>
              <a:rPr lang="en-US" sz="1400">
                <a:solidFill>
                  <a:srgbClr val="111111"/>
                </a:solidFill>
              </a:rPr>
              <a:t>[ev-06] GitHub Copilot · Your AI coding agent · GitHub</a:t>
            </a:r>
          </a:p>
          <a:p>
            <a:r>
              <a:rPr lang="en-US" sz="1400">
                <a:solidFill>
                  <a:srgbClr val="111111"/>
                </a:solidFill>
              </a:rPr>
              <a:t>[ev-07] Overview - Microsoft Copilot Studio</a:t>
            </a:r>
          </a:p>
          <a:p>
            <a:r>
              <a:rPr lang="en-US" sz="1400">
                <a:solidFill>
                  <a:srgbClr val="111111"/>
                </a:solidFill>
              </a:rPr>
              <a:t>[ev-08] Overview - Microsoft Copilot Studio</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nvSpPr>
        <p:spPr>
          <a:xfrm>
            <a:off x="685800" y="685800"/>
            <a:ext cx="7772400" cy="4572000"/>
          </a:xfrm>
          <a:prstGeom prst="rect">
            <a:avLst/>
          </a:prstGeom>
          <a:noFill/>
          <a:ln>
            <a:noFill/>
          </a:ln>
        </p:spPr>
        <p:txBody>
          <a:bodyPr wrap="square" anchor="t" vertOverflow="clip" horzOverflow="clip"/>
          <a:lstStyle/>
          <a:p>
            <a:r>
              <a:rPr lang="en-US" sz="1400" b="1">
                <a:solidFill>
                  <a:srgbClr val="111111"/>
                </a:solidFill>
              </a:rPr>
              <a:t>1. Choose by job</a:t>
            </a:r>
          </a:p>
          <a:p>
            <a:r>
              <a:rPr lang="en-US" sz="1400">
                <a:solidFill>
                  <a:srgbClr val="111111"/>
                </a:solidFill>
              </a:rPr>
              <a:t>Copilot Chat fits research and drafting. It can summarize web information, rewrite content, analyze files, create images, use agents, and ask supported work questions.</a:t>
            </a:r>
          </a:p>
          <a:p>
            <a:r>
              <a:rPr lang="en-US" sz="1400">
                <a:solidFill>
                  <a:srgbClr val="111111"/>
                </a:solidFill>
              </a:rPr>
              <a:t>Evidence: ev-01 lists Copilot Chat research, generation, file analysis, images, agents, and supported organizational questions. Interpretation: make the task the first routing filter.
Evidence: Copilot Chat supports research, content generation, file analysis, images, agents, and supported organizational questions. [ev-01] Overview of Microsoft Copilot Chat
Evidence: The executive choice is job first, then access, licensing, grounding, and output scope. [ev-01] Overview of Microsoft Copilot Chat</a:t>
            </a:r>
          </a:p>
          <a:p>
            <a:r>
              <a:rPr lang="en-US" sz="1400">
                <a:solidFill>
                  <a:srgbClr val="111111"/>
                </a:solidFill>
              </a:rPr>
              <a:t>Citations</a:t>
            </a:r>
          </a:p>
          <a:p>
            <a:r>
              <a:rPr lang="en-US" sz="1400">
                <a:solidFill>
                  <a:srgbClr val="111111"/>
                </a:solidFill>
              </a:rPr>
              <a:t>[ev-01] Overview of Microsoft Copilot Chat: https://learn.microsoft.com/en-us/copilot/overview</a:t>
            </a:r>
          </a:p>
          <a:p>
            <a:r>
              <a:rPr lang="en-US" sz="1400">
                <a:solidFill>
                  <a:srgbClr val="111111"/>
                </a:solidFill>
              </a:rPr>
              <a:t>[ev-02] Overview of Microsoft Copilot Chat: https://learn.microsoft.com/en-us/copilot/overview</a:t>
            </a:r>
          </a:p>
          <a:p>
            <a:r>
              <a:rPr lang="en-US" sz="1400">
                <a:solidFill>
                  <a:srgbClr val="111111"/>
                </a:solidFill>
              </a:rPr>
              <a:t>[ev-01] Overview of Microsoft Copilot Chat: https://learn.microsoft.com/en-us/copilot/overview</a:t>
            </a:r>
          </a:p>
          <a:p>
            <a:r>
              <a:rPr lang="en-US" sz="1400">
                <a:solidFill>
                  <a:srgbClr val="111111"/>
                </a:solidFill>
              </a:rPr>
              <a:t>[ev-02] Overview of Microsoft Copilot Chat: https://learn.microsoft.com/en-us/copilot/overview</a:t>
            </a:r>
          </a:p>
          <a:p>
            <a:r>
              <a:rPr lang="en-US" sz="1400">
                <a:solidFill>
                  <a:srgbClr val="111111"/>
                </a:solidFill>
              </a:rPr>
              <a:t>[ev-03] What is Microsoft Copilot?: https://learn.microsoft.com/en-us/copilot/microsoft-365/microsoft-365-copilot-overview</a:t>
            </a:r>
          </a:p>
          <a:p>
            <a:r>
              <a:rPr lang="en-US" sz="1400">
                <a:solidFill>
                  <a:srgbClr val="111111"/>
                </a:solidFill>
              </a:rPr>
              <a:t>[ev-04] What is Microsoft Copilot?: https://learn.microsoft.com/en-us/copilot/microsoft-365/microsoft-365-copilot-overview</a:t>
            </a:r>
          </a:p>
          <a:p>
            <a:r>
              <a:rPr lang="en-US" sz="1400">
                <a:solidFill>
                  <a:srgbClr val="111111"/>
                </a:solidFill>
              </a:rPr>
              <a:t>[ev-05] GitHub Copilot · Your AI coding agent · GitHub: https://github.com/features/copilot</a:t>
            </a:r>
          </a:p>
          <a:p>
            <a:r>
              <a:rPr lang="en-US" sz="1400">
                <a:solidFill>
                  <a:srgbClr val="111111"/>
                </a:solidFill>
              </a:rPr>
              <a:t>[ev-07] Overview - Microsoft Copilot Studio: https://learn.microsoft.com/en-us/microsoft-copilot-studio/fundamentals-what-is-copilot-studio</a:t>
            </a:r>
          </a:p>
          <a:p>
            <a:r>
              <a:rPr lang="en-US" sz="1400">
                <a:solidFill>
                  <a:srgbClr val="111111"/>
                </a:solidFill>
              </a:rPr>
              <a:t>[ev-08] Overview - Microsoft Copilot Studio: https://learn.microsoft.com/en-us/microsoft-copilot-studio/fundamentals-what-is-copilot-studio</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nvSpPr>
        <p:spPr>
          <a:xfrm>
            <a:off x="685800" y="685800"/>
            <a:ext cx="7772400" cy="4572000"/>
          </a:xfrm>
          <a:prstGeom prst="rect">
            <a:avLst/>
          </a:prstGeom>
          <a:noFill/>
          <a:ln>
            <a:noFill/>
          </a:ln>
        </p:spPr>
        <p:txBody>
          <a:bodyPr wrap="square" anchor="t" vertOverflow="clip" horzOverflow="clip"/>
          <a:lstStyle/>
          <a:p>
            <a:r>
              <a:rPr lang="en-US" sz="1400" b="1">
                <a:solidFill>
                  <a:srgbClr val="111111"/>
                </a:solidFill>
              </a:rPr>
              <a:t>2. Govern access</a:t>
            </a:r>
          </a:p>
          <a:p>
            <a:r>
              <a:rPr lang="en-US" sz="1400">
                <a:solidFill>
                  <a:srgbClr val="111111"/>
                </a:solidFill>
              </a:rPr>
              <a:t>Microsoft 365 Copilot brings AI into work apps. Grounding, user permissions, compliance controls and license level shape what it can answer for each person.</a:t>
            </a:r>
          </a:p>
          <a:p>
            <a:r>
              <a:rPr lang="en-US" sz="1400">
                <a:solidFill>
                  <a:srgbClr val="111111"/>
                </a:solidFill>
              </a:rPr>
              <a:t>Evidence: ev-03 documents grounding, organizational data, user permissions, and compliance; ev-04 ties the full work-app experience to the Microsoft 365 Copilot add-on license.
Evidence: Microsoft 365 Copilot is shaped by organizational grounding, user permissions, compliance controls, work-app access, and license level. [ev-03] What is Microsoft Copilot?
Evidence: The executive choice is job first, then access, licensing, grounding, and output scope. [ev-01] Overview of Microsoft Copilot Chat</a:t>
            </a:r>
          </a:p>
          <a:p>
            <a:r>
              <a:rPr lang="en-US" sz="1400">
                <a:solidFill>
                  <a:srgbClr val="111111"/>
                </a:solidFill>
              </a:rPr>
              <a:t>Citations</a:t>
            </a:r>
          </a:p>
          <a:p>
            <a:r>
              <a:rPr lang="en-US" sz="1400">
                <a:solidFill>
                  <a:srgbClr val="111111"/>
                </a:solidFill>
              </a:rPr>
              <a:t>[ev-03] What is Microsoft Copilot?: https://learn.microsoft.com/en-us/copilot/microsoft-365/microsoft-365-copilot-overview</a:t>
            </a:r>
          </a:p>
          <a:p>
            <a:r>
              <a:rPr lang="en-US" sz="1400">
                <a:solidFill>
                  <a:srgbClr val="111111"/>
                </a:solidFill>
              </a:rPr>
              <a:t>[ev-04] What is Microsoft Copilot?: https://learn.microsoft.com/en-us/copilot/microsoft-365/microsoft-365-copilot-overview</a:t>
            </a:r>
          </a:p>
          <a:p>
            <a:r>
              <a:rPr lang="en-US" sz="1400">
                <a:solidFill>
                  <a:srgbClr val="111111"/>
                </a:solidFill>
              </a:rPr>
              <a:t>[ev-01] Overview of Microsoft Copilot Chat: https://learn.microsoft.com/en-us/copilot/overview</a:t>
            </a:r>
          </a:p>
          <a:p>
            <a:r>
              <a:rPr lang="en-US" sz="1400">
                <a:solidFill>
                  <a:srgbClr val="111111"/>
                </a:solidFill>
              </a:rPr>
              <a:t>[ev-02] Overview of Microsoft Copilot Chat: https://learn.microsoft.com/en-us/copilot/overview</a:t>
            </a:r>
          </a:p>
          <a:p>
            <a:r>
              <a:rPr lang="en-US" sz="1400">
                <a:solidFill>
                  <a:srgbClr val="111111"/>
                </a:solidFill>
              </a:rPr>
              <a:t>[ev-03] What is Microsoft Copilot?: https://learn.microsoft.com/en-us/copilot/microsoft-365/microsoft-365-copilot-overview</a:t>
            </a:r>
          </a:p>
          <a:p>
            <a:r>
              <a:rPr lang="en-US" sz="1400">
                <a:solidFill>
                  <a:srgbClr val="111111"/>
                </a:solidFill>
              </a:rPr>
              <a:t>[ev-04] What is Microsoft Copilot?: https://learn.microsoft.com/en-us/copilot/microsoft-365/microsoft-365-copilot-overview</a:t>
            </a:r>
          </a:p>
          <a:p>
            <a:r>
              <a:rPr lang="en-US" sz="1400">
                <a:solidFill>
                  <a:srgbClr val="111111"/>
                </a:solidFill>
              </a:rPr>
              <a:t>[ev-05] GitHub Copilot · Your AI coding agent · GitHub: https://github.com/features/copilot</a:t>
            </a:r>
          </a:p>
          <a:p>
            <a:r>
              <a:rPr lang="en-US" sz="1400">
                <a:solidFill>
                  <a:srgbClr val="111111"/>
                </a:solidFill>
              </a:rPr>
              <a:t>[ev-07] Overview - Microsoft Copilot Studio: https://learn.microsoft.com/en-us/microsoft-copilot-studio/fundamentals-what-is-copilot-studio</a:t>
            </a:r>
          </a:p>
          <a:p>
            <a:r>
              <a:rPr lang="en-US" sz="1400">
                <a:solidFill>
                  <a:srgbClr val="111111"/>
                </a:solidFill>
              </a:rPr>
              <a:t>[ev-08] Overview - Microsoft Copilot Studio: https://learn.microsoft.com/en-us/microsoft-copilot-studio/fundamentals-what-is-copilot-studio</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nvSpPr>
        <p:spPr>
          <a:xfrm>
            <a:off x="685800" y="685800"/>
            <a:ext cx="7772400" cy="4572000"/>
          </a:xfrm>
          <a:prstGeom prst="rect">
            <a:avLst/>
          </a:prstGeom>
          <a:noFill/>
          <a:ln>
            <a:noFill/>
          </a:ln>
        </p:spPr>
        <p:txBody>
          <a:bodyPr wrap="square" anchor="t" vertOverflow="clip" horzOverflow="clip"/>
          <a:lstStyle/>
          <a:p>
            <a:r>
              <a:rPr lang="en-US" sz="1400" b="1">
                <a:solidFill>
                  <a:srgbClr val="111111"/>
                </a:solidFill>
              </a:rPr>
              <a:t>3. Separate builders</a:t>
            </a:r>
          </a:p>
          <a:p>
            <a:r>
              <a:rPr lang="en-US" sz="1400">
                <a:solidFill>
                  <a:srgbClr val="111111"/>
                </a:solidFill>
              </a:rPr>
              <a:t>GitHub Copilot fits coding workflows in developer tools. Copilot Studio builds agents and workflows connected to organizational data, systems, and channels for teams.</a:t>
            </a:r>
          </a:p>
          <a:p>
            <a:r>
              <a:rPr lang="en-US" sz="1400">
                <a:solidFill>
                  <a:srgbClr val="111111"/>
                </a:solidFill>
              </a:rPr>
              <a:t>Evidence: ev-05 and ev-06 place GitHub Copilot in coding surfaces; ev-07 and ev-08 define Copilot Studio as a low-code agent and workflow builder connected to organizational systems.
Evidence: GitHub Copilot supports coding work in editors, the command line, and GitHub, including completing code, edits, validation, and workflow support. [ev-05] GitHub Copilot · Your AI coding agent · GitHub
Evidence: Copilot Studio is a low-code route for building agents and workflows connected to organizational data, systems, and channels. [ev-07] Overview - Microsoft Copilot Studio</a:t>
            </a:r>
          </a:p>
          <a:p>
            <a:r>
              <a:rPr lang="en-US" sz="1400">
                <a:solidFill>
                  <a:srgbClr val="111111"/>
                </a:solidFill>
              </a:rPr>
              <a:t>Citations</a:t>
            </a:r>
          </a:p>
          <a:p>
            <a:r>
              <a:rPr lang="en-US" sz="1400">
                <a:solidFill>
                  <a:srgbClr val="111111"/>
                </a:solidFill>
              </a:rPr>
              <a:t>[ev-05] GitHub Copilot · Your AI coding agent · GitHub: https://github.com/features/copilot</a:t>
            </a:r>
          </a:p>
          <a:p>
            <a:r>
              <a:rPr lang="en-US" sz="1400">
                <a:solidFill>
                  <a:srgbClr val="111111"/>
                </a:solidFill>
              </a:rPr>
              <a:t>[ev-06] GitHub Copilot · Your AI coding agent · GitHub: https://github.com/features/copilot</a:t>
            </a:r>
          </a:p>
          <a:p>
            <a:r>
              <a:rPr lang="en-US" sz="1400">
                <a:solidFill>
                  <a:srgbClr val="111111"/>
                </a:solidFill>
              </a:rPr>
              <a:t>[ev-07] Overview - Microsoft Copilot Studio: https://learn.microsoft.com/en-us/microsoft-copilot-studio/fundamentals-what-is-copilot-studio</a:t>
            </a:r>
          </a:p>
          <a:p>
            <a:r>
              <a:rPr lang="en-US" sz="1400">
                <a:solidFill>
                  <a:srgbClr val="111111"/>
                </a:solidFill>
              </a:rPr>
              <a:t>[ev-08] Overview - Microsoft Copilot Studio: https://learn.microsoft.com/en-us/microsoft-copilot-studio/fundamentals-what-is-copilot-studio</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nvSpPr>
        <p:spPr>
          <a:xfrm>
            <a:off x="685800" y="685800"/>
            <a:ext cx="7772400" cy="4572000"/>
          </a:xfrm>
          <a:prstGeom prst="rect">
            <a:avLst/>
          </a:prstGeom>
          <a:noFill/>
          <a:ln>
            <a:noFill/>
          </a:ln>
        </p:spPr>
        <p:txBody>
          <a:bodyPr wrap="square" anchor="t" vertOverflow="clip" horzOverflow="clip"/>
          <a:lstStyle/>
          <a:p>
            <a:r>
              <a:rPr lang="en-US" sz="1400" b="1">
                <a:solidFill>
                  <a:srgbClr val="111111"/>
                </a:solidFill>
              </a:rPr>
              <a:t>4. Run decision checks</a:t>
            </a:r>
          </a:p>
          <a:p>
            <a:r>
              <a:rPr lang="en-US" sz="1400">
                <a:solidFill>
                  <a:srgbClr val="111111"/>
                </a:solidFill>
              </a:rPr>
              <a:t>Make the decision after the fit is clear. Check permissions, license tier, and grounding so leaders know what each output can and cannot use in practice.</a:t>
            </a:r>
          </a:p>
          <a:p>
            <a:r>
              <a:rPr lang="en-US" sz="1400">
                <a:solidFill>
                  <a:srgbClr val="111111"/>
                </a:solidFill>
              </a:rPr>
              <a:t>Evidence: ev-02 and ev-03 show available information depends on access point, license, grounding, and permissions. Interpretation: output scope should be part of the executive decision gate.
Evidence: Microsoft 365 Copilot is shaped by organizational grounding, user permissions, compliance controls, work-app access, and license level. [ev-03] What is Microsoft Copilot?
Evidence: The executive choice is job first, then access, licensing, grounding, and output scope. [ev-01] Overview of Microsoft Copilot Chat</a:t>
            </a:r>
          </a:p>
          <a:p>
            <a:r>
              <a:rPr lang="en-US" sz="1400">
                <a:solidFill>
                  <a:srgbClr val="111111"/>
                </a:solidFill>
              </a:rPr>
              <a:t>Citations</a:t>
            </a:r>
          </a:p>
          <a:p>
            <a:r>
              <a:rPr lang="en-US" sz="1400">
                <a:solidFill>
                  <a:srgbClr val="111111"/>
                </a:solidFill>
              </a:rPr>
              <a:t>[ev-03] What is Microsoft Copilot?: https://learn.microsoft.com/en-us/copilot/microsoft-365/microsoft-365-copilot-overview</a:t>
            </a:r>
          </a:p>
          <a:p>
            <a:r>
              <a:rPr lang="en-US" sz="1400">
                <a:solidFill>
                  <a:srgbClr val="111111"/>
                </a:solidFill>
              </a:rPr>
              <a:t>[ev-04] What is Microsoft Copilot?: https://learn.microsoft.com/en-us/copilot/microsoft-365/microsoft-365-copilot-overview</a:t>
            </a:r>
          </a:p>
          <a:p>
            <a:r>
              <a:rPr lang="en-US" sz="1400">
                <a:solidFill>
                  <a:srgbClr val="111111"/>
                </a:solidFill>
              </a:rPr>
              <a:t>[ev-01] Overview of Microsoft Copilot Chat: https://learn.microsoft.com/en-us/copilot/overview</a:t>
            </a:r>
          </a:p>
          <a:p>
            <a:r>
              <a:rPr lang="en-US" sz="1400">
                <a:solidFill>
                  <a:srgbClr val="111111"/>
                </a:solidFill>
              </a:rPr>
              <a:t>[ev-02] Overview of Microsoft Copilot Chat: https://learn.microsoft.com/en-us/copilot/overview</a:t>
            </a:r>
          </a:p>
          <a:p>
            <a:r>
              <a:rPr lang="en-US" sz="1400">
                <a:solidFill>
                  <a:srgbClr val="111111"/>
                </a:solidFill>
              </a:rPr>
              <a:t>[ev-03] What is Microsoft Copilot?: https://learn.microsoft.com/en-us/copilot/microsoft-365/microsoft-365-copilot-overview</a:t>
            </a:r>
          </a:p>
          <a:p>
            <a:r>
              <a:rPr lang="en-US" sz="1400">
                <a:solidFill>
                  <a:srgbClr val="111111"/>
                </a:solidFill>
              </a:rPr>
              <a:t>[ev-04] What is Microsoft Copilot?: https://learn.microsoft.com/en-us/copilot/microsoft-365/microsoft-365-copilot-overview</a:t>
            </a:r>
          </a:p>
          <a:p>
            <a:r>
              <a:rPr lang="en-US" sz="1400">
                <a:solidFill>
                  <a:srgbClr val="111111"/>
                </a:solidFill>
              </a:rPr>
              <a:t>[ev-05] GitHub Copilot · Your AI coding agent · GitHub: https://github.com/features/copilot</a:t>
            </a:r>
          </a:p>
          <a:p>
            <a:r>
              <a:rPr lang="en-US" sz="1400">
                <a:solidFill>
                  <a:srgbClr val="111111"/>
                </a:solidFill>
              </a:rPr>
              <a:t>[ev-07] Overview - Microsoft Copilot Studio: https://learn.microsoft.com/en-us/microsoft-copilot-studio/fundamentals-what-is-copilot-studio</a:t>
            </a:r>
          </a:p>
          <a:p>
            <a:r>
              <a:rPr lang="en-US" sz="1400">
                <a:solidFill>
                  <a:srgbClr val="111111"/>
                </a:solidFill>
              </a:rPr>
              <a:t>[ev-08] Overview - Microsoft Copilot Studio: https://learn.microsoft.com/en-us/microsoft-copilot-studio/fundamentals-what-is-copilot-studio</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nvSpPr>
        <p:spPr>
          <a:xfrm>
            <a:off x="685800" y="685800"/>
            <a:ext cx="7772400" cy="4572000"/>
          </a:xfrm>
          <a:prstGeom prst="rect">
            <a:avLst/>
          </a:prstGeom>
          <a:noFill/>
          <a:ln>
            <a:noFill/>
          </a:ln>
        </p:spPr>
        <p:txBody>
          <a:bodyPr wrap="square" anchor="t" vertOverflow="clip" horzOverflow="clip"/>
          <a:lstStyle/>
          <a:p>
            <a:r>
              <a:rPr lang="en-US" sz="1400" b="1">
                <a:solidFill>
                  <a:srgbClr val="111111"/>
                </a:solidFill>
              </a:rPr>
              <a:t>Sources. Every claim traces to one.</a:t>
            </a:r>
          </a:p>
          <a:p>
            <a:r>
              <a:rPr lang="en-US" sz="1400">
                <a:solidFill>
                  <a:srgbClr val="111111"/>
                </a:solidFill>
              </a:rPr>
              <a:t>Bottom line: Copilot is a family, not one tool; choose Chat, Microsoft 365, GitHub, or Studio by job, then verify access, licensing, and grounding.</a:t>
            </a:r>
          </a:p>
          <a:p>
            <a:r>
              <a:rPr lang="en-US" sz="1400">
                <a:solidFill>
                  <a:srgbClr val="111111"/>
                </a:solidFill>
              </a:rPr>
              <a:t>Sources for every claim in this deck.</a:t>
            </a:r>
          </a:p>
          <a:p>
            <a:r>
              <a:rPr lang="en-US" sz="1400">
                <a:solidFill>
                  <a:srgbClr val="111111"/>
                </a:solidFill>
              </a:rPr>
              <a:t>Citations</a:t>
            </a:r>
          </a:p>
          <a:p>
            <a:r>
              <a:rPr lang="en-US" sz="1400">
                <a:solidFill>
                  <a:srgbClr val="111111"/>
                </a:solidFill>
              </a:rPr>
              <a:t>Overview of Microsoft Copilot Chat: https://learn.microsoft.com/en-us/copilot/overview</a:t>
            </a:r>
          </a:p>
          <a:p>
            <a:r>
              <a:rPr lang="en-US" sz="1400">
                <a:solidFill>
                  <a:srgbClr val="111111"/>
                </a:solidFill>
              </a:rPr>
              <a:t>Overview of Microsoft Copilot Chat: https://learn.microsoft.com/en-us/copilot/overview</a:t>
            </a:r>
          </a:p>
          <a:p>
            <a:r>
              <a:rPr lang="en-US" sz="1400">
                <a:solidFill>
                  <a:srgbClr val="111111"/>
                </a:solidFill>
              </a:rPr>
              <a:t>What is Microsoft Copilot?: https://learn.microsoft.com/en-us/copilot/microsoft-365/microsoft-365-copilot-overview</a:t>
            </a:r>
          </a:p>
          <a:p>
            <a:r>
              <a:rPr lang="en-US" sz="1400">
                <a:solidFill>
                  <a:srgbClr val="111111"/>
                </a:solidFill>
              </a:rPr>
              <a:t>What is Microsoft Copilot?: https://learn.microsoft.com/en-us/copilot/microsoft-365/microsoft-365-copilot-overview</a:t>
            </a:r>
          </a:p>
          <a:p>
            <a:r>
              <a:rPr lang="en-US" sz="1400">
                <a:solidFill>
                  <a:srgbClr val="111111"/>
                </a:solidFill>
              </a:rPr>
              <a:t>GitHub Copilot · Your AI coding agent · GitHub: https://github.com/features/copilot</a:t>
            </a:r>
          </a:p>
          <a:p>
            <a:r>
              <a:rPr lang="en-US" sz="1400">
                <a:solidFill>
                  <a:srgbClr val="111111"/>
                </a:solidFill>
              </a:rPr>
              <a:t>GitHub Copilot · Your AI coding agent · GitHub: https://github.com/features/copilot</a:t>
            </a:r>
          </a:p>
          <a:p>
            <a:r>
              <a:rPr lang="en-US" sz="1400">
                <a:solidFill>
                  <a:srgbClr val="111111"/>
                </a:solidFill>
              </a:rPr>
              <a:t>Overview - Microsoft Copilot Studio: https://learn.microsoft.com/en-us/microsoft-copilot-studio/fundamentals-what-is-copilot-studio</a:t>
            </a:r>
          </a:p>
          <a:p>
            <a:r>
              <a:rPr lang="en-US" sz="1400">
                <a:solidFill>
                  <a:srgbClr val="111111"/>
                </a:solidFill>
              </a:rPr>
              <a:t>Overview - Microsoft Copilot Studio: https://learn.microsoft.com/en-us/microsoft-copilot-studio/fundamentals-what-is-copilot-studio</a:t>
            </a: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marL="0" indent="0">
        <a:defRPr sz="1800" kern="1200">
          <a:solidFill>
            <a:schemeClr val="tx1"/>
          </a:solidFill>
          <a:latin typeface="+mn-lt"/>
          <a:ea typeface="+mn-ea"/>
          <a:cs typeface="+mn-cs"/>
        </a:defRPr>
      </a:lvl1pPr>
    </p:titleStyle>
    <p:bodyStyle>
      <a:lvl1pPr algn="l" defTabSz="914400" marL="0" indent="0">
        <a:defRPr sz="1800" kern="1200">
          <a:solidFill>
            <a:schemeClr val="tx1"/>
          </a:solidFill>
          <a:latin typeface="+mn-lt"/>
          <a:ea typeface="+mn-ea"/>
          <a:cs typeface="+mn-cs"/>
        </a:defRPr>
      </a:lvl1pPr>
    </p:bodyStyle>
    <p:otherStyle>
      <a:lvl1pPr algn="l" defTabSz="914400" marL="0" indent="0">
        <a:defRPr sz="1800" kern="1200">
          <a:solidFill>
            <a:schemeClr val="tx1"/>
          </a:solidFill>
          <a:latin typeface="+mn-lt"/>
          <a:ea typeface="+mn-ea"/>
          <a:cs typeface="+mn-cs"/>
        </a:defRPr>
      </a:lvl1pPr>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 Id="rIdImage1" Type="http://schemas.openxmlformats.org/officeDocument/2006/relationships/image" Target="../media/visual-choose-by-job-599e07aaa258.png"/></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 Id="rIdImage1" Type="http://schemas.openxmlformats.org/officeDocument/2006/relationships/image" Target="../media/visual-govern-access-2d41a0739bce.png"/></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 Id="rIdImage1" Type="http://schemas.openxmlformats.org/officeDocument/2006/relationships/image" Target="../media/visual-builder-routes-8f9e13158913.png"/></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 Id="rIdImage1" Type="http://schemas.openxmlformats.org/officeDocument/2006/relationships/image" Target="../media/visual-decision-checks-6c92b2551ab9.png"/></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p:sp>
        <p:nvSpPr>
          <p:cNvPr id="2" name="Brand band"/>
          <p:cNvSpPr/>
          <p:nvPr/>
        </p:nvSpPr>
        <p:spPr>
          <a:xfrm>
            <a:off x="0" y="0"/>
            <a:ext cx="12192000" cy="502920"/>
          </a:xfrm>
          <a:prstGeom prst="rect">
            <a:avLst/>
          </a:prstGeom>
          <a:solidFill>
            <a:srgbClr val="091F2C"/>
          </a:solidFill>
          <a:ln>
            <a:noFill/>
          </a:ln>
        </p:spPr>
      </p:sp>
      <p:sp>
        <p:nvSpPr>
          <p:cNvPr id="3" name="Highlight rule"/>
          <p:cNvSpPr/>
          <p:nvPr/>
        </p:nvSpPr>
        <p:spPr>
          <a:xfrm>
            <a:off x="0" y="502920"/>
            <a:ext cx="12192000" cy="45720"/>
          </a:xfrm>
          <a:prstGeom prst="rect">
            <a:avLst/>
          </a:prstGeom>
          <a:solidFill>
            <a:srgbClr val="50E6FF"/>
          </a:solidFill>
          <a:ln>
            <a:noFill/>
          </a:ln>
        </p:spPr>
      </p:sp>
      <p:sp>
        <p:nvSpPr>
          <p:cNvPr id="4" name="Deck kicker"/>
          <p:cNvSpPr txBox="1"/>
          <p:nvPr/>
        </p:nvSpPr>
        <p:spPr>
          <a:xfrm>
            <a:off x="685800" y="0"/>
            <a:ext cx="8400000" cy="50292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1100" b="1" cap="all" spc="120">
                <a:solidFill>
                  <a:srgbClr val="FFFFFF"/>
                </a:solidFill>
              </a:rPr>
              <a:t>Copilot</a:t>
            </a:r>
          </a:p>
        </p:txBody>
      </p:sp>
      <p:sp>
        <p:nvSpPr>
          <p:cNvPr id="5" name="Slide number"/>
          <p:cNvSpPr txBox="1"/>
          <p:nvPr/>
        </p:nvSpPr>
        <p:spPr>
          <a:xfrm>
            <a:off x="9100000" y="0"/>
            <a:ext cx="2406400" cy="502920"/>
          </a:xfrm>
          <a:prstGeom prst="rect">
            <a:avLst/>
          </a:prstGeom>
          <a:noFill/>
          <a:ln>
            <a:noFill/>
          </a:ln>
        </p:spPr>
        <p:txBody>
          <a:bodyPr wrap="square" lIns="182880" tIns="91440" rIns="182880" bIns="91440" anchor="ctr">
            <a:normAutofit/>
          </a:bodyPr>
          <a:lstStyle/>
          <a:p>
            <a:pPr algn="r"/>
            <a:r>
              <a:rPr lang="en-US" sz="1100" b="1" cap="all" spc="120">
                <a:solidFill>
                  <a:srgbClr val="BAC0C4"/>
                </a:solidFill>
              </a:rPr>
              <a:t>1 / 6</a:t>
            </a:r>
          </a:p>
        </p:txBody>
      </p:sp>
      <p:sp>
        <p:nvSpPr>
          <p:cNvPr id="6" name="Title"/>
          <p:cNvSpPr txBox="1"/>
          <p:nvPr/>
        </p:nvSpPr>
        <p:spPr>
          <a:xfrm>
            <a:off x="685800" y="1100000"/>
            <a:ext cx="10820400" cy="200000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3600" b="1">
                <a:solidFill>
                  <a:srgbClr val="071923"/>
                </a:solidFill>
                <a:latin typeface="+mj-lt"/>
              </a:rPr>
              <a:t>Copilot:</a:t>
            </a:r>
            <a:r>
              <a:rPr lang="en-US" sz="3600" b="1">
                <a:solidFill>
                  <a:srgbClr val="006EC3"/>
                </a:solidFill>
                <a:latin typeface="+mj-lt"/>
              </a:rPr>
              <a:t> choose the right AI assistant for the job</a:t>
            </a:r>
          </a:p>
        </p:txBody>
      </p:sp>
      <p:sp>
        <p:nvSpPr>
          <p:cNvPr id="7" name="Summary"/>
          <p:cNvSpPr txBox="1"/>
          <p:nvPr/>
        </p:nvSpPr>
        <p:spPr>
          <a:xfrm>
            <a:off x="685800" y="3150000"/>
            <a:ext cx="9600000" cy="140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800">
                <a:solidFill>
                  <a:srgbClr val="626C71"/>
                </a:solidFill>
              </a:rPr>
              <a:t>Bottom line: Copilot is a family, not one tool; choose Chat, Microsoft 365, GitHub, or Studio by job, then verify access, licensing, and grounding.</a:t>
            </a:r>
          </a:p>
        </p:txBody>
      </p:sp>
      <p:sp>
        <p:nvSpPr>
          <p:cNvPr id="8" name="Decision"/>
          <p:cNvSpPr/>
          <p:nvPr/>
        </p:nvSpPr>
        <p:spPr>
          <a:xfrm>
            <a:off x="685800" y="4650000"/>
            <a:ext cx="10820400" cy="1000000"/>
          </a:xfrm>
          <a:prstGeom prst="roundRect">
            <a:avLst>
              <a:gd name="adj" fmla="val 6000"/>
            </a:avLst>
          </a:prstGeom>
          <a:solidFill>
            <a:srgbClr val="E5FBFF"/>
          </a:solidFill>
          <a:ln w="12700">
            <a:solidFill>
              <a:srgbClr val="328F9E"/>
            </a:solidFill>
          </a:ln>
        </p:spPr>
        <p:txBody>
          <a:bodyPr wrap="square" lIns="182880" tIns="91440" rIns="182880" bIns="91440" anchor="ctr">
            <a:normAutofit/>
          </a:bodyPr>
          <a:lstStyle/>
          <a:p>
            <a:pPr algn="l">
              <a:lnSpc>
                <a:spcPct val="105000"/>
              </a:lnSpc>
              <a:spcAft>
                <a:spcPts val="0"/>
              </a:spcAft>
            </a:pPr>
            <a:r>
              <a:rPr lang="en-US" sz="1400" b="1">
                <a:solidFill>
                  <a:srgbClr val="006EC3"/>
                </a:solidFill>
              </a:rPr>
              <a:t>DECISION  </a:t>
            </a:r>
            <a:r>
              <a:rPr lang="en-US" sz="2000" b="1">
                <a:solidFill>
                  <a:srgbClr val="071923"/>
                </a:solidFill>
              </a:rPr>
              <a:t>Choose by job; verify access, licensing, grounding, and output scope.</a:t>
            </a:r>
          </a:p>
        </p:txBody>
      </p:sp>
      <p:sp>
        <p:nvSpPr>
          <p:cNvPr id="9" name="Footer"/>
          <p:cNvSpPr txBox="1"/>
          <p:nvPr/>
        </p:nvSpPr>
        <p:spPr>
          <a:xfrm>
            <a:off x="685800" y="6250000"/>
            <a:ext cx="10820400" cy="42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000">
                <a:solidFill>
                  <a:srgbClr val="626C71"/>
                </a:solidFill>
              </a:rPr>
              <a:t>copilot-2026-11-am-michael-kokoro-onnx</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p:sp>
        <p:nvSpPr>
          <p:cNvPr id="2" name="Brand band"/>
          <p:cNvSpPr/>
          <p:nvPr/>
        </p:nvSpPr>
        <p:spPr>
          <a:xfrm>
            <a:off x="0" y="0"/>
            <a:ext cx="12192000" cy="502920"/>
          </a:xfrm>
          <a:prstGeom prst="rect">
            <a:avLst/>
          </a:prstGeom>
          <a:solidFill>
            <a:srgbClr val="091F2C"/>
          </a:solidFill>
          <a:ln>
            <a:noFill/>
          </a:ln>
        </p:spPr>
      </p:sp>
      <p:sp>
        <p:nvSpPr>
          <p:cNvPr id="3" name="Highlight rule"/>
          <p:cNvSpPr/>
          <p:nvPr/>
        </p:nvSpPr>
        <p:spPr>
          <a:xfrm>
            <a:off x="0" y="502920"/>
            <a:ext cx="12192000" cy="45720"/>
          </a:xfrm>
          <a:prstGeom prst="rect">
            <a:avLst/>
          </a:prstGeom>
          <a:solidFill>
            <a:srgbClr val="50E6FF"/>
          </a:solidFill>
          <a:ln>
            <a:noFill/>
          </a:ln>
        </p:spPr>
      </p:sp>
      <p:sp>
        <p:nvSpPr>
          <p:cNvPr id="4" name="Deck kicker"/>
          <p:cNvSpPr txBox="1"/>
          <p:nvPr/>
        </p:nvSpPr>
        <p:spPr>
          <a:xfrm>
            <a:off x="685800" y="0"/>
            <a:ext cx="8400000" cy="50292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1100" b="1" cap="all" spc="120">
                <a:solidFill>
                  <a:srgbClr val="FFFFFF"/>
                </a:solidFill>
              </a:rPr>
              <a:t>Copilot</a:t>
            </a:r>
          </a:p>
        </p:txBody>
      </p:sp>
      <p:sp>
        <p:nvSpPr>
          <p:cNvPr id="5" name="Slide number"/>
          <p:cNvSpPr txBox="1"/>
          <p:nvPr/>
        </p:nvSpPr>
        <p:spPr>
          <a:xfrm>
            <a:off x="9100000" y="0"/>
            <a:ext cx="2406400" cy="502920"/>
          </a:xfrm>
          <a:prstGeom prst="rect">
            <a:avLst/>
          </a:prstGeom>
          <a:noFill/>
          <a:ln>
            <a:noFill/>
          </a:ln>
        </p:spPr>
        <p:txBody>
          <a:bodyPr wrap="square" lIns="182880" tIns="91440" rIns="182880" bIns="91440" anchor="ctr">
            <a:normAutofit/>
          </a:bodyPr>
          <a:lstStyle/>
          <a:p>
            <a:pPr algn="r"/>
            <a:r>
              <a:rPr lang="en-US" sz="1100" b="1" cap="all" spc="120">
                <a:solidFill>
                  <a:srgbClr val="BAC0C4"/>
                </a:solidFill>
              </a:rPr>
              <a:t>2 / 6</a:t>
            </a:r>
          </a:p>
        </p:txBody>
      </p:sp>
      <p:sp>
        <p:nvSpPr>
          <p:cNvPr id="6" name="Title"/>
          <p:cNvSpPr txBox="1"/>
          <p:nvPr/>
        </p:nvSpPr>
        <p:spPr>
          <a:xfrm>
            <a:off x="685800" y="700000"/>
            <a:ext cx="10820400" cy="115000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2900" b="1">
                <a:solidFill>
                  <a:srgbClr val="071923"/>
                </a:solidFill>
                <a:latin typeface="+mj-lt"/>
              </a:rPr>
              <a:t>1.</a:t>
            </a:r>
            <a:r>
              <a:rPr lang="en-US" sz="2900" b="1">
                <a:solidFill>
                  <a:srgbClr val="006EC3"/>
                </a:solidFill>
                <a:latin typeface="+mj-lt"/>
              </a:rPr>
              <a:t> Choose by job</a:t>
            </a:r>
          </a:p>
        </p:txBody>
      </p:sp>
      <p:sp>
        <p:nvSpPr>
          <p:cNvPr id="7" name="Body"/>
          <p:cNvSpPr txBox="1"/>
          <p:nvPr/>
        </p:nvSpPr>
        <p:spPr>
          <a:xfrm>
            <a:off x="685800" y="1950000"/>
            <a:ext cx="3900000" cy="390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2400">
                <a:solidFill>
                  <a:srgbClr val="071923"/>
                </a:solidFill>
              </a:rPr>
              <a:t>Copilot Chat fits research and drafting. It can summarize web information, rewrite content, analyze files, create images, use agents, and ask supported work questions.</a:t>
            </a:r>
          </a:p>
        </p:txBody>
      </p:sp>
      <p:sp>
        <p:nvSpPr>
          <p:cNvPr id="8" name="Accent rule"/>
          <p:cNvSpPr/>
          <p:nvPr/>
        </p:nvSpPr>
        <p:spPr>
          <a:xfrm>
            <a:off x="548640" y="2000000"/>
            <a:ext cx="45720" cy="3800000"/>
          </a:xfrm>
          <a:prstGeom prst="rect">
            <a:avLst/>
          </a:prstGeom>
          <a:solidFill>
            <a:srgbClr val="006EC3"/>
          </a:solidFill>
          <a:ln>
            <a:noFill/>
          </a:ln>
        </p:spPr>
      </p:sp>
      <p:pic>
        <p:nvPicPr>
          <p:cNvPr id="9" name="Asset visual-choose-by-job" descr="Route Copilot choices by the job the leader needs done. (mermaid diagram)"/>
          <p:cNvPicPr>
            <a:picLocks noChangeAspect="1"/>
          </p:cNvPicPr>
          <p:nvPr/>
        </p:nvPicPr>
        <p:blipFill>
          <a:blip r:embed="rIdImage1"/>
          <a:stretch>
            <a:fillRect/>
          </a:stretch>
        </p:blipFill>
        <p:spPr>
          <a:xfrm>
            <a:off x="5000000" y="2221875"/>
            <a:ext cx="6500000" cy="3656250"/>
          </a:xfrm>
          <a:prstGeom prst="rect">
            <a:avLst/>
          </a:prstGeom>
          <a:ln>
            <a:solidFill>
              <a:srgbClr val="D9D9D9"/>
            </a:solidFill>
          </a:ln>
        </p:spPr>
      </p:pic>
      <p:sp>
        <p:nvSpPr>
          <p:cNvPr id="10" name="Footer"/>
          <p:cNvSpPr txBox="1"/>
          <p:nvPr/>
        </p:nvSpPr>
        <p:spPr>
          <a:xfrm>
            <a:off x="685800" y="6250000"/>
            <a:ext cx="10820400" cy="42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000">
                <a:solidFill>
                  <a:srgbClr val="626C71"/>
                </a:solidFill>
              </a:rPr>
              <a:t>Sources: Overview of Microsoft Copilot Chat  ·  What is Microsoft Copilot?  ·  GitHub Copilot · Your AI coding agent · GitHub  ·  +1 more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p:sp>
        <p:nvSpPr>
          <p:cNvPr id="2" name="Brand band"/>
          <p:cNvSpPr/>
          <p:nvPr/>
        </p:nvSpPr>
        <p:spPr>
          <a:xfrm>
            <a:off x="0" y="0"/>
            <a:ext cx="12192000" cy="502920"/>
          </a:xfrm>
          <a:prstGeom prst="rect">
            <a:avLst/>
          </a:prstGeom>
          <a:solidFill>
            <a:srgbClr val="091F2C"/>
          </a:solidFill>
          <a:ln>
            <a:noFill/>
          </a:ln>
        </p:spPr>
      </p:sp>
      <p:sp>
        <p:nvSpPr>
          <p:cNvPr id="3" name="Highlight rule"/>
          <p:cNvSpPr/>
          <p:nvPr/>
        </p:nvSpPr>
        <p:spPr>
          <a:xfrm>
            <a:off x="0" y="502920"/>
            <a:ext cx="12192000" cy="45720"/>
          </a:xfrm>
          <a:prstGeom prst="rect">
            <a:avLst/>
          </a:prstGeom>
          <a:solidFill>
            <a:srgbClr val="50E6FF"/>
          </a:solidFill>
          <a:ln>
            <a:noFill/>
          </a:ln>
        </p:spPr>
      </p:sp>
      <p:sp>
        <p:nvSpPr>
          <p:cNvPr id="4" name="Deck kicker"/>
          <p:cNvSpPr txBox="1"/>
          <p:nvPr/>
        </p:nvSpPr>
        <p:spPr>
          <a:xfrm>
            <a:off x="685800" y="0"/>
            <a:ext cx="8400000" cy="50292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1100" b="1" cap="all" spc="120">
                <a:solidFill>
                  <a:srgbClr val="FFFFFF"/>
                </a:solidFill>
              </a:rPr>
              <a:t>Copilot</a:t>
            </a:r>
          </a:p>
        </p:txBody>
      </p:sp>
      <p:sp>
        <p:nvSpPr>
          <p:cNvPr id="5" name="Slide number"/>
          <p:cNvSpPr txBox="1"/>
          <p:nvPr/>
        </p:nvSpPr>
        <p:spPr>
          <a:xfrm>
            <a:off x="9100000" y="0"/>
            <a:ext cx="2406400" cy="502920"/>
          </a:xfrm>
          <a:prstGeom prst="rect">
            <a:avLst/>
          </a:prstGeom>
          <a:noFill/>
          <a:ln>
            <a:noFill/>
          </a:ln>
        </p:spPr>
        <p:txBody>
          <a:bodyPr wrap="square" lIns="182880" tIns="91440" rIns="182880" bIns="91440" anchor="ctr">
            <a:normAutofit/>
          </a:bodyPr>
          <a:lstStyle/>
          <a:p>
            <a:pPr algn="r"/>
            <a:r>
              <a:rPr lang="en-US" sz="1100" b="1" cap="all" spc="120">
                <a:solidFill>
                  <a:srgbClr val="BAC0C4"/>
                </a:solidFill>
              </a:rPr>
              <a:t>3 / 6</a:t>
            </a:r>
          </a:p>
        </p:txBody>
      </p:sp>
      <p:sp>
        <p:nvSpPr>
          <p:cNvPr id="6" name="Title"/>
          <p:cNvSpPr txBox="1"/>
          <p:nvPr/>
        </p:nvSpPr>
        <p:spPr>
          <a:xfrm>
            <a:off x="685800" y="700000"/>
            <a:ext cx="10820400" cy="115000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2900" b="1">
                <a:solidFill>
                  <a:srgbClr val="071923"/>
                </a:solidFill>
                <a:latin typeface="+mj-lt"/>
              </a:rPr>
              <a:t>2.</a:t>
            </a:r>
            <a:r>
              <a:rPr lang="en-US" sz="2900" b="1">
                <a:solidFill>
                  <a:srgbClr val="006EC3"/>
                </a:solidFill>
                <a:latin typeface="+mj-lt"/>
              </a:rPr>
              <a:t> Govern access</a:t>
            </a:r>
          </a:p>
        </p:txBody>
      </p:sp>
      <p:sp>
        <p:nvSpPr>
          <p:cNvPr id="7" name="Body"/>
          <p:cNvSpPr txBox="1"/>
          <p:nvPr/>
        </p:nvSpPr>
        <p:spPr>
          <a:xfrm>
            <a:off x="685800" y="1950000"/>
            <a:ext cx="3900000" cy="390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2500">
                <a:solidFill>
                  <a:srgbClr val="071923"/>
                </a:solidFill>
              </a:rPr>
              <a:t>Microsoft 365 Copilot brings AI into work apps. Grounding, user permissions, compliance controls and license level shape what it can answer for each person.</a:t>
            </a:r>
          </a:p>
        </p:txBody>
      </p:sp>
      <p:sp>
        <p:nvSpPr>
          <p:cNvPr id="8" name="Accent rule"/>
          <p:cNvSpPr/>
          <p:nvPr/>
        </p:nvSpPr>
        <p:spPr>
          <a:xfrm>
            <a:off x="548640" y="2000000"/>
            <a:ext cx="45720" cy="3800000"/>
          </a:xfrm>
          <a:prstGeom prst="rect">
            <a:avLst/>
          </a:prstGeom>
          <a:solidFill>
            <a:srgbClr val="006EC3"/>
          </a:solidFill>
          <a:ln>
            <a:noFill/>
          </a:ln>
        </p:spPr>
      </p:sp>
      <p:pic>
        <p:nvPicPr>
          <p:cNvPr id="9" name="Asset visual-govern-access" descr="Access governance makes the permitted information boundary explicit. (excalidraw diagram)"/>
          <p:cNvPicPr>
            <a:picLocks noChangeAspect="1"/>
          </p:cNvPicPr>
          <p:nvPr/>
        </p:nvPicPr>
        <p:blipFill>
          <a:blip r:embed="rIdImage1"/>
          <a:stretch>
            <a:fillRect/>
          </a:stretch>
        </p:blipFill>
        <p:spPr>
          <a:xfrm>
            <a:off x="5000000" y="2221875"/>
            <a:ext cx="6500000" cy="3656250"/>
          </a:xfrm>
          <a:prstGeom prst="rect">
            <a:avLst/>
          </a:prstGeom>
          <a:ln>
            <a:solidFill>
              <a:srgbClr val="D9D9D9"/>
            </a:solidFill>
          </a:ln>
        </p:spPr>
      </p:pic>
      <p:sp>
        <p:nvSpPr>
          <p:cNvPr id="10" name="Footer"/>
          <p:cNvSpPr txBox="1"/>
          <p:nvPr/>
        </p:nvSpPr>
        <p:spPr>
          <a:xfrm>
            <a:off x="685800" y="6250000"/>
            <a:ext cx="10820400" cy="42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000">
                <a:solidFill>
                  <a:srgbClr val="626C71"/>
                </a:solidFill>
              </a:rPr>
              <a:t>Sources: What is Microsoft Copilot?  ·  Overview of Microsoft Copilot Chat  ·  GitHub Copilot · Your AI coding agent · GitHub  ·  +1 more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p:sp>
        <p:nvSpPr>
          <p:cNvPr id="2" name="Brand band"/>
          <p:cNvSpPr/>
          <p:nvPr/>
        </p:nvSpPr>
        <p:spPr>
          <a:xfrm>
            <a:off x="0" y="0"/>
            <a:ext cx="12192000" cy="502920"/>
          </a:xfrm>
          <a:prstGeom prst="rect">
            <a:avLst/>
          </a:prstGeom>
          <a:solidFill>
            <a:srgbClr val="091F2C"/>
          </a:solidFill>
          <a:ln>
            <a:noFill/>
          </a:ln>
        </p:spPr>
      </p:sp>
      <p:sp>
        <p:nvSpPr>
          <p:cNvPr id="3" name="Highlight rule"/>
          <p:cNvSpPr/>
          <p:nvPr/>
        </p:nvSpPr>
        <p:spPr>
          <a:xfrm>
            <a:off x="0" y="502920"/>
            <a:ext cx="12192000" cy="45720"/>
          </a:xfrm>
          <a:prstGeom prst="rect">
            <a:avLst/>
          </a:prstGeom>
          <a:solidFill>
            <a:srgbClr val="50E6FF"/>
          </a:solidFill>
          <a:ln>
            <a:noFill/>
          </a:ln>
        </p:spPr>
      </p:sp>
      <p:sp>
        <p:nvSpPr>
          <p:cNvPr id="4" name="Deck kicker"/>
          <p:cNvSpPr txBox="1"/>
          <p:nvPr/>
        </p:nvSpPr>
        <p:spPr>
          <a:xfrm>
            <a:off x="685800" y="0"/>
            <a:ext cx="8400000" cy="50292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1100" b="1" cap="all" spc="120">
                <a:solidFill>
                  <a:srgbClr val="FFFFFF"/>
                </a:solidFill>
              </a:rPr>
              <a:t>Copilot</a:t>
            </a:r>
          </a:p>
        </p:txBody>
      </p:sp>
      <p:sp>
        <p:nvSpPr>
          <p:cNvPr id="5" name="Slide number"/>
          <p:cNvSpPr txBox="1"/>
          <p:nvPr/>
        </p:nvSpPr>
        <p:spPr>
          <a:xfrm>
            <a:off x="9100000" y="0"/>
            <a:ext cx="2406400" cy="502920"/>
          </a:xfrm>
          <a:prstGeom prst="rect">
            <a:avLst/>
          </a:prstGeom>
          <a:noFill/>
          <a:ln>
            <a:noFill/>
          </a:ln>
        </p:spPr>
        <p:txBody>
          <a:bodyPr wrap="square" lIns="182880" tIns="91440" rIns="182880" bIns="91440" anchor="ctr">
            <a:normAutofit/>
          </a:bodyPr>
          <a:lstStyle/>
          <a:p>
            <a:pPr algn="r"/>
            <a:r>
              <a:rPr lang="en-US" sz="1100" b="1" cap="all" spc="120">
                <a:solidFill>
                  <a:srgbClr val="BAC0C4"/>
                </a:solidFill>
              </a:rPr>
              <a:t>4 / 6</a:t>
            </a:r>
          </a:p>
        </p:txBody>
      </p:sp>
      <p:sp>
        <p:nvSpPr>
          <p:cNvPr id="6" name="Title"/>
          <p:cNvSpPr txBox="1"/>
          <p:nvPr/>
        </p:nvSpPr>
        <p:spPr>
          <a:xfrm>
            <a:off x="685800" y="700000"/>
            <a:ext cx="10820400" cy="115000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2900" b="1">
                <a:solidFill>
                  <a:srgbClr val="071923"/>
                </a:solidFill>
                <a:latin typeface="+mj-lt"/>
              </a:rPr>
              <a:t>3.</a:t>
            </a:r>
            <a:r>
              <a:rPr lang="en-US" sz="2900" b="1">
                <a:solidFill>
                  <a:srgbClr val="006EC3"/>
                </a:solidFill>
                <a:latin typeface="+mj-lt"/>
              </a:rPr>
              <a:t> Separate builders</a:t>
            </a:r>
          </a:p>
        </p:txBody>
      </p:sp>
      <p:sp>
        <p:nvSpPr>
          <p:cNvPr id="7" name="Body"/>
          <p:cNvSpPr txBox="1"/>
          <p:nvPr/>
        </p:nvSpPr>
        <p:spPr>
          <a:xfrm>
            <a:off x="685800" y="1950000"/>
            <a:ext cx="3900000" cy="390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2400">
                <a:solidFill>
                  <a:srgbClr val="071923"/>
                </a:solidFill>
              </a:rPr>
              <a:t>GitHub Copilot fits coding workflows in developer tools. Copilot Studio builds agents and workflows connected to organizational data, systems, and channels for teams.</a:t>
            </a:r>
          </a:p>
        </p:txBody>
      </p:sp>
      <p:sp>
        <p:nvSpPr>
          <p:cNvPr id="8" name="Accent rule"/>
          <p:cNvSpPr/>
          <p:nvPr/>
        </p:nvSpPr>
        <p:spPr>
          <a:xfrm>
            <a:off x="548640" y="2000000"/>
            <a:ext cx="45720" cy="3800000"/>
          </a:xfrm>
          <a:prstGeom prst="rect">
            <a:avLst/>
          </a:prstGeom>
          <a:solidFill>
            <a:srgbClr val="006EC3"/>
          </a:solidFill>
          <a:ln>
            <a:noFill/>
          </a:ln>
        </p:spPr>
      </p:sp>
      <p:pic>
        <p:nvPicPr>
          <p:cNvPr id="9" name="Asset visual-builder-routes" descr="Coding assistance and business-agent building are different routes. (marp diagram)"/>
          <p:cNvPicPr>
            <a:picLocks noChangeAspect="1"/>
          </p:cNvPicPr>
          <p:nvPr/>
        </p:nvPicPr>
        <p:blipFill>
          <a:blip r:embed="rIdImage1"/>
          <a:stretch>
            <a:fillRect/>
          </a:stretch>
        </p:blipFill>
        <p:spPr>
          <a:xfrm>
            <a:off x="5000000" y="2221875"/>
            <a:ext cx="6500000" cy="3656250"/>
          </a:xfrm>
          <a:prstGeom prst="rect">
            <a:avLst/>
          </a:prstGeom>
          <a:ln>
            <a:solidFill>
              <a:srgbClr val="D9D9D9"/>
            </a:solidFill>
          </a:ln>
        </p:spPr>
      </p:pic>
      <p:sp>
        <p:nvSpPr>
          <p:cNvPr id="10" name="Footer"/>
          <p:cNvSpPr txBox="1"/>
          <p:nvPr/>
        </p:nvSpPr>
        <p:spPr>
          <a:xfrm>
            <a:off x="685800" y="6250000"/>
            <a:ext cx="10820400" cy="42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000">
                <a:solidFill>
                  <a:srgbClr val="626C71"/>
                </a:solidFill>
              </a:rPr>
              <a:t>Sources: GitHub Copilot · Your AI coding agent · GitHub  ·  Overview - Microsoft Copilot Studio</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p:sp>
        <p:nvSpPr>
          <p:cNvPr id="2" name="Brand band"/>
          <p:cNvSpPr/>
          <p:nvPr/>
        </p:nvSpPr>
        <p:spPr>
          <a:xfrm>
            <a:off x="0" y="0"/>
            <a:ext cx="12192000" cy="502920"/>
          </a:xfrm>
          <a:prstGeom prst="rect">
            <a:avLst/>
          </a:prstGeom>
          <a:solidFill>
            <a:srgbClr val="091F2C"/>
          </a:solidFill>
          <a:ln>
            <a:noFill/>
          </a:ln>
        </p:spPr>
      </p:sp>
      <p:sp>
        <p:nvSpPr>
          <p:cNvPr id="3" name="Highlight rule"/>
          <p:cNvSpPr/>
          <p:nvPr/>
        </p:nvSpPr>
        <p:spPr>
          <a:xfrm>
            <a:off x="0" y="502920"/>
            <a:ext cx="12192000" cy="45720"/>
          </a:xfrm>
          <a:prstGeom prst="rect">
            <a:avLst/>
          </a:prstGeom>
          <a:solidFill>
            <a:srgbClr val="50E6FF"/>
          </a:solidFill>
          <a:ln>
            <a:noFill/>
          </a:ln>
        </p:spPr>
      </p:sp>
      <p:sp>
        <p:nvSpPr>
          <p:cNvPr id="4" name="Deck kicker"/>
          <p:cNvSpPr txBox="1"/>
          <p:nvPr/>
        </p:nvSpPr>
        <p:spPr>
          <a:xfrm>
            <a:off x="685800" y="0"/>
            <a:ext cx="8400000" cy="50292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1100" b="1" cap="all" spc="120">
                <a:solidFill>
                  <a:srgbClr val="FFFFFF"/>
                </a:solidFill>
              </a:rPr>
              <a:t>Copilot</a:t>
            </a:r>
          </a:p>
        </p:txBody>
      </p:sp>
      <p:sp>
        <p:nvSpPr>
          <p:cNvPr id="5" name="Slide number"/>
          <p:cNvSpPr txBox="1"/>
          <p:nvPr/>
        </p:nvSpPr>
        <p:spPr>
          <a:xfrm>
            <a:off x="9100000" y="0"/>
            <a:ext cx="2406400" cy="502920"/>
          </a:xfrm>
          <a:prstGeom prst="rect">
            <a:avLst/>
          </a:prstGeom>
          <a:noFill/>
          <a:ln>
            <a:noFill/>
          </a:ln>
        </p:spPr>
        <p:txBody>
          <a:bodyPr wrap="square" lIns="182880" tIns="91440" rIns="182880" bIns="91440" anchor="ctr">
            <a:normAutofit/>
          </a:bodyPr>
          <a:lstStyle/>
          <a:p>
            <a:pPr algn="r"/>
            <a:r>
              <a:rPr lang="en-US" sz="1100" b="1" cap="all" spc="120">
                <a:solidFill>
                  <a:srgbClr val="BAC0C4"/>
                </a:solidFill>
              </a:rPr>
              <a:t>5 / 6</a:t>
            </a:r>
          </a:p>
        </p:txBody>
      </p:sp>
      <p:sp>
        <p:nvSpPr>
          <p:cNvPr id="6" name="Title"/>
          <p:cNvSpPr txBox="1"/>
          <p:nvPr/>
        </p:nvSpPr>
        <p:spPr>
          <a:xfrm>
            <a:off x="685800" y="700000"/>
            <a:ext cx="10820400" cy="115000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2900" b="1">
                <a:solidFill>
                  <a:srgbClr val="071923"/>
                </a:solidFill>
                <a:latin typeface="+mj-lt"/>
              </a:rPr>
              <a:t>4.</a:t>
            </a:r>
            <a:r>
              <a:rPr lang="en-US" sz="2900" b="1">
                <a:solidFill>
                  <a:srgbClr val="006EC3"/>
                </a:solidFill>
                <a:latin typeface="+mj-lt"/>
              </a:rPr>
              <a:t> Run decision checks</a:t>
            </a:r>
          </a:p>
        </p:txBody>
      </p:sp>
      <p:sp>
        <p:nvSpPr>
          <p:cNvPr id="7" name="Body"/>
          <p:cNvSpPr txBox="1"/>
          <p:nvPr/>
        </p:nvSpPr>
        <p:spPr>
          <a:xfrm>
            <a:off x="685800" y="1950000"/>
            <a:ext cx="3900000" cy="390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2500">
                <a:solidFill>
                  <a:srgbClr val="071923"/>
                </a:solidFill>
              </a:rPr>
              <a:t>Make the decision after the fit is clear. Check permissions, license tier, and grounding so leaders know what each output can and cannot use in practice.</a:t>
            </a:r>
          </a:p>
        </p:txBody>
      </p:sp>
      <p:sp>
        <p:nvSpPr>
          <p:cNvPr id="8" name="Accent rule"/>
          <p:cNvSpPr/>
          <p:nvPr/>
        </p:nvSpPr>
        <p:spPr>
          <a:xfrm>
            <a:off x="548640" y="2000000"/>
            <a:ext cx="45720" cy="3800000"/>
          </a:xfrm>
          <a:prstGeom prst="rect">
            <a:avLst/>
          </a:prstGeom>
          <a:solidFill>
            <a:srgbClr val="006EC3"/>
          </a:solidFill>
          <a:ln>
            <a:noFill/>
          </a:ln>
        </p:spPr>
      </p:sp>
      <p:pic>
        <p:nvPicPr>
          <p:cNvPr id="9" name="Asset visual-decision-checks" descr="The final executive gate checks fit, access, licensing and grounding. (marp diagram)"/>
          <p:cNvPicPr>
            <a:picLocks noChangeAspect="1"/>
          </p:cNvPicPr>
          <p:nvPr/>
        </p:nvPicPr>
        <p:blipFill>
          <a:blip r:embed="rIdImage1"/>
          <a:stretch>
            <a:fillRect/>
          </a:stretch>
        </p:blipFill>
        <p:spPr>
          <a:xfrm>
            <a:off x="5000000" y="2221875"/>
            <a:ext cx="6500000" cy="3656250"/>
          </a:xfrm>
          <a:prstGeom prst="rect">
            <a:avLst/>
          </a:prstGeom>
          <a:ln>
            <a:solidFill>
              <a:srgbClr val="D9D9D9"/>
            </a:solidFill>
          </a:ln>
        </p:spPr>
      </p:pic>
      <p:sp>
        <p:nvSpPr>
          <p:cNvPr id="10" name="Footer"/>
          <p:cNvSpPr txBox="1"/>
          <p:nvPr/>
        </p:nvSpPr>
        <p:spPr>
          <a:xfrm>
            <a:off x="685800" y="6250000"/>
            <a:ext cx="10820400" cy="42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000">
                <a:solidFill>
                  <a:srgbClr val="626C71"/>
                </a:solidFill>
              </a:rPr>
              <a:t>Sources: What is Microsoft Copilot?  ·  Overview of Microsoft Copilot Chat  ·  GitHub Copilot · Your AI coding agent · GitHub  ·  +1 more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p:sp>
        <p:nvSpPr>
          <p:cNvPr id="2" name="Brand band"/>
          <p:cNvSpPr/>
          <p:nvPr/>
        </p:nvSpPr>
        <p:spPr>
          <a:xfrm>
            <a:off x="0" y="0"/>
            <a:ext cx="12192000" cy="502920"/>
          </a:xfrm>
          <a:prstGeom prst="rect">
            <a:avLst/>
          </a:prstGeom>
          <a:solidFill>
            <a:srgbClr val="091F2C"/>
          </a:solidFill>
          <a:ln>
            <a:noFill/>
          </a:ln>
        </p:spPr>
      </p:sp>
      <p:sp>
        <p:nvSpPr>
          <p:cNvPr id="3" name="Highlight rule"/>
          <p:cNvSpPr/>
          <p:nvPr/>
        </p:nvSpPr>
        <p:spPr>
          <a:xfrm>
            <a:off x="0" y="502920"/>
            <a:ext cx="12192000" cy="45720"/>
          </a:xfrm>
          <a:prstGeom prst="rect">
            <a:avLst/>
          </a:prstGeom>
          <a:solidFill>
            <a:srgbClr val="50E6FF"/>
          </a:solidFill>
          <a:ln>
            <a:noFill/>
          </a:ln>
        </p:spPr>
      </p:sp>
      <p:sp>
        <p:nvSpPr>
          <p:cNvPr id="4" name="Deck kicker"/>
          <p:cNvSpPr txBox="1"/>
          <p:nvPr/>
        </p:nvSpPr>
        <p:spPr>
          <a:xfrm>
            <a:off x="685800" y="0"/>
            <a:ext cx="8400000" cy="50292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1100" b="1" cap="all" spc="120">
                <a:solidFill>
                  <a:srgbClr val="FFFFFF"/>
                </a:solidFill>
              </a:rPr>
              <a:t>Copilot</a:t>
            </a:r>
          </a:p>
        </p:txBody>
      </p:sp>
      <p:sp>
        <p:nvSpPr>
          <p:cNvPr id="5" name="Slide number"/>
          <p:cNvSpPr txBox="1"/>
          <p:nvPr/>
        </p:nvSpPr>
        <p:spPr>
          <a:xfrm>
            <a:off x="9100000" y="0"/>
            <a:ext cx="2406400" cy="502920"/>
          </a:xfrm>
          <a:prstGeom prst="rect">
            <a:avLst/>
          </a:prstGeom>
          <a:noFill/>
          <a:ln>
            <a:noFill/>
          </a:ln>
        </p:spPr>
        <p:txBody>
          <a:bodyPr wrap="square" lIns="182880" tIns="91440" rIns="182880" bIns="91440" anchor="ctr">
            <a:normAutofit/>
          </a:bodyPr>
          <a:lstStyle/>
          <a:p>
            <a:pPr algn="r"/>
            <a:r>
              <a:rPr lang="en-US" sz="1100" b="1" cap="all" spc="120">
                <a:solidFill>
                  <a:srgbClr val="BAC0C4"/>
                </a:solidFill>
              </a:rPr>
              <a:t>6 / 6</a:t>
            </a:r>
          </a:p>
        </p:txBody>
      </p:sp>
      <p:sp>
        <p:nvSpPr>
          <p:cNvPr id="6" name="Title"/>
          <p:cNvSpPr txBox="1"/>
          <p:nvPr/>
        </p:nvSpPr>
        <p:spPr>
          <a:xfrm>
            <a:off x="685800" y="760000"/>
            <a:ext cx="10820400" cy="100000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2400" b="1">
                <a:solidFill>
                  <a:srgbClr val="071923"/>
                </a:solidFill>
                <a:latin typeface="+mj-lt"/>
              </a:rPr>
              <a:t>Sources.</a:t>
            </a:r>
            <a:r>
              <a:rPr lang="en-US" sz="2400" b="1">
                <a:solidFill>
                  <a:srgbClr val="006EC3"/>
                </a:solidFill>
                <a:latin typeface="+mj-lt"/>
              </a:rPr>
              <a:t> Every claim traces to one.</a:t>
            </a:r>
          </a:p>
        </p:txBody>
      </p:sp>
      <p:sp>
        <p:nvSpPr>
          <p:cNvPr id="7" name="Sources"/>
          <p:cNvSpPr txBox="1"/>
          <p:nvPr/>
        </p:nvSpPr>
        <p:spPr>
          <a:xfrm>
            <a:off x="685800" y="1900000"/>
            <a:ext cx="10820400" cy="430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400" b="1">
                <a:solidFill>
                  <a:srgbClr val="071923"/>
                </a:solidFill>
              </a:rPr>
              <a:t>Overview of Microsoft Copilot Chat</a:t>
            </a:r>
            <a:r>
              <a:rPr lang="en-US" sz="1100">
                <a:solidFill>
                  <a:srgbClr val="626C71"/>
                </a:solidFill>
              </a:rPr>
              <a:t>  retrieved 2026-10-06</a:t>
            </a:r>
          </a:p>
          <a:p>
            <a:pPr algn="l">
              <a:lnSpc>
                <a:spcPct val="105000"/>
              </a:lnSpc>
              <a:spcAft>
                <a:spcPts val="900"/>
              </a:spcAft>
            </a:pPr>
            <a:r>
              <a:rPr lang="en-US" sz="1100">
                <a:solidFill>
                  <a:srgbClr val="006EC3"/>
                </a:solidFill>
              </a:rPr>
              <a:t>https://learn.microsoft.com/en-us/copilot/overview</a:t>
            </a:r>
          </a:p>
          <a:p>
            <a:pPr algn="l">
              <a:lnSpc>
                <a:spcPct val="105000"/>
              </a:lnSpc>
              <a:spcAft>
                <a:spcPts val="0"/>
              </a:spcAft>
            </a:pPr>
            <a:r>
              <a:rPr lang="en-US" sz="1400" b="1">
                <a:solidFill>
                  <a:srgbClr val="071923"/>
                </a:solidFill>
              </a:rPr>
              <a:t>What is Microsoft Copilot?</a:t>
            </a:r>
            <a:r>
              <a:rPr lang="en-US" sz="1100">
                <a:solidFill>
                  <a:srgbClr val="626C71"/>
                </a:solidFill>
              </a:rPr>
              <a:t>  retrieved 2026-10-06</a:t>
            </a:r>
          </a:p>
          <a:p>
            <a:pPr algn="l">
              <a:lnSpc>
                <a:spcPct val="105000"/>
              </a:lnSpc>
              <a:spcAft>
                <a:spcPts val="900"/>
              </a:spcAft>
            </a:pPr>
            <a:r>
              <a:rPr lang="en-US" sz="1100">
                <a:solidFill>
                  <a:srgbClr val="006EC3"/>
                </a:solidFill>
              </a:rPr>
              <a:t>https://learn.microsoft.com/en-us/copilot/microsoft-365/microsoft-365-copilot-overview</a:t>
            </a:r>
          </a:p>
          <a:p>
            <a:pPr algn="l">
              <a:lnSpc>
                <a:spcPct val="105000"/>
              </a:lnSpc>
              <a:spcAft>
                <a:spcPts val="0"/>
              </a:spcAft>
            </a:pPr>
            <a:r>
              <a:rPr lang="en-US" sz="1400" b="1">
                <a:solidFill>
                  <a:srgbClr val="071923"/>
                </a:solidFill>
              </a:rPr>
              <a:t>GitHub Copilot · Your AI coding agent · GitHub</a:t>
            </a:r>
            <a:r>
              <a:rPr lang="en-US" sz="1100">
                <a:solidFill>
                  <a:srgbClr val="626C71"/>
                </a:solidFill>
              </a:rPr>
              <a:t>  retrieved 2026-10-06</a:t>
            </a:r>
          </a:p>
          <a:p>
            <a:pPr algn="l">
              <a:lnSpc>
                <a:spcPct val="105000"/>
              </a:lnSpc>
              <a:spcAft>
                <a:spcPts val="900"/>
              </a:spcAft>
            </a:pPr>
            <a:r>
              <a:rPr lang="en-US" sz="1100">
                <a:solidFill>
                  <a:srgbClr val="006EC3"/>
                </a:solidFill>
              </a:rPr>
              <a:t>https://github.com/features/copilot</a:t>
            </a:r>
          </a:p>
          <a:p>
            <a:pPr algn="l">
              <a:lnSpc>
                <a:spcPct val="105000"/>
              </a:lnSpc>
              <a:spcAft>
                <a:spcPts val="0"/>
              </a:spcAft>
            </a:pPr>
            <a:r>
              <a:rPr lang="en-US" sz="1400" b="1">
                <a:solidFill>
                  <a:srgbClr val="071923"/>
                </a:solidFill>
              </a:rPr>
              <a:t>Overview - Microsoft Copilot Studio</a:t>
            </a:r>
            <a:r>
              <a:rPr lang="en-US" sz="1100">
                <a:solidFill>
                  <a:srgbClr val="626C71"/>
                </a:solidFill>
              </a:rPr>
              <a:t>  retrieved 2026-10-06</a:t>
            </a:r>
          </a:p>
          <a:p>
            <a:pPr algn="l">
              <a:lnSpc>
                <a:spcPct val="105000"/>
              </a:lnSpc>
              <a:spcAft>
                <a:spcPts val="900"/>
              </a:spcAft>
            </a:pPr>
            <a:r>
              <a:rPr lang="en-US" sz="1100">
                <a:solidFill>
                  <a:srgbClr val="006EC3"/>
                </a:solidFill>
              </a:rPr>
              <a:t>https://learn.microsoft.com/en-us/microsoft-copilot-studio/fundamentals-what-is-copilot-studio</a:t>
            </a:r>
          </a:p>
        </p:txBody>
      </p:sp>
      <p:sp>
        <p:nvSpPr>
          <p:cNvPr id="8" name="Footer"/>
          <p:cNvSpPr txBox="1"/>
          <p:nvPr/>
        </p:nvSpPr>
        <p:spPr>
          <a:xfrm>
            <a:off x="685800" y="6250000"/>
            <a:ext cx="10820400" cy="42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000">
                <a:solidFill>
                  <a:srgbClr val="626C71"/>
                </a:solidFill>
              </a:rPr>
              <a:t>copilot-2026-11-am-michael-kokoro-onnx</a:t>
            </a:r>
          </a:p>
        </p:txBody>
      </p:sp>
    </p:spTree>
  </p:cSld>
  <p:clrMapOvr>
    <a:masterClrMapping/>
  </p:clrMapOvr>
</p:sld>
</file>

<file path=ppt/theme/theme1.xml><?xml version="1.0" encoding="utf-8"?>
<a:theme xmlns:a="http://schemas.openxmlformats.org/drawingml/2006/main" name="copilot-brand">
  <a:themeElements>
    <a:clrScheme name="copilot-brand">
      <a:dk1>
        <a:srgbClr val="071923"/>
      </a:dk1>
      <a:lt1>
        <a:srgbClr val="F4F8FC"/>
      </a:lt1>
      <a:dk2>
        <a:srgbClr val="091F2C"/>
      </a:dk2>
      <a:lt2>
        <a:srgbClr val="E6F1F9"/>
      </a:lt2>
      <a:accent1>
        <a:srgbClr val="006EC3"/>
      </a:accent1>
      <a:accent2>
        <a:srgbClr val="50E6FF"/>
      </a:accent2>
      <a:accent3>
        <a:srgbClr val="006EC3"/>
      </a:accent3>
      <a:accent4>
        <a:srgbClr val="06141D"/>
      </a:accent4>
      <a:accent5>
        <a:srgbClr val="626C71"/>
      </a:accent5>
      <a:accent6>
        <a:srgbClr val="B42318"/>
      </a:accent6>
      <a:hlink>
        <a:srgbClr val="006EC3"/>
      </a:hlink>
      <a:folHlink>
        <a:srgbClr val="626C71"/>
      </a:folHlink>
    </a:clrScheme>
    <a:fontScheme name="copilot-brand">
      <a:majorFont>
        <a:latin typeface="Segoe UI Variable Display"/>
        <a:ea typeface=""/>
        <a:cs typeface=""/>
      </a:majorFont>
      <a:minorFont>
        <a:latin typeface="Segoe UI Variable Text"/>
        <a:ea typeface=""/>
        <a:cs typeface=""/>
      </a:minorFont>
    </a:fontScheme>
    <a:fmtScheme name="copilot-brand">
      <a:fillStyleLst>
        <a:solidFill>
          <a:schemeClr val="phClr"/>
        </a:solidFill>
        <a:gradFill rotWithShape="1">
          <a:gsLst>
            <a:gs pos="0">
              <a:schemeClr val="phClr">
                <a:tint val="50000"/>
                <a:satMod val="300000"/>
              </a:schemeClr>
            </a:gs>
            <a:gs pos="100000">
              <a:schemeClr val="phClr">
                <a:tint val="37000"/>
                <a:satMod val="300000"/>
              </a:schemeClr>
            </a:gs>
          </a:gsLst>
          <a:lin ang="16200000" scaled="1"/>
        </a:gradFill>
        <a:gradFill rotWithShape="1">
          <a:gsLst>
            <a:gs pos="0">
              <a:schemeClr val="phClr">
                <a:shade val="51000"/>
                <a:satMod val="130000"/>
              </a:schemeClr>
            </a:gs>
            <a:gs pos="100000">
              <a:schemeClr val="phClr">
                <a:shade val="93000"/>
                <a:satMod val="130000"/>
              </a:schemeClr>
            </a:gs>
          </a:gsLst>
          <a:lin ang="162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a2swe</Application>
  <Slides>6</Slides>
  <Notes>6</Not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Copilot: choose the right AI assistant for the job</dc:title>
  <dc:creator>a2swe</dc:creator>
  <cp:lastModifiedBy>a2swe</cp:lastModifiedBy>
  <dcterms:created xsi:type="dcterms:W3CDTF">2020-01-01T00:00:00Z</dcterms:created>
  <dcterms:modified xsi:type="dcterms:W3CDTF">2020-01-01T00:00:00Z</dcterms:modified>
</cp:coreProperties>
</file>