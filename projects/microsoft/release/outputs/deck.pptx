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theme" Target="theme/theme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Microsoft: map needs to the right layer</a:t>
            </a:r>
          </a:p>
          <a:p>
            <a:r>
              <a:rPr lang="en-US" sz="1400">
                <a:solidFill>
                  <a:srgbClr val="111111"/>
                </a:solidFill>
              </a:rPr>
              <a:t>Bottom line: Microsoft is a portfolio, not one system; first map the need to Windows, Microsoft 365, Azure or Copilot, then verify entitlements early.</a:t>
            </a:r>
          </a:p>
          <a:p>
            <a:r>
              <a:rPr lang="en-US" sz="1400">
                <a:solidFill>
                  <a:srgbClr val="111111"/>
                </a:solidFill>
              </a:rPr>
              <a:t>Bottom line: Microsoft is a portfolio, not one system; first map the need to Windows, Microsoft 365, Azure or Copilot, then verify entitlements early.
Start with Windows when the decision is the PC experience: devices, desktop, apps and user productivity. It anchors the endpoint for users, not every cloud service.
Use Microsoft 365 when the need is everyday work: Office apps, email, files, meetings, sharing and collaboration. It packages work services, not custom infrastructure.
Use Azure when applications need cloud services: compute, storage, data and AI categories. It is the builder layer for apps and managed resources for teams.
Treat Copilot as AI assistance that sits inside selected workflows and licenses. Confirm access, grounding, service availability and subscription before commitments.
Evidence: Windows 11 is the client operating-system layer for PC experience and user productivity. [ev-01] Windows 11 overview for administrators | Microsoft Learn
Evidence: Microsoft 365 combines Office apps with online services for email, file storage, collaboration and meetings. [ev-03] Microsoft 365 for enterprise overview - Microsoft 365 Enterprise | Microsoft Learn
Evidence: Azure is the cloud-services layer for building and managing applications, including AI, compute and storage categories. [ev-05] Azure documentation | Microsoft Learn
Evidence: Copilot Chat provides AI assistance to eligible Microsoft 365 users for information, content and tasks. [ev-07] Overview of Microsoft Copilot Chat | Microsoft Learn
Evidence: Copilot capability and grounding depend on access point, service capacity and Microsoft 365 Copilot licensing. [ev-09] Overview of Microsoft Copilot Chat | Microsoft Learn
Evidence: The selected sources describe separate product layers: Windows, Microsoft 365, Azure and Copilot Chat. [ev-01] Windows 11 overview for administrators | Microsoft Learn</a:t>
            </a:r>
          </a:p>
          <a:p>
            <a:r>
              <a:rPr lang="en-US" sz="1400">
                <a:solidFill>
                  <a:srgbClr val="111111"/>
                </a:solidFill>
              </a:rPr>
              <a:t>Citations</a:t>
            </a:r>
          </a:p>
          <a:p>
            <a:r>
              <a:rPr lang="en-US" sz="1400">
                <a:solidFill>
                  <a:srgbClr val="111111"/>
                </a:solidFill>
              </a:rPr>
              <a:t>[ev-01] Windows 11 overview for administrators | Microsoft Learn</a:t>
            </a:r>
          </a:p>
          <a:p>
            <a:r>
              <a:rPr lang="en-US" sz="1400">
                <a:solidFill>
                  <a:srgbClr val="111111"/>
                </a:solidFill>
              </a:rPr>
              <a:t>[ev-02] Windows 11 overview for administrators | Microsoft Learn</a:t>
            </a:r>
          </a:p>
          <a:p>
            <a:r>
              <a:rPr lang="en-US" sz="1400">
                <a:solidFill>
                  <a:srgbClr val="111111"/>
                </a:solidFill>
              </a:rPr>
              <a:t>[ev-03] Microsoft 365 for enterprise overview - Microsoft 365 Enterprise | Microsoft Learn</a:t>
            </a:r>
          </a:p>
          <a:p>
            <a:r>
              <a:rPr lang="en-US" sz="1400">
                <a:solidFill>
                  <a:srgbClr val="111111"/>
                </a:solidFill>
              </a:rPr>
              <a:t>[ev-04] Microsoft 365 for enterprise overview - Microsoft 365 Enterprise | Microsoft Learn</a:t>
            </a:r>
          </a:p>
          <a:p>
            <a:r>
              <a:rPr lang="en-US" sz="1400">
                <a:solidFill>
                  <a:srgbClr val="111111"/>
                </a:solidFill>
              </a:rPr>
              <a:t>[ev-05] Azure documentation | Microsoft Learn</a:t>
            </a:r>
          </a:p>
          <a:p>
            <a:r>
              <a:rPr lang="en-US" sz="1400">
                <a:solidFill>
                  <a:srgbClr val="111111"/>
                </a:solidFill>
              </a:rPr>
              <a:t>[ev-06] Azure documentation | Microsoft Learn</a:t>
            </a:r>
          </a:p>
          <a:p>
            <a:r>
              <a:rPr lang="en-US" sz="1400">
                <a:solidFill>
                  <a:srgbClr val="111111"/>
                </a:solidFill>
              </a:rPr>
              <a:t>[ev-07] Overview of Microsoft Copilot Chat | Microsoft Learn</a:t>
            </a:r>
          </a:p>
          <a:p>
            <a:r>
              <a:rPr lang="en-US" sz="1400">
                <a:solidFill>
                  <a:srgbClr val="111111"/>
                </a:solidFill>
              </a:rPr>
              <a:t>[ev-08] Overview of Microsoft Copilot Chat | Microsoft Learn</a:t>
            </a:r>
          </a:p>
          <a:p>
            <a:r>
              <a:rPr lang="en-US" sz="1400">
                <a:solidFill>
                  <a:srgbClr val="111111"/>
                </a:solidFill>
              </a:rPr>
              <a:t>[ev-09] Overview of Microsoft Copilot Chat | Microsoft Learn</a:t>
            </a:r>
          </a:p>
          <a:p>
            <a:r>
              <a:rPr lang="en-US" sz="1400">
                <a:solidFill>
                  <a:srgbClr val="111111"/>
                </a:solidFill>
              </a:rPr>
              <a:t>[ev-10] Overview of Microsoft Copilot Chat | Microsoft Learn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Windows is the PC layer</a:t>
            </a:r>
          </a:p>
          <a:p>
            <a:r>
              <a:rPr lang="en-US" sz="1400">
                <a:solidFill>
                  <a:srgbClr val="111111"/>
                </a:solidFill>
              </a:rPr>
              <a:t>Start with Windows when the decision is the PC experience: devices, desktop, apps and user productivity. It anchors the endpoint for users, not every cloud service.</a:t>
            </a:r>
          </a:p>
          <a:p>
            <a:r>
              <a:rPr lang="en-US" sz="1400">
                <a:solidFill>
                  <a:srgbClr val="111111"/>
                </a:solidFill>
              </a:rPr>
              <a:t>Evidence: Windows 11 is described as a client operating system with productivity-oriented features. Interpretation: treat it as the endpoint layer before expanding into cloud or AI choices.
Evidence: Windows 11 is the client operating-system layer for PC experience and user productivity. [ev-01] Windows 11 overview for administrators | Microsoft Learn
Evidence: The selected sources describe separate product layers: Windows, Microsoft 365, Azure and Copilot Chat. [ev-01] Windows 11 overview for administrators | Microsoft Learn</a:t>
            </a:r>
          </a:p>
          <a:p>
            <a:r>
              <a:rPr lang="en-US" sz="1400">
                <a:solidFill>
                  <a:srgbClr val="111111"/>
                </a:solidFill>
              </a:rPr>
              <a:t>Citations</a:t>
            </a:r>
          </a:p>
          <a:p>
            <a:r>
              <a:rPr lang="en-US" sz="1400">
                <a:solidFill>
                  <a:srgbClr val="111111"/>
                </a:solidFill>
              </a:rPr>
              <a:t>[ev-01] Windows 11 overview for administrators | Microsoft Learn: https://learn.microsoft.com/en-us/windows/whats-new/windows-11-overview</a:t>
            </a:r>
          </a:p>
          <a:p>
            <a:r>
              <a:rPr lang="en-US" sz="1400">
                <a:solidFill>
                  <a:srgbClr val="111111"/>
                </a:solidFill>
              </a:rPr>
              <a:t>[ev-02] Windows 11 overview for administrators | Microsoft Learn: https://learn.microsoft.com/en-us/windows/whats-new/windows-11-overview</a:t>
            </a:r>
          </a:p>
          <a:p>
            <a:r>
              <a:rPr lang="en-US" sz="1400">
                <a:solidFill>
                  <a:srgbClr val="111111"/>
                </a:solidFill>
              </a:rPr>
              <a:t>[ev-01] Windows 11 overview for administrators | Microsoft Learn: https://learn.microsoft.com/en-us/windows/whats-new/windows-11-overview</a:t>
            </a:r>
          </a:p>
          <a:p>
            <a:r>
              <a:rPr lang="en-US" sz="1400">
                <a:solidFill>
                  <a:srgbClr val="111111"/>
                </a:solidFill>
              </a:rPr>
              <a:t>[ev-04] Microsoft 365 for enterprise overview - Microsoft 365 Enterprise | Microsoft Learn: https://learn.microsoft.com/en-us/microsoft-365/enterprise/microsoft-365-overview?view=o365-worldwide</a:t>
            </a:r>
          </a:p>
          <a:p>
            <a:r>
              <a:rPr lang="en-US" sz="1400">
                <a:solidFill>
                  <a:srgbClr val="111111"/>
                </a:solidFill>
              </a:rPr>
              <a:t>[ev-05] Azure documentation | Microsoft Learn: https://learn.microsoft.com/en-us/azure/</a:t>
            </a:r>
          </a:p>
          <a:p>
            <a:r>
              <a:rPr lang="en-US" sz="1400">
                <a:solidFill>
                  <a:srgbClr val="111111"/>
                </a:solidFill>
              </a:rPr>
              <a:t>[ev-07] Overview of Microsoft Copilot Chat | Microsoft Learn: https://learn.microsoft.com/en-us/copilot/overview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Microsoft 365 is work</a:t>
            </a:r>
          </a:p>
          <a:p>
            <a:r>
              <a:rPr lang="en-US" sz="1400">
                <a:solidFill>
                  <a:srgbClr val="111111"/>
                </a:solidFill>
              </a:rPr>
              <a:t>Use Microsoft 365 when the need is everyday work: Office apps, email, files, meetings, sharing and collaboration. It packages work services, not custom infrastructure.</a:t>
            </a:r>
          </a:p>
          <a:p>
            <a:r>
              <a:rPr lang="en-US" sz="1400">
                <a:solidFill>
                  <a:srgbClr val="111111"/>
                </a:solidFill>
              </a:rPr>
              <a:t>Evidence: Microsoft 365 for enterprise combines Office apps with online services for email, storage, collaboration and meetings. Interpretation: this is the work-productivity layer.
Evidence: Microsoft 365 combines Office apps with online services for email, file storage, collaboration and meetings. [ev-03] Microsoft 365 for enterprise overview - Microsoft 365 Enterprise | Microsoft Learn
Evidence: The selected sources describe separate product layers: Windows, Microsoft 365, Azure and Copilot Chat. [ev-01] Windows 11 overview for administrators | Microsoft Learn</a:t>
            </a:r>
          </a:p>
          <a:p>
            <a:r>
              <a:rPr lang="en-US" sz="1400">
                <a:solidFill>
                  <a:srgbClr val="111111"/>
                </a:solidFill>
              </a:rPr>
              <a:t>Citations</a:t>
            </a:r>
          </a:p>
          <a:p>
            <a:r>
              <a:rPr lang="en-US" sz="1400">
                <a:solidFill>
                  <a:srgbClr val="111111"/>
                </a:solidFill>
              </a:rPr>
              <a:t>[ev-03] Microsoft 365 for enterprise overview - Microsoft 365 Enterprise | Microsoft Learn: https://learn.microsoft.com/en-us/microsoft-365/enterprise/microsoft-365-overview?view=o365-worldwide</a:t>
            </a:r>
          </a:p>
          <a:p>
            <a:r>
              <a:rPr lang="en-US" sz="1400">
                <a:solidFill>
                  <a:srgbClr val="111111"/>
                </a:solidFill>
              </a:rPr>
              <a:t>[ev-04] Microsoft 365 for enterprise overview - Microsoft 365 Enterprise | Microsoft Learn: https://learn.microsoft.com/en-us/microsoft-365/enterprise/microsoft-365-overview?view=o365-worldwide</a:t>
            </a:r>
          </a:p>
          <a:p>
            <a:r>
              <a:rPr lang="en-US" sz="1400">
                <a:solidFill>
                  <a:srgbClr val="111111"/>
                </a:solidFill>
              </a:rPr>
              <a:t>[ev-01] Windows 11 overview for administrators | Microsoft Learn: https://learn.microsoft.com/en-us/windows/whats-new/windows-11-overview</a:t>
            </a:r>
          </a:p>
          <a:p>
            <a:r>
              <a:rPr lang="en-US" sz="1400">
                <a:solidFill>
                  <a:srgbClr val="111111"/>
                </a:solidFill>
              </a:rPr>
              <a:t>[ev-04] Microsoft 365 for enterprise overview - Microsoft 365 Enterprise | Microsoft Learn: https://learn.microsoft.com/en-us/microsoft-365/enterprise/microsoft-365-overview?view=o365-worldwide</a:t>
            </a:r>
          </a:p>
          <a:p>
            <a:r>
              <a:rPr lang="en-US" sz="1400">
                <a:solidFill>
                  <a:srgbClr val="111111"/>
                </a:solidFill>
              </a:rPr>
              <a:t>[ev-05] Azure documentation | Microsoft Learn: https://learn.microsoft.com/en-us/azure/</a:t>
            </a:r>
          </a:p>
          <a:p>
            <a:r>
              <a:rPr lang="en-US" sz="1400">
                <a:solidFill>
                  <a:srgbClr val="111111"/>
                </a:solidFill>
              </a:rPr>
              <a:t>[ev-07] Overview of Microsoft Copilot Chat | Microsoft Learn: https://learn.microsoft.com/en-us/copilot/overview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Azure builds apps</a:t>
            </a:r>
          </a:p>
          <a:p>
            <a:r>
              <a:rPr lang="en-US" sz="1400">
                <a:solidFill>
                  <a:srgbClr val="111111"/>
                </a:solidFill>
              </a:rPr>
              <a:t>Use Azure when applications need cloud services: compute, storage, data and AI categories. It is the builder layer for apps and managed resources for teams.</a:t>
            </a:r>
          </a:p>
          <a:p>
            <a:r>
              <a:rPr lang="en-US" sz="1400">
                <a:solidFill>
                  <a:srgbClr val="111111"/>
                </a:solidFill>
              </a:rPr>
              <a:t>Evidence: Azure documentation supports building and managing applications and lists AI, compute and storage categories. Interpretation: use Azure for application service needs.
Evidence: Azure is the cloud-services layer for building and managing applications, including AI, compute and storage categories. [ev-05] Azure documentation | Microsoft Learn
Evidence: The selected sources describe separate product layers: Windows, Microsoft 365, Azure and Copilot Chat. [ev-01] Windows 11 overview for administrators | Microsoft Learn</a:t>
            </a:r>
          </a:p>
          <a:p>
            <a:r>
              <a:rPr lang="en-US" sz="1400">
                <a:solidFill>
                  <a:srgbClr val="111111"/>
                </a:solidFill>
              </a:rPr>
              <a:t>Citations</a:t>
            </a:r>
          </a:p>
          <a:p>
            <a:r>
              <a:rPr lang="en-US" sz="1400">
                <a:solidFill>
                  <a:srgbClr val="111111"/>
                </a:solidFill>
              </a:rPr>
              <a:t>[ev-05] Azure documentation | Microsoft Learn: https://learn.microsoft.com/en-us/azure/</a:t>
            </a:r>
          </a:p>
          <a:p>
            <a:r>
              <a:rPr lang="en-US" sz="1400">
                <a:solidFill>
                  <a:srgbClr val="111111"/>
                </a:solidFill>
              </a:rPr>
              <a:t>[ev-06] Azure documentation | Microsoft Learn: https://learn.microsoft.com/en-us/azure/</a:t>
            </a:r>
          </a:p>
          <a:p>
            <a:r>
              <a:rPr lang="en-US" sz="1400">
                <a:solidFill>
                  <a:srgbClr val="111111"/>
                </a:solidFill>
              </a:rPr>
              <a:t>[ev-01] Windows 11 overview for administrators | Microsoft Learn: https://learn.microsoft.com/en-us/windows/whats-new/windows-11-overview</a:t>
            </a:r>
          </a:p>
          <a:p>
            <a:r>
              <a:rPr lang="en-US" sz="1400">
                <a:solidFill>
                  <a:srgbClr val="111111"/>
                </a:solidFill>
              </a:rPr>
              <a:t>[ev-04] Microsoft 365 for enterprise overview - Microsoft 365 Enterprise | Microsoft Learn: https://learn.microsoft.com/en-us/microsoft-365/enterprise/microsoft-365-overview?view=o365-worldwide</a:t>
            </a:r>
          </a:p>
          <a:p>
            <a:r>
              <a:rPr lang="en-US" sz="1400">
                <a:solidFill>
                  <a:srgbClr val="111111"/>
                </a:solidFill>
              </a:rPr>
              <a:t>[ev-05] Azure documentation | Microsoft Learn: https://learn.microsoft.com/en-us/azure/</a:t>
            </a:r>
          </a:p>
          <a:p>
            <a:r>
              <a:rPr lang="en-US" sz="1400">
                <a:solidFill>
                  <a:srgbClr val="111111"/>
                </a:solidFill>
              </a:rPr>
              <a:t>[ev-07] Overview of Microsoft Copilot Chat | Microsoft Learn: https://learn.microsoft.com/en-us/copilot/overview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4. Copilot assists workflows</a:t>
            </a:r>
          </a:p>
          <a:p>
            <a:r>
              <a:rPr lang="en-US" sz="1400">
                <a:solidFill>
                  <a:srgbClr val="111111"/>
                </a:solidFill>
              </a:rPr>
              <a:t>Treat Copilot as AI assistance that sits inside selected workflows and licenses. Confirm access, grounding, service availability and subscription before commitments.</a:t>
            </a:r>
          </a:p>
          <a:p>
            <a:r>
              <a:rPr lang="en-US" sz="1400">
                <a:solidFill>
                  <a:srgbClr val="111111"/>
                </a:solidFill>
              </a:rPr>
              <a:t>Evidence: Copilot Chat helps eligible users find information, create content and complete tasks; grounding depends on access point and licensing. Interpretation: confirm entitlement before rollout.
Evidence: Copilot Chat provides AI assistance to eligible Microsoft 365 users for information, content and tasks. [ev-07] Overview of Microsoft Copilot Chat | Microsoft Learn
Evidence: Copilot capability and grounding depend on access point, service capacity and Microsoft 365 Copilot licensing. [ev-09] Overview of Microsoft Copilot Chat | Microsoft Learn</a:t>
            </a:r>
          </a:p>
          <a:p>
            <a:r>
              <a:rPr lang="en-US" sz="1400">
                <a:solidFill>
                  <a:srgbClr val="111111"/>
                </a:solidFill>
              </a:rPr>
              <a:t>Citations</a:t>
            </a:r>
          </a:p>
          <a:p>
            <a:r>
              <a:rPr lang="en-US" sz="1400">
                <a:solidFill>
                  <a:srgbClr val="111111"/>
                </a:solidFill>
              </a:rPr>
              <a:t>[ev-07] Overview of Microsoft Copilot Chat | Microsoft Learn: https://learn.microsoft.com/en-us/copilot/overview</a:t>
            </a:r>
          </a:p>
          <a:p>
            <a:r>
              <a:rPr lang="en-US" sz="1400">
                <a:solidFill>
                  <a:srgbClr val="111111"/>
                </a:solidFill>
              </a:rPr>
              <a:t>[ev-08] Overview of Microsoft Copilot Chat | Microsoft Learn: https://learn.microsoft.com/en-us/copilot/overview</a:t>
            </a:r>
          </a:p>
          <a:p>
            <a:r>
              <a:rPr lang="en-US" sz="1400">
                <a:solidFill>
                  <a:srgbClr val="111111"/>
                </a:solidFill>
              </a:rPr>
              <a:t>[ev-09] Overview of Microsoft Copilot Chat | Microsoft Learn: https://learn.microsoft.com/en-us/copilot/overview</a:t>
            </a:r>
          </a:p>
          <a:p>
            <a:r>
              <a:rPr lang="en-US" sz="1400">
                <a:solidFill>
                  <a:srgbClr val="111111"/>
                </a:solidFill>
              </a:rPr>
              <a:t>[ev-10] Overview of Microsoft Copilot Chat | Microsoft Learn: https://learn.microsoft.com/en-us/copilot/overview</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Microsoft is a portfolio, not one system; first map the need to Windows, Microsoft 365, Azure or Copilot, then verify entitlements early.</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Windows 11 overview for administrators | Microsoft Learn: https://learn.microsoft.com/en-us/windows/whats-new/windows-11-overview</a:t>
            </a:r>
          </a:p>
          <a:p>
            <a:r>
              <a:rPr lang="en-US" sz="1400">
                <a:solidFill>
                  <a:srgbClr val="111111"/>
                </a:solidFill>
              </a:rPr>
              <a:t>Windows 11 overview for administrators | Microsoft Learn: https://learn.microsoft.com/en-us/windows/whats-new/windows-11-overview</a:t>
            </a:r>
          </a:p>
          <a:p>
            <a:r>
              <a:rPr lang="en-US" sz="1400">
                <a:solidFill>
                  <a:srgbClr val="111111"/>
                </a:solidFill>
              </a:rPr>
              <a:t>Microsoft 365 for enterprise overview - Microsoft 365 Enterprise | Microsoft Learn: https://learn.microsoft.com/en-us/microsoft-365/enterprise/microsoft-365-overview?view=o365-worldwide</a:t>
            </a:r>
          </a:p>
          <a:p>
            <a:r>
              <a:rPr lang="en-US" sz="1400">
                <a:solidFill>
                  <a:srgbClr val="111111"/>
                </a:solidFill>
              </a:rPr>
              <a:t>Microsoft 365 for enterprise overview - Microsoft 365 Enterprise | Microsoft Learn: https://learn.microsoft.com/en-us/microsoft-365/enterprise/microsoft-365-overview?view=o365-worldwide</a:t>
            </a:r>
          </a:p>
          <a:p>
            <a:r>
              <a:rPr lang="en-US" sz="1400">
                <a:solidFill>
                  <a:srgbClr val="111111"/>
                </a:solidFill>
              </a:rPr>
              <a:t>Azure documentation | Microsoft Learn: https://learn.microsoft.com/en-us/azure/</a:t>
            </a:r>
          </a:p>
          <a:p>
            <a:r>
              <a:rPr lang="en-US" sz="1400">
                <a:solidFill>
                  <a:srgbClr val="111111"/>
                </a:solidFill>
              </a:rPr>
              <a:t>Azure documentation | Microsoft Learn: https://learn.microsoft.com/en-us/azure/</a:t>
            </a:r>
          </a:p>
          <a:p>
            <a:r>
              <a:rPr lang="en-US" sz="1400">
                <a:solidFill>
                  <a:srgbClr val="111111"/>
                </a:solidFill>
              </a:rPr>
              <a:t>Overview of Microsoft Copilot Chat | Microsoft Learn: https://learn.microsoft.com/en-us/copilot/overview</a:t>
            </a:r>
          </a:p>
          <a:p>
            <a:r>
              <a:rPr lang="en-US" sz="1400">
                <a:solidFill>
                  <a:srgbClr val="111111"/>
                </a:solidFill>
              </a:rPr>
              <a:t>Overview of Microsoft Copilot Chat | Microsoft Learn: https://learn.microsoft.com/en-us/copilot/overview</a:t>
            </a:r>
          </a:p>
          <a:p>
            <a:r>
              <a:rPr lang="en-US" sz="1400">
                <a:solidFill>
                  <a:srgbClr val="111111"/>
                </a:solidFill>
              </a:rPr>
              <a:t>Overview of Microsoft Copilot Chat | Microsoft Learn: https://learn.microsoft.com/en-us/copilot/overview</a:t>
            </a:r>
          </a:p>
          <a:p>
            <a:r>
              <a:rPr lang="en-US" sz="1400">
                <a:solidFill>
                  <a:srgbClr val="111111"/>
                </a:solidFill>
              </a:rPr>
              <a:t>Overview of Microsoft Copilot Chat | Microsoft Learn: https://learn.microsoft.com/en-us/copilot/overview</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windows-layer-ccc00dddf82e.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work-layer-5f54ba240e69.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azure-layer-f0340a4b2a3a.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copilot-layer-5d40339f309c.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1 / 6</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800" b="1">
                <a:solidFill>
                  <a:srgbClr val="0B121E"/>
                </a:solidFill>
                <a:latin typeface="+mj-lt"/>
              </a:rPr>
              <a:t>Microsoft:</a:t>
            </a:r>
            <a:r>
              <a:rPr lang="en-US" sz="3800" b="1">
                <a:solidFill>
                  <a:srgbClr val="006EC3"/>
                </a:solidFill>
                <a:latin typeface="+mj-lt"/>
              </a:rPr>
              <a:t> map needs to the right layer</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64686E"/>
                </a:solidFill>
              </a:rPr>
              <a:t>Bottom line: Microsoft is a portfolio, not one system; first map the need to Windows, Microsoft 365, Azure or Copilot, then verify entitlements early.</a:t>
            </a:r>
          </a:p>
        </p:txBody>
      </p:sp>
      <p:sp>
        <p:nvSpPr>
          <p:cNvPr id="8" name="Decision"/>
          <p:cNvSpPr/>
          <p:nvPr/>
        </p:nvSpPr>
        <p:spPr>
          <a:xfrm>
            <a:off x="685800" y="4650000"/>
            <a:ext cx="10820400" cy="1000000"/>
          </a:xfrm>
          <a:prstGeom prst="roundRect">
            <a:avLst>
              <a:gd name="adj" fmla="val 6000"/>
            </a:avLst>
          </a:prstGeom>
          <a:solidFill>
            <a:srgbClr val="EDF6FC"/>
          </a:solidFill>
          <a:ln w="12700">
            <a:solidFill>
              <a:srgbClr val="567892"/>
            </a:solidFill>
          </a:ln>
        </p:spPr>
        <p:txBody>
          <a:bodyPr wrap="square" lIns="182880" tIns="91440" rIns="182880" bIns="91440" anchor="ctr">
            <a:normAutofit/>
          </a:bodyPr>
          <a:lstStyle/>
          <a:p>
            <a:pPr algn="l">
              <a:lnSpc>
                <a:spcPct val="105000"/>
              </a:lnSpc>
              <a:spcAft>
                <a:spcPts val="0"/>
              </a:spcAft>
            </a:pPr>
            <a:r>
              <a:rPr lang="en-US" sz="1400" b="1">
                <a:solidFill>
                  <a:srgbClr val="006EC3"/>
                </a:solidFill>
              </a:rPr>
              <a:t>DECISION  </a:t>
            </a:r>
            <a:r>
              <a:rPr lang="en-US" sz="2000" b="1">
                <a:solidFill>
                  <a:srgbClr val="0B121E"/>
                </a:solidFill>
              </a:rPr>
              <a:t>Map needs to the right layer and confirm entitlements before committing.</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microsoft-2026-06-am-michael-kokoro-onnx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2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1.</a:t>
            </a:r>
            <a:r>
              <a:rPr lang="en-US" sz="2900" b="1">
                <a:solidFill>
                  <a:srgbClr val="006EC3"/>
                </a:solidFill>
                <a:latin typeface="+mj-lt"/>
              </a:rPr>
              <a:t> Windows is the PC layer</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B121E"/>
                </a:solidFill>
              </a:rPr>
              <a:t>Start with Windows when the decision is the PC experience: devices, desktop, apps and user productivity. It anchors the endpoint for users, not every cloud service.</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windows-layer" descr="The decision map starts with the user endpoint, then separates work services, app services and AI assistance.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Windows 11 overview for administrators | Microsoft Learn  ·  Microsoft 365 for enterprise overview - Microsoft 365 Enterprise | Microsoft Learn  ·  Azure documentation | Microsoft Learn  ·  +1 more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3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2.</a:t>
            </a:r>
            <a:r>
              <a:rPr lang="en-US" sz="2900" b="1">
                <a:solidFill>
                  <a:srgbClr val="006EC3"/>
                </a:solidFill>
                <a:latin typeface="+mj-lt"/>
              </a:rPr>
              <a:t> Microsoft 365 is work</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B121E"/>
                </a:solidFill>
              </a:rPr>
              <a:t>Use Microsoft 365 when the need is everyday work: Office apps, email, files, meetings, sharing and collaboration. It packages work services, not custom infrastructure.</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work-layer" descr="Microsoft 365 groups common work capabilities into a productivity-services layer. (excalidraw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Microsoft 365 for enterprise overview - Microsoft 365 Enterprise | Microsoft Learn  ·  Windows 11 overview for administrators | Microsoft Learn  ·  Azure documentation | Microsoft Learn  ·  +1 more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4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3.</a:t>
            </a:r>
            <a:r>
              <a:rPr lang="en-US" sz="2900" b="1">
                <a:solidFill>
                  <a:srgbClr val="006EC3"/>
                </a:solidFill>
                <a:latin typeface="+mj-lt"/>
              </a:rPr>
              <a:t> Azure builds apps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B121E"/>
                </a:solidFill>
              </a:rPr>
              <a:t>Use Azure when applications need cloud services: compute, storage, data and AI categories. It is the builder layer for apps and managed resources for teams.</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azure-layer" descr="Azure is the cloud-services layer for application teams.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Azure documentation | Microsoft Learn  ·  Windows 11 overview for administrators | Microsoft Learn  ·  Microsoft 365 for enterprise overview - Microsoft 365 Enterprise | Microsoft Learn  ·  +1 more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5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4.</a:t>
            </a:r>
            <a:r>
              <a:rPr lang="en-US" sz="2900" b="1">
                <a:solidFill>
                  <a:srgbClr val="006EC3"/>
                </a:solidFill>
                <a:latin typeface="+mj-lt"/>
              </a:rPr>
              <a:t> Copilot assists workflows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B121E"/>
                </a:solidFill>
              </a:rPr>
              <a:t>Treat Copilot as AI assistance that sits inside selected workflows and licenses. Confirm access, grounding, service availability and subscription before commitments.</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copilot-layer" descr="Copilot decisions need entitlement and grounding checks before commitments.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Overview of Microsoft Copilot Chat | Microsoft Learn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6 / 6</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B121E"/>
                </a:solidFill>
                <a:latin typeface="+mj-lt"/>
              </a:rPr>
              <a:t>Sources.</a:t>
            </a:r>
            <a:r>
              <a:rPr lang="en-US" sz="2400" b="1">
                <a:solidFill>
                  <a:srgbClr val="006EC3"/>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B121E"/>
                </a:solidFill>
              </a:rPr>
              <a:t>Windows 11 overview for administrators | Microsoft Learn</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https://learn.microsoft.com/en-us/windows/whats-new/windows-11-overview</a:t>
            </a:r>
          </a:p>
          <a:p>
            <a:pPr algn="l">
              <a:lnSpc>
                <a:spcPct val="105000"/>
              </a:lnSpc>
              <a:spcAft>
                <a:spcPts val="0"/>
              </a:spcAft>
            </a:pPr>
            <a:r>
              <a:rPr lang="en-US" sz="1400" b="1">
                <a:solidFill>
                  <a:srgbClr val="0B121E"/>
                </a:solidFill>
              </a:rPr>
              <a:t>Microsoft 365 for enterprise overview - Microsoft 365 Enterprise | Microsoft Learn</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https://learn.microsoft.com/en-us/microsoft-365/enterprise/microsoft-365-overview?view=o365-worldwide</a:t>
            </a:r>
          </a:p>
          <a:p>
            <a:pPr algn="l">
              <a:lnSpc>
                <a:spcPct val="105000"/>
              </a:lnSpc>
              <a:spcAft>
                <a:spcPts val="0"/>
              </a:spcAft>
            </a:pPr>
            <a:r>
              <a:rPr lang="en-US" sz="1400" b="1">
                <a:solidFill>
                  <a:srgbClr val="0B121E"/>
                </a:solidFill>
              </a:rPr>
              <a:t>Azure documentation | Microsoft Learn</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https://learn.microsoft.com/en-us/azure/</a:t>
            </a:r>
          </a:p>
          <a:p>
            <a:pPr algn="l">
              <a:lnSpc>
                <a:spcPct val="105000"/>
              </a:lnSpc>
              <a:spcAft>
                <a:spcPts val="0"/>
              </a:spcAft>
            </a:pPr>
            <a:r>
              <a:rPr lang="en-US" sz="1400" b="1">
                <a:solidFill>
                  <a:srgbClr val="0B121E"/>
                </a:solidFill>
              </a:rPr>
              <a:t>Overview of Microsoft Copilot Chat | Microsoft Learn</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https://learn.microsoft.com/en-us/copilot/overview</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microsoft-2026-06-am-michael-kokoro-onnx</a:t>
            </a:r>
          </a:p>
        </p:txBody>
      </p:sp>
    </p:spTree>
  </p:cSld>
  <p:clrMapOvr>
    <a:masterClrMapping/>
  </p:clrMapOvr>
</p:sld>
</file>

<file path=ppt/theme/theme1.xml><?xml version="1.0" encoding="utf-8"?>
<a:theme xmlns:a="http://schemas.openxmlformats.org/drawingml/2006/main" name="microsoft-brand">
  <a:themeElements>
    <a:clrScheme name="microsoft-brand">
      <a:dk1>
        <a:srgbClr val="0B121E"/>
      </a:dk1>
      <a:lt1>
        <a:srgbClr val="F4F8FC"/>
      </a:lt1>
      <a:dk2>
        <a:srgbClr val="0E1726"/>
      </a:dk2>
      <a:lt2>
        <a:srgbClr val="E6F1F9"/>
      </a:lt2>
      <a:accent1>
        <a:srgbClr val="006EC3"/>
      </a:accent1>
      <a:accent2>
        <a:srgbClr val="8AC1EB"/>
      </a:accent2>
      <a:accent3>
        <a:srgbClr val="006EC3"/>
      </a:accent3>
      <a:accent4>
        <a:srgbClr val="090F19"/>
      </a:accent4>
      <a:accent5>
        <a:srgbClr val="64686E"/>
      </a:accent5>
      <a:accent6>
        <a:srgbClr val="B42318"/>
      </a:accent6>
      <a:hlink>
        <a:srgbClr val="006EC3"/>
      </a:hlink>
      <a:folHlink>
        <a:srgbClr val="64686E"/>
      </a:folHlink>
    </a:clrScheme>
    <a:fontScheme name="microsoft-brand">
      <a:majorFont>
        <a:latin typeface="Segoe UI Variable Display"/>
        <a:ea typeface=""/>
        <a:cs typeface=""/>
      </a:majorFont>
      <a:minorFont>
        <a:latin typeface="Segoe UI"/>
        <a:ea typeface=""/>
        <a:cs typeface=""/>
      </a:minorFont>
    </a:fontScheme>
    <a:fmtScheme name="microsoft-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6</Slides>
  <Notes>6</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map needs to the right layer</dc:title>
  <dc:creator>a2swe</dc:creator>
  <cp:lastModifiedBy>a2swe</cp:lastModifiedBy>
  <dcterms:created xsi:type="dcterms:W3CDTF">2020-01-01T00:00:00Z</dcterms:created>
  <dcterms:modified xsi:type="dcterms:W3CDTF">2020-01-01T00:00:00Z</dcterms:modified>
</cp:coreProperties>
</file>