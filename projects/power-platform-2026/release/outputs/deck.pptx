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Power Platform ALM: govern one release path</a:t>
            </a:r>
          </a:p>
          <a:p>
            <a:r>
              <a:rPr lang="en-US" sz="1400">
                <a:solidFill>
                  <a:srgbClr val="111111"/>
                </a:solidFill>
              </a:rPr>
              <a:t>Bottom line: use one ALM path; ship a managed artifact, set target config, move data apart, and do DLP, test, license and approval checks before final go-live.</a:t>
            </a:r>
          </a:p>
          <a:p>
            <a:r>
              <a:rPr lang="en-US" sz="1400">
                <a:solidFill>
                  <a:srgbClr val="111111"/>
                </a:solidFill>
              </a:rPr>
              <a:t>Bottom line: use one ALM path; ship a managed artifact, set target config, move data apart, and do DLP, test, license and approval checks before final go-live.
Treat the suite as one platform for apps, flows, sites, agents and Dataverse data. Put lifecycle, security, test and release choices in one clear decision frame.
Build change in an unmanaged solution, with source control as the source of truth. Export a managed solution as the build artifact that test and production receive.
Keep configuration and business records on separate tracks. Set connections, references and variables per target, then migrate table rows, because solutions carry no data.
Automate with pipelines, or use Azure DevOps or GitHub when the route needs it. Before final production, check DLP policy, tests, analytics, approvals and licenses.
Evidence: Power Platform ALM spans apps, automation, sites, agents and Dataverse; executives should manage it as one governed delivery path. [ev-01] Overview of application lifecycle management with Microsoft Power Platform
Evidence: Use source control as truth, build changes in unmanaged solutions, and export managed solutions as downstream build artifacts. [ev-03] Overview of application lifecycle management with Microsoft Power Platform
Evidence: Promote the same artifact through ordered stages; configure each target, and move Dataverse table records separately. [ev-09] Overview of pipelines in Power Platform
Evidence: Automate delivery with pipelines and CI/CD; Microsoft documentation points to Azure DevOps or GitHub for some scenarios. [ev-04] Overview of application lifecycle management with Microsoft Power Platform
Evidence: Before production, check DLP connector controls, tests, analytics, approvals and managed-environment licensing. [ev-02] Overview of application lifecycle management with Microsoft Power Platform</a:t>
            </a:r>
          </a:p>
          <a:p>
            <a:r>
              <a:rPr lang="en-US" sz="1400">
                <a:solidFill>
                  <a:srgbClr val="111111"/>
                </a:solidFill>
              </a:rPr>
              <a:t>Citations</a:t>
            </a:r>
          </a:p>
          <a:p>
            <a:r>
              <a:rPr lang="en-US" sz="1400">
                <a:solidFill>
                  <a:srgbClr val="111111"/>
                </a:solidFill>
              </a:rPr>
              <a:t>[ev-01] Overview of application lifecycle management with Microsoft Power Platform</a:t>
            </a:r>
          </a:p>
          <a:p>
            <a:r>
              <a:rPr lang="en-US" sz="1400">
                <a:solidFill>
                  <a:srgbClr val="111111"/>
                </a:solidFill>
              </a:rPr>
              <a:t>[ev-02] Overview of application lifecycle management with Microsoft Power Platform</a:t>
            </a:r>
          </a:p>
          <a:p>
            <a:r>
              <a:rPr lang="en-US" sz="1400">
                <a:solidFill>
                  <a:srgbClr val="111111"/>
                </a:solidFill>
              </a:rPr>
              <a:t>[ev-03] Overview of application lifecycle management with Microsoft Power Platform</a:t>
            </a:r>
          </a:p>
          <a:p>
            <a:r>
              <a:rPr lang="en-US" sz="1400">
                <a:solidFill>
                  <a:srgbClr val="111111"/>
                </a:solidFill>
              </a:rPr>
              <a:t>[ev-05] Solution concepts</a:t>
            </a:r>
          </a:p>
          <a:p>
            <a:r>
              <a:rPr lang="en-US" sz="1400">
                <a:solidFill>
                  <a:srgbClr val="111111"/>
                </a:solidFill>
              </a:rPr>
              <a:t>[ev-06] Solution concepts</a:t>
            </a:r>
          </a:p>
          <a:p>
            <a:r>
              <a:rPr lang="en-US" sz="1400">
                <a:solidFill>
                  <a:srgbClr val="111111"/>
                </a:solidFill>
              </a:rPr>
              <a:t>[ev-07] Solution concepts</a:t>
            </a:r>
          </a:p>
          <a:p>
            <a:r>
              <a:rPr lang="en-US" sz="1400">
                <a:solidFill>
                  <a:srgbClr val="111111"/>
                </a:solidFill>
              </a:rPr>
              <a:t>[ev-09] Overview of pipelines in Power Platform</a:t>
            </a:r>
          </a:p>
          <a:p>
            <a:r>
              <a:rPr lang="en-US" sz="1400">
                <a:solidFill>
                  <a:srgbClr val="111111"/>
                </a:solidFill>
              </a:rPr>
              <a:t>[ev-10] Overview of pipelines in Power Platform</a:t>
            </a:r>
          </a:p>
          <a:p>
            <a:r>
              <a:rPr lang="en-US" sz="1400">
                <a:solidFill>
                  <a:srgbClr val="111111"/>
                </a:solidFill>
              </a:rPr>
              <a:t>[ev-11] Overview of pipelines in Power Platform</a:t>
            </a:r>
          </a:p>
          <a:p>
            <a:r>
              <a:rPr lang="en-US" sz="1400">
                <a:solidFill>
                  <a:srgbClr val="111111"/>
                </a:solidFill>
              </a:rPr>
              <a:t>[ev-12] Overview of pipelines in Power Platform</a:t>
            </a:r>
          </a:p>
          <a:p>
            <a:r>
              <a:rPr lang="en-US" sz="1400">
                <a:solidFill>
                  <a:srgbClr val="111111"/>
                </a:solidFill>
              </a:rPr>
              <a:t>[ev-04] Overview of application lifecycle management with Microsoft Power Platform</a:t>
            </a:r>
          </a:p>
          <a:p>
            <a:r>
              <a:rPr lang="en-US" sz="1400">
                <a:solidFill>
                  <a:srgbClr val="111111"/>
                </a:solidFill>
              </a:rPr>
              <a:t>[ev-08] Overview of pipelines in Power Platform</a:t>
            </a:r>
          </a:p>
          <a:p>
            <a:r>
              <a:rPr lang="en-US" sz="1400">
                <a:solidFill>
                  <a:srgbClr val="111111"/>
                </a:solidFill>
              </a:rPr>
              <a:t>[ev-13] Overview of pipelines in Power Platform</a:t>
            </a:r>
          </a:p>
          <a:p>
            <a:r>
              <a:rPr lang="en-US" sz="1400">
                <a:solidFill>
                  <a:srgbClr val="111111"/>
                </a:solidFill>
              </a:rPr>
              <a:t>[ev-14] Overview of pipelines in Power Platform</a:t>
            </a:r>
          </a:p>
          <a:p>
            <a:r>
              <a:rPr lang="en-US" sz="1400">
                <a:solidFill>
                  <a:srgbClr val="111111"/>
                </a:solidFill>
              </a:rPr>
              <a:t>[ev-15] Overview of pipelines in Power Platform</a:t>
            </a:r>
          </a:p>
          <a:p>
            <a:r>
              <a:rPr lang="en-US" sz="1400">
                <a:solidFill>
                  <a:srgbClr val="111111"/>
                </a:solidFill>
              </a:rPr>
              <a:t>[ev-16] Data policies</a:t>
            </a:r>
          </a:p>
          <a:p>
            <a:r>
              <a:rPr lang="en-US" sz="1400">
                <a:solidFill>
                  <a:srgbClr val="111111"/>
                </a:solidFill>
              </a:rPr>
              <a:t>[ev-17] Data policies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1. One platform</a:t>
            </a:r>
          </a:p>
          <a:p>
            <a:r>
              <a:rPr lang="en-US" sz="1400">
                <a:solidFill>
                  <a:srgbClr val="111111"/>
                </a:solidFill>
              </a:rPr>
              <a:t>Treat the suite as one platform for apps, flows, sites, agents and Dataverse data. Put lifecycle, security, test and release choices in one clear decision frame.</a:t>
            </a:r>
          </a:p>
          <a:p>
            <a:r>
              <a:rPr lang="en-US" sz="1400">
                <a:solidFill>
                  <a:srgbClr val="111111"/>
                </a:solidFill>
              </a:rPr>
              <a:t>Evidence: ALM scope includes Power Apps, Power Automate, Power Pages, Copilot Studio and Dataverse, with governance, testing and release management as ALM disciplines. Interpretation: executives should avoid treating each workload as an isolated release path.
Evidence: Power Platform ALM spans apps, automation, sites, agents and Dataverse; executives should manage it as one governed delivery path. [ev-01] Overview of application lifecycle management with Microsoft Power Platform</a:t>
            </a:r>
          </a:p>
          <a:p>
            <a:r>
              <a:rPr lang="en-US" sz="1400">
                <a:solidFill>
                  <a:srgbClr val="111111"/>
                </a:solidFill>
              </a:rPr>
              <a:t>Citations</a:t>
            </a:r>
          </a:p>
          <a:p>
            <a:r>
              <a:rPr lang="en-US" sz="1400">
                <a:solidFill>
                  <a:srgbClr val="111111"/>
                </a:solidFill>
              </a:rPr>
              <a:t>[ev-01] Overview of application lifecycle management with Microsoft Power Platform: https://learn.microsoft.com/en-us/power-platform/alm/overview-alm</a:t>
            </a:r>
          </a:p>
          <a:p>
            <a:r>
              <a:rPr lang="en-US" sz="1400">
                <a:solidFill>
                  <a:srgbClr val="111111"/>
                </a:solidFill>
              </a:rPr>
              <a:t>[ev-02] Overview of application lifecycle management with Microsoft Power Platform: https://learn.microsoft.com/en-us/power-platform/alm/overview-alm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2. Managed artifact</a:t>
            </a:r>
          </a:p>
          <a:p>
            <a:r>
              <a:rPr lang="en-US" sz="1400">
                <a:solidFill>
                  <a:srgbClr val="111111"/>
                </a:solidFill>
              </a:rPr>
              <a:t>Build change in an unmanaged solution, with source control as the source of truth. Export a managed solution as the build artifact that test and production receive.</a:t>
            </a:r>
          </a:p>
          <a:p>
            <a:r>
              <a:rPr lang="en-US" sz="1400">
                <a:solidFill>
                  <a:srgbClr val="111111"/>
                </a:solidFill>
              </a:rPr>
              <a:t>Evidence: Microsoft Learn states source control should be the source of truth, unmanaged solutions are for development, and managed exports are build artifacts. Interpretation: test and production should receive the managed package, not ad hoc maker changes.
Evidence: Use source control as truth, build changes in unmanaged solutions, and export managed solutions as downstream build artifacts. [ev-03] Overview of application lifecycle management with Microsoft Power Platform</a:t>
            </a:r>
          </a:p>
          <a:p>
            <a:r>
              <a:rPr lang="en-US" sz="1400">
                <a:solidFill>
                  <a:srgbClr val="111111"/>
                </a:solidFill>
              </a:rPr>
              <a:t>Citations</a:t>
            </a:r>
          </a:p>
          <a:p>
            <a:r>
              <a:rPr lang="en-US" sz="1400">
                <a:solidFill>
                  <a:srgbClr val="111111"/>
                </a:solidFill>
              </a:rPr>
              <a:t>[ev-03] Overview of application lifecycle management with Microsoft Power Platform: https://learn.microsoft.com/en-us/power-platform/alm/overview-alm</a:t>
            </a:r>
          </a:p>
          <a:p>
            <a:r>
              <a:rPr lang="en-US" sz="1400">
                <a:solidFill>
                  <a:srgbClr val="111111"/>
                </a:solidFill>
              </a:rPr>
              <a:t>[ev-05] Solution concepts: https://learn.microsoft.com/en-us/power-platform/alm/solution-concepts-alm</a:t>
            </a:r>
          </a:p>
          <a:p>
            <a:r>
              <a:rPr lang="en-US" sz="1400">
                <a:solidFill>
                  <a:srgbClr val="111111"/>
                </a:solidFill>
              </a:rPr>
              <a:t>[ev-06] Solution concepts: https://learn.microsoft.com/en-us/power-platform/alm/solution-concepts-alm</a:t>
            </a:r>
          </a:p>
          <a:p>
            <a:r>
              <a:rPr lang="en-US" sz="1400">
                <a:solidFill>
                  <a:srgbClr val="111111"/>
                </a:solidFill>
              </a:rPr>
              <a:t>[ev-07] Solution concepts: https://learn.microsoft.com/en-us/power-platform/alm/solution-concepts-alm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3. Config and data</a:t>
            </a:r>
          </a:p>
          <a:p>
            <a:r>
              <a:rPr lang="en-US" sz="1400">
                <a:solidFill>
                  <a:srgbClr val="111111"/>
                </a:solidFill>
              </a:rPr>
              <a:t>Keep configuration and business records on separate tracks. Set connections, references and variables per target, then migrate table rows, because solutions carry no data.</a:t>
            </a:r>
          </a:p>
          <a:p>
            <a:r>
              <a:rPr lang="en-US" sz="1400">
                <a:solidFill>
                  <a:srgbClr val="111111"/>
                </a:solidFill>
              </a:rPr>
              <a:t>Evidence: pipelines deploy solution configuration such as connections, connection references and environment variables, while solutions do not contain Dataverse table data. Interpretation: deployment and data migration should be separately planned and validated.
Evidence: Promote the same artifact through ordered stages; configure each target, and move Dataverse table records separately. [ev-09] Overview of pipelines in Power Platform</a:t>
            </a:r>
          </a:p>
          <a:p>
            <a:r>
              <a:rPr lang="en-US" sz="1400">
                <a:solidFill>
                  <a:srgbClr val="111111"/>
                </a:solidFill>
              </a:rPr>
              <a:t>Citations</a:t>
            </a:r>
          </a:p>
          <a:p>
            <a:r>
              <a:rPr lang="en-US" sz="1400">
                <a:solidFill>
                  <a:srgbClr val="111111"/>
                </a:solidFill>
              </a:rPr>
              <a:t>[ev-09] Overview of pipelines in Power Platform: https://learn.microsoft.com/en-us/power-platform/alm/pipelines</a:t>
            </a:r>
          </a:p>
          <a:p>
            <a:r>
              <a:rPr lang="en-US" sz="1400">
                <a:solidFill>
                  <a:srgbClr val="111111"/>
                </a:solidFill>
              </a:rPr>
              <a:t>[ev-10] Overview of pipelines in Power Platform: https://learn.microsoft.com/en-us/power-platform/alm/pipelines</a:t>
            </a:r>
          </a:p>
          <a:p>
            <a:r>
              <a:rPr lang="en-US" sz="1400">
                <a:solidFill>
                  <a:srgbClr val="111111"/>
                </a:solidFill>
              </a:rPr>
              <a:t>[ev-11] Overview of pipelines in Power Platform: https://learn.microsoft.com/en-us/power-platform/alm/pipelines</a:t>
            </a:r>
          </a:p>
          <a:p>
            <a:r>
              <a:rPr lang="en-US" sz="1400">
                <a:solidFill>
                  <a:srgbClr val="111111"/>
                </a:solidFill>
              </a:rPr>
              <a:t>[ev-12] Overview of pipelines in Power Platform: https://learn.microsoft.com/en-us/power-platform/alm/pipelines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4. Release gate</a:t>
            </a:r>
          </a:p>
          <a:p>
            <a:r>
              <a:rPr lang="en-US" sz="1400">
                <a:solidFill>
                  <a:srgbClr val="111111"/>
                </a:solidFill>
              </a:rPr>
              <a:t>Automate with pipelines, or use Azure DevOps or GitHub when the route needs it. Before final production, check DLP policy, tests, analytics, approvals and licenses.</a:t>
            </a:r>
          </a:p>
          <a:p>
            <a:r>
              <a:rPr lang="en-US" sz="1400">
                <a:solidFill>
                  <a:srgbClr val="111111"/>
                </a:solidFill>
              </a:rPr>
              <a:t>Evidence: sources cite automated pipelines, Azure DevOps CI/CD, GitHub for some scenarios, DLP connector controls, pipeline analytics, approval controls and managed-environment licensing. Interpretation: automation speeds promotion but should not bypass release governance.
Evidence: Automate delivery with pipelines and CI/CD; Microsoft documentation points to Azure DevOps or GitHub for some scenarios. [ev-04] Overview of application lifecycle management with Microsoft Power Platform
Evidence: Before production, check DLP connector controls, tests, analytics, approvals and managed-environment licensing. [ev-02] Overview of application lifecycle management with Microsoft Power Platform</a:t>
            </a:r>
          </a:p>
          <a:p>
            <a:r>
              <a:rPr lang="en-US" sz="1400">
                <a:solidFill>
                  <a:srgbClr val="111111"/>
                </a:solidFill>
              </a:rPr>
              <a:t>Citations</a:t>
            </a:r>
          </a:p>
          <a:p>
            <a:r>
              <a:rPr lang="en-US" sz="1400">
                <a:solidFill>
                  <a:srgbClr val="111111"/>
                </a:solidFill>
              </a:rPr>
              <a:t>[ev-04] Overview of application lifecycle management with Microsoft Power Platform: https://learn.microsoft.com/en-us/power-platform/alm/overview-alm</a:t>
            </a:r>
          </a:p>
          <a:p>
            <a:r>
              <a:rPr lang="en-US" sz="1400">
                <a:solidFill>
                  <a:srgbClr val="111111"/>
                </a:solidFill>
              </a:rPr>
              <a:t>[ev-08] Overview of pipelines in Power Platform: https://learn.microsoft.com/en-us/power-platform/alm/pipelines</a:t>
            </a:r>
          </a:p>
          <a:p>
            <a:r>
              <a:rPr lang="en-US" sz="1400">
                <a:solidFill>
                  <a:srgbClr val="111111"/>
                </a:solidFill>
              </a:rPr>
              <a:t>[ev-13] Overview of pipelines in Power Platform: https://learn.microsoft.com/en-us/power-platform/alm/pipelines</a:t>
            </a:r>
          </a:p>
          <a:p>
            <a:r>
              <a:rPr lang="en-US" sz="1400">
                <a:solidFill>
                  <a:srgbClr val="111111"/>
                </a:solidFill>
              </a:rPr>
              <a:t>[ev-02] Overview of application lifecycle management with Microsoft Power Platform: https://learn.microsoft.com/en-us/power-platform/alm/overview-alm</a:t>
            </a:r>
          </a:p>
          <a:p>
            <a:r>
              <a:rPr lang="en-US" sz="1400">
                <a:solidFill>
                  <a:srgbClr val="111111"/>
                </a:solidFill>
              </a:rPr>
              <a:t>[ev-14] Overview of pipelines in Power Platform: https://learn.microsoft.com/en-us/power-platform/alm/pipelines</a:t>
            </a:r>
          </a:p>
          <a:p>
            <a:r>
              <a:rPr lang="en-US" sz="1400">
                <a:solidFill>
                  <a:srgbClr val="111111"/>
                </a:solidFill>
              </a:rPr>
              <a:t>[ev-15] Overview of pipelines in Power Platform: https://learn.microsoft.com/en-us/power-platform/alm/pipelines</a:t>
            </a:r>
          </a:p>
          <a:p>
            <a:r>
              <a:rPr lang="en-US" sz="1400">
                <a:solidFill>
                  <a:srgbClr val="111111"/>
                </a:solidFill>
              </a:rPr>
              <a:t>[ev-16] Data policies: https://learn.microsoft.com/en-us/power-platform/admin/wp-data-loss-prevention</a:t>
            </a:r>
          </a:p>
          <a:p>
            <a:r>
              <a:rPr lang="en-US" sz="1400">
                <a:solidFill>
                  <a:srgbClr val="111111"/>
                </a:solidFill>
              </a:rPr>
              <a:t>[ev-17] Data policies: https://learn.microsoft.com/en-us/power-platform/admin/wp-data-loss-prevention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Bottom line: use one ALM path; ship a managed artifact, set target config, move data apart, and do DLP, test, license and approval checks before final go-live.</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Overview of application lifecycle management with Microsoft Power Platform: https://learn.microsoft.com/en-us/power-platform/alm/overview-alm</a:t>
            </a:r>
          </a:p>
          <a:p>
            <a:r>
              <a:rPr lang="en-US" sz="1400">
                <a:solidFill>
                  <a:srgbClr val="111111"/>
                </a:solidFill>
              </a:rPr>
              <a:t>Overview of application lifecycle management with Microsoft Power Platform: https://learn.microsoft.com/en-us/power-platform/alm/overview-alm</a:t>
            </a:r>
          </a:p>
          <a:p>
            <a:r>
              <a:rPr lang="en-US" sz="1400">
                <a:solidFill>
                  <a:srgbClr val="111111"/>
                </a:solidFill>
              </a:rPr>
              <a:t>Overview of application lifecycle management with Microsoft Power Platform: https://learn.microsoft.com/en-us/power-platform/alm/overview-alm</a:t>
            </a:r>
          </a:p>
          <a:p>
            <a:r>
              <a:rPr lang="en-US" sz="1400">
                <a:solidFill>
                  <a:srgbClr val="111111"/>
                </a:solidFill>
              </a:rPr>
              <a:t>Solution concepts: https://learn.microsoft.com/en-us/power-platform/alm/solution-concepts-alm</a:t>
            </a:r>
          </a:p>
          <a:p>
            <a:r>
              <a:rPr lang="en-US" sz="1400">
                <a:solidFill>
                  <a:srgbClr val="111111"/>
                </a:solidFill>
              </a:rPr>
              <a:t>Solution concepts: https://learn.microsoft.com/en-us/power-platform/alm/solution-concepts-alm</a:t>
            </a:r>
          </a:p>
          <a:p>
            <a:r>
              <a:rPr lang="en-US" sz="1400">
                <a:solidFill>
                  <a:srgbClr val="111111"/>
                </a:solidFill>
              </a:rPr>
              <a:t>Solution concepts: https://learn.microsoft.com/en-us/power-platform/alm/solution-concepts-alm</a:t>
            </a:r>
          </a:p>
          <a:p>
            <a:r>
              <a:rPr lang="en-US" sz="1400">
                <a:solidFill>
                  <a:srgbClr val="111111"/>
                </a:solidFill>
              </a:rPr>
              <a:t>Overview of pipelines in Power Platform: https://learn.microsoft.com/en-us/power-platform/alm/pipelines</a:t>
            </a:r>
          </a:p>
          <a:p>
            <a:r>
              <a:rPr lang="en-US" sz="1400">
                <a:solidFill>
                  <a:srgbClr val="111111"/>
                </a:solidFill>
              </a:rPr>
              <a:t>Overview of pipelines in Power Platform: https://learn.microsoft.com/en-us/power-platform/alm/pipelines</a:t>
            </a:r>
          </a:p>
          <a:p>
            <a:r>
              <a:rPr lang="en-US" sz="1400">
                <a:solidFill>
                  <a:srgbClr val="111111"/>
                </a:solidFill>
              </a:rPr>
              <a:t>Overview of pipelines in Power Platform: https://learn.microsoft.com/en-us/power-platform/alm/pipelines</a:t>
            </a:r>
          </a:p>
          <a:p>
            <a:r>
              <a:rPr lang="en-US" sz="1400">
                <a:solidFill>
                  <a:srgbClr val="111111"/>
                </a:solidFill>
              </a:rPr>
              <a:t>Overview of pipelines in Power Platform: https://learn.microsoft.com/en-us/power-platform/alm/pipelines</a:t>
            </a:r>
          </a:p>
          <a:p>
            <a:r>
              <a:rPr lang="en-US" sz="1400">
                <a:solidFill>
                  <a:srgbClr val="111111"/>
                </a:solidFill>
              </a:rPr>
              <a:t>Overview of application lifecycle management with Microsoft Power Platform: https://learn.microsoft.com/en-us/power-platform/alm/overview-alm</a:t>
            </a:r>
          </a:p>
          <a:p>
            <a:r>
              <a:rPr lang="en-US" sz="1400">
                <a:solidFill>
                  <a:srgbClr val="111111"/>
                </a:solidFill>
              </a:rPr>
              <a:t>Overview of pipelines in Power Platform: https://learn.microsoft.com/en-us/power-platform/alm/pipelines</a:t>
            </a:r>
          </a:p>
          <a:p>
            <a:r>
              <a:rPr lang="en-US" sz="1400">
                <a:solidFill>
                  <a:srgbClr val="111111"/>
                </a:solidFill>
              </a:rPr>
              <a:t>Overview of pipelines in Power Platform: https://learn.microsoft.com/en-us/power-platform/alm/pipelines</a:t>
            </a:r>
          </a:p>
          <a:p>
            <a:r>
              <a:rPr lang="en-US" sz="1400">
                <a:solidFill>
                  <a:srgbClr val="111111"/>
                </a:solidFill>
              </a:rPr>
              <a:t>Overview of pipelines in Power Platform: https://learn.microsoft.com/en-us/power-platform/alm/pipelines</a:t>
            </a:r>
          </a:p>
          <a:p>
            <a:r>
              <a:rPr lang="en-US" sz="1400">
                <a:solidFill>
                  <a:srgbClr val="111111"/>
                </a:solidFill>
              </a:rPr>
              <a:t>Overview of pipelines in Power Platform: https://learn.microsoft.com/en-us/power-platform/alm/pipelines</a:t>
            </a:r>
          </a:p>
          <a:p>
            <a:r>
              <a:rPr lang="en-US" sz="1400">
                <a:solidFill>
                  <a:srgbClr val="111111"/>
                </a:solidFill>
              </a:rPr>
              <a:t>Data policies: https://learn.microsoft.com/en-us/power-platform/admin/wp-data-loss-prevention</a:t>
            </a:r>
          </a:p>
          <a:p>
            <a:r>
              <a:rPr lang="en-US" sz="1400">
                <a:solidFill>
                  <a:srgbClr val="111111"/>
                </a:solidFill>
              </a:rPr>
              <a:t>Data policies: https://learn.microsoft.com/en-us/power-platform/admin/wp-data-loss-prevention</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visual-one-platform-6e426bc2e679.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managed-artifact-b7ba577457a2.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config-and-data-6032ee1e1acd.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visual-release-gate-178732a7cc53.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B3DAF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Power Platform ALM</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B121E"/>
                </a:solidFill>
                <a:latin typeface="+mj-lt"/>
              </a:rPr>
              <a:t>Power Platform ALM:</a:t>
            </a:r>
            <a:r>
              <a:rPr lang="en-US" sz="3600" b="1">
                <a:solidFill>
                  <a:srgbClr val="006EC3"/>
                </a:solidFill>
                <a:latin typeface="+mj-lt"/>
              </a:rPr>
              <a:t> govern one release path</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4686E"/>
                </a:solidFill>
              </a:rPr>
              <a:t>Bottom line: use one ALM path; ship a managed artifact, set target config, move data apart, and do DLP, test, license and approval checks before final go-live.</a:t>
            </a:r>
          </a:p>
        </p:txBody>
      </p:sp>
      <p:sp>
        <p:nvSpPr>
          <p:cNvPr id="8" name="Decision"/>
          <p:cNvSpPr/>
          <p:nvPr/>
        </p:nvSpPr>
        <p:spPr>
          <a:xfrm>
            <a:off x="685800" y="4650000"/>
            <a:ext cx="10820400" cy="1000000"/>
          </a:xfrm>
          <a:prstGeom prst="roundRect">
            <a:avLst>
              <a:gd name="adj" fmla="val 6000"/>
            </a:avLst>
          </a:prstGeom>
          <a:solidFill>
            <a:srgbClr val="F4F9FD"/>
          </a:solidFill>
          <a:ln w="12700">
            <a:solidFill>
              <a:srgbClr val="6F8795"/>
            </a:solidFill>
          </a:ln>
        </p:spPr>
        <p:txBody>
          <a:bodyPr wrap="square" lIns="182880" tIns="91440" rIns="182880" bIns="91440" anchor="ctr">
            <a:normAutofit/>
          </a:bodyPr>
          <a:lstStyle/>
          <a:p>
            <a:pPr algn="l">
              <a:lnSpc>
                <a:spcPct val="105000"/>
              </a:lnSpc>
              <a:spcAft>
                <a:spcPts val="0"/>
              </a:spcAft>
            </a:pPr>
            <a:r>
              <a:rPr lang="en-US" sz="1400" b="1">
                <a:solidFill>
                  <a:srgbClr val="006EC3"/>
                </a:solidFill>
              </a:rPr>
              <a:t>DECISION  </a:t>
            </a:r>
            <a:r>
              <a:rPr lang="en-US" sz="1900" b="1">
                <a:solidFill>
                  <a:srgbClr val="0B121E"/>
                </a:solidFill>
              </a:rPr>
              <a:t>Fund one governed ALM path; ship managed artifacts and move data separately.</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power-platform-2026-11-am-michael-kokoro-onnx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B3DAF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Power Platform ALM</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1.</a:t>
            </a:r>
            <a:r>
              <a:rPr lang="en-US" sz="2900" b="1">
                <a:solidFill>
                  <a:srgbClr val="006EC3"/>
                </a:solidFill>
                <a:latin typeface="+mj-lt"/>
              </a:rPr>
              <a:t> One platform</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Treat the suite as one platform for apps, flows, sites, agents and Dataverse data. Put lifecycle, security, test and release choices in one clear decision frame.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one-platform" descr="The decision frame is one governed ALM path across the Power Platform suite.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Overview of application lifecycle management with Microsoft Power Platform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B3DAF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Power Platform ALM</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2.</a:t>
            </a:r>
            <a:r>
              <a:rPr lang="en-US" sz="2900" b="1">
                <a:solidFill>
                  <a:srgbClr val="006EC3"/>
                </a:solidFill>
                <a:latin typeface="+mj-lt"/>
              </a:rPr>
              <a:t> Managed artifact</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Build change in an unmanaged solution, with source control as the source of truth. Export a managed solution as the build artifact that test and production receive.</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managed-artifact" descr="Development remains editable, while the promoted package becomes the controlled artifact. (excalidraw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Overview of application lifecycle management with Microsoft Power Platform  ·  Solution concepts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B3DAF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Power Platform ALM</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3.</a:t>
            </a:r>
            <a:r>
              <a:rPr lang="en-US" sz="2900" b="1">
                <a:solidFill>
                  <a:srgbClr val="006EC3"/>
                </a:solidFill>
                <a:latin typeface="+mj-lt"/>
              </a:rPr>
              <a:t> Config and data</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200">
                <a:solidFill>
                  <a:srgbClr val="0B121E"/>
                </a:solidFill>
              </a:rPr>
              <a:t>Keep configuration and business records on separate tracks. Set connections, references and variables per target, then migrate table rows, because solutions carry no data.</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config-and-data" descr="Configuration travels with deployment; Dataverse table records need a separate path. (marp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Overview of pipelines in Power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B3DAF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Power Platform ALM</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B121E"/>
                </a:solidFill>
                <a:latin typeface="+mj-lt"/>
              </a:rPr>
              <a:t>4.</a:t>
            </a:r>
            <a:r>
              <a:rPr lang="en-US" sz="2900" b="1">
                <a:solidFill>
                  <a:srgbClr val="006EC3"/>
                </a:solidFill>
                <a:latin typeface="+mj-lt"/>
              </a:rPr>
              <a:t> Release gate</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400">
                <a:solidFill>
                  <a:srgbClr val="0B121E"/>
                </a:solidFill>
              </a:rPr>
              <a:t>Automate with pipelines, or use Azure DevOps or GitHub when the route needs it. Before final production, check DLP policy, tests, analytics, approvals and licenses.</a:t>
            </a:r>
          </a:p>
        </p:txBody>
      </p:sp>
      <p:sp>
        <p:nvSpPr>
          <p:cNvPr id="8" name="Accent rule"/>
          <p:cNvSpPr/>
          <p:nvPr/>
        </p:nvSpPr>
        <p:spPr>
          <a:xfrm>
            <a:off x="548640" y="2000000"/>
            <a:ext cx="45720" cy="3800000"/>
          </a:xfrm>
          <a:prstGeom prst="rect">
            <a:avLst/>
          </a:prstGeom>
          <a:solidFill>
            <a:srgbClr val="006EC3"/>
          </a:solidFill>
          <a:ln>
            <a:noFill/>
          </a:ln>
        </p:spPr>
      </p:sp>
      <p:pic>
        <p:nvPicPr>
          <p:cNvPr id="9" name="Asset visual-release-gate" descr="Automation accelerates delivery only after the release gate is satisfied.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Sources: Overview of application lifecycle management with Microsoft Power Platform  ·  Overview of pipelines in Power Platform  ·  Data policies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E1726"/>
          </a:solidFill>
          <a:ln>
            <a:noFill/>
          </a:ln>
        </p:spPr>
      </p:sp>
      <p:sp>
        <p:nvSpPr>
          <p:cNvPr id="3" name="Highlight rule"/>
          <p:cNvSpPr/>
          <p:nvPr/>
        </p:nvSpPr>
        <p:spPr>
          <a:xfrm>
            <a:off x="0" y="502920"/>
            <a:ext cx="12192000" cy="45720"/>
          </a:xfrm>
          <a:prstGeom prst="rect">
            <a:avLst/>
          </a:prstGeom>
          <a:solidFill>
            <a:srgbClr val="B3DAF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Power Platform ALM</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CBEC2"/>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B121E"/>
                </a:solidFill>
                <a:latin typeface="+mj-lt"/>
              </a:rPr>
              <a:t>Sources.</a:t>
            </a:r>
            <a:r>
              <a:rPr lang="en-US" sz="2400" b="1">
                <a:solidFill>
                  <a:srgbClr val="006EC3"/>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B121E"/>
                </a:solidFill>
              </a:rPr>
              <a:t>Overview of application lifecycle management with Microsoft Power Platform</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https://learn.microsoft.com/en-us/power-platform/alm/overview-alm</a:t>
            </a:r>
          </a:p>
          <a:p>
            <a:pPr algn="l">
              <a:lnSpc>
                <a:spcPct val="105000"/>
              </a:lnSpc>
              <a:spcAft>
                <a:spcPts val="0"/>
              </a:spcAft>
            </a:pPr>
            <a:r>
              <a:rPr lang="en-US" sz="1400" b="1">
                <a:solidFill>
                  <a:srgbClr val="0B121E"/>
                </a:solidFill>
              </a:rPr>
              <a:t>Solution concepts</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https://learn.microsoft.com/en-us/power-platform/alm/solution-concepts-alm</a:t>
            </a:r>
          </a:p>
          <a:p>
            <a:pPr algn="l">
              <a:lnSpc>
                <a:spcPct val="105000"/>
              </a:lnSpc>
              <a:spcAft>
                <a:spcPts val="0"/>
              </a:spcAft>
            </a:pPr>
            <a:r>
              <a:rPr lang="en-US" sz="1400" b="1">
                <a:solidFill>
                  <a:srgbClr val="0B121E"/>
                </a:solidFill>
              </a:rPr>
              <a:t>Overview of pipelines in Power Platform</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https://learn.microsoft.com/en-us/power-platform/alm/pipelines</a:t>
            </a:r>
          </a:p>
          <a:p>
            <a:pPr algn="l">
              <a:lnSpc>
                <a:spcPct val="105000"/>
              </a:lnSpc>
              <a:spcAft>
                <a:spcPts val="0"/>
              </a:spcAft>
            </a:pPr>
            <a:r>
              <a:rPr lang="en-US" sz="1400" b="1">
                <a:solidFill>
                  <a:srgbClr val="0B121E"/>
                </a:solidFill>
              </a:rPr>
              <a:t>Data policies</a:t>
            </a:r>
            <a:r>
              <a:rPr lang="en-US" sz="1100">
                <a:solidFill>
                  <a:srgbClr val="64686E"/>
                </a:solidFill>
              </a:rPr>
              <a:t>  retrieved 2026-10-06</a:t>
            </a:r>
          </a:p>
          <a:p>
            <a:pPr algn="l">
              <a:lnSpc>
                <a:spcPct val="105000"/>
              </a:lnSpc>
              <a:spcAft>
                <a:spcPts val="900"/>
              </a:spcAft>
            </a:pPr>
            <a:r>
              <a:rPr lang="en-US" sz="1100">
                <a:solidFill>
                  <a:srgbClr val="006EC3"/>
                </a:solidFill>
              </a:rPr>
              <a:t>https://learn.microsoft.com/en-us/power-platform/admin/wp-data-loss-prevention</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4686E"/>
                </a:solidFill>
              </a:rPr>
              <a:t>power-platform-2026-11-am-michael-kokoro-onnx</a:t>
            </a:r>
          </a:p>
        </p:txBody>
      </p:sp>
    </p:spTree>
  </p:cSld>
  <p:clrMapOvr>
    <a:masterClrMapping/>
  </p:clrMapOvr>
</p:sld>
</file>

<file path=ppt/theme/theme1.xml><?xml version="1.0" encoding="utf-8"?>
<a:theme xmlns:a="http://schemas.openxmlformats.org/drawingml/2006/main" name="power-platform-2026-brand">
  <a:themeElements>
    <a:clrScheme name="power-platform-2026-brand">
      <a:dk1>
        <a:srgbClr val="0B121E"/>
      </a:dk1>
      <a:lt1>
        <a:srgbClr val="F4F8FC"/>
      </a:lt1>
      <a:dk2>
        <a:srgbClr val="0E1726"/>
      </a:dk2>
      <a:lt2>
        <a:srgbClr val="E6F1F9"/>
      </a:lt2>
      <a:accent1>
        <a:srgbClr val="006EC3"/>
      </a:accent1>
      <a:accent2>
        <a:srgbClr val="B3DAF0"/>
      </a:accent2>
      <a:accent3>
        <a:srgbClr val="006EC3"/>
      </a:accent3>
      <a:accent4>
        <a:srgbClr val="090F19"/>
      </a:accent4>
      <a:accent5>
        <a:srgbClr val="64686E"/>
      </a:accent5>
      <a:accent6>
        <a:srgbClr val="B42318"/>
      </a:accent6>
      <a:hlink>
        <a:srgbClr val="006EC3"/>
      </a:hlink>
      <a:folHlink>
        <a:srgbClr val="64686E"/>
      </a:folHlink>
    </a:clrScheme>
    <a:fontScheme name="power-platform-2026-brand">
      <a:majorFont>
        <a:latin typeface="Segoe UI Variable Display"/>
        <a:ea typeface=""/>
        <a:cs typeface=""/>
      </a:majorFont>
      <a:minorFont>
        <a:latin typeface="Segoe UI Variable Text"/>
        <a:ea typeface=""/>
        <a:cs typeface=""/>
      </a:minorFont>
    </a:fontScheme>
    <a:fmtScheme name="power-platform-2026-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Platform ALM: govern one release path</dc:title>
  <dc:creator>a2swe</dc:creator>
  <cp:lastModifiedBy>a2swe</cp:lastModifiedBy>
  <dcterms:created xsi:type="dcterms:W3CDTF">2020-01-01T00:00:00Z</dcterms:created>
  <dcterms:modified xsi:type="dcterms:W3CDTF">2020-01-01T00:00:00Z</dcterms:modified>
</cp:coreProperties>
</file>